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57" r:id="rId3"/>
    <p:sldId id="258" r:id="rId4"/>
    <p:sldId id="259" r:id="rId5"/>
    <p:sldId id="260" r:id="rId6"/>
    <p:sldId id="277" r:id="rId7"/>
    <p:sldId id="285" r:id="rId8"/>
    <p:sldId id="264" r:id="rId9"/>
    <p:sldId id="280" r:id="rId10"/>
    <p:sldId id="286" r:id="rId11"/>
    <p:sldId id="266" r:id="rId12"/>
    <p:sldId id="283" r:id="rId13"/>
    <p:sldId id="278" r:id="rId14"/>
    <p:sldId id="276" r:id="rId15"/>
    <p:sldId id="279" r:id="rId16"/>
    <p:sldId id="274" r:id="rId17"/>
    <p:sldId id="275" r:id="rId18"/>
    <p:sldId id="284" r:id="rId19"/>
    <p:sldId id="270" r:id="rId20"/>
    <p:sldId id="282"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8727" autoAdjust="0"/>
  </p:normalViewPr>
  <p:slideViewPr>
    <p:cSldViewPr snapToGrid="0" snapToObjects="1">
      <p:cViewPr>
        <p:scale>
          <a:sx n="99" d="100"/>
          <a:sy n="99" d="100"/>
        </p:scale>
        <p:origin x="-546" y="-78"/>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pPr/>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pPr/>
              <a:t>‹#›</a:t>
            </a:fld>
            <a:endParaRPr lang="en-US"/>
          </a:p>
        </p:txBody>
      </p:sp>
    </p:spTree>
    <p:extLst>
      <p:ext uri="{BB962C8B-B14F-4D97-AF65-F5344CB8AC3E}">
        <p14:creationId xmlns:p14="http://schemas.microsoft.com/office/powerpoint/2010/main" xmlns="" val="70787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Introduce the project, team members and the supervising lecturer.</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clearly who did what. Mention that GitHub is used for collaboration.</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real problem to build context for why HouseHub is needed.</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roles keep the system secure and organised.</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open-source tools — easy to deploy on any machine.</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builds the security backbone. Every other module depends on the JWT middleware.</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builds the core listing CRUD that is the heart of the platform.</a:t>
            </a:r>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schema with proper foreign keys. Mention normalization and security.</a:t>
            </a:r>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builds the discovery and communication layer — the features tenants use most.</a:t>
            </a:r>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fully public. Request and Wishlist routes require a Tenant JWT token.</a:t>
            </a:r>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badge shows which member built each feature. Use this slide to confirm full coverage.</a:t>
            </a:r>
          </a:p>
        </p:txBody>
      </p:sp>
      <p:sp>
        <p:nvSpPr>
          <p:cNvPr id="4" name="Slide Number Placeholder 3"/>
          <p:cNvSpPr>
            <a:spLocks noGrp="1"/>
          </p:cNvSpPr>
          <p:nvPr>
            <p:ph type="sldNum" sz="quarter" idx="10"/>
          </p:nvPr>
        </p:nvSpPr>
        <p:spPr/>
        <p:txBody>
          <a:bodyPr/>
          <a:lstStyle/>
          <a:p>
            <a:fld id="{F7021451-1387-4CA6-816F-3879F97B5CBC}" type="slidenum">
              <a:rPr lang="en-US"/>
              <a:pPr/>
              <a:t>18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confidently. Invite questions. Each member should be able to answer questions about their own module.</a:t>
            </a:r>
          </a:p>
        </p:txBody>
      </p:sp>
      <p:sp>
        <p:nvSpPr>
          <p:cNvPr id="4" name="Slide Number Placeholder 3"/>
          <p:cNvSpPr>
            <a:spLocks noGrp="1"/>
          </p:cNvSpPr>
          <p:nvPr>
            <p:ph type="sldNum" sz="quarter" idx="10"/>
          </p:nvPr>
        </p:nvSpPr>
        <p:spPr/>
        <p:txBody>
          <a:bodyPr/>
          <a:lstStyle/>
          <a:p>
            <a:fld id="{F7021451-1387-4CA6-816F-3879F97B5CBC}" type="slidenum">
              <a:rPr lang="en-US"/>
              <a:pPr/>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2C45"/>
          </a:solidFill>
        </p:spPr>
        <p:txBody>
          <a:bodyPr/>
          <a:lstStyle/>
          <a:p>
            <a:endParaRPr/>
          </a:p>
        </p:txBody>
      </p:sp>
      <p:sp>
        <p:nvSpPr>
          <p:cNvPr id="3" name="Shape 1"/>
          <p:cNvSpPr/>
          <p:nvPr/>
        </p:nvSpPr>
        <p:spPr>
          <a:xfrm>
            <a:off x="0" y="0"/>
            <a:ext cx="256032" cy="5148072"/>
          </a:xfrm>
          <a:prstGeom prst="rect">
            <a:avLst/>
          </a:prstGeom>
          <a:solidFill>
            <a:srgbClr val="0F3460"/>
          </a:solidFill>
        </p:spPr>
        <p:txBody>
          <a:bodyPr/>
          <a:lstStyle/>
          <a:p>
            <a:endParaRPr/>
          </a:p>
        </p:txBody>
      </p:sp>
      <p:sp>
        <p:nvSpPr>
          <p:cNvPr id="4" name="Shape 2"/>
          <p:cNvSpPr/>
          <p:nvPr/>
        </p:nvSpPr>
        <p:spPr>
          <a:xfrm>
            <a:off x="6949440" y="0"/>
            <a:ext cx="2194560" cy="1463040"/>
          </a:xfrm>
          <a:prstGeom prst="rect">
            <a:avLst/>
          </a:prstGeom>
          <a:solidFill>
            <a:srgbClr val="162B45"/>
          </a:solidFill>
        </p:spPr>
        <p:txBody>
          <a:bodyPr/>
          <a:lstStyle/>
          <a:p>
            <a:endParaRPr/>
          </a:p>
        </p:txBody>
      </p:sp>
      <p:sp>
        <p:nvSpPr>
          <p:cNvPr id="5" name="Shape 3"/>
          <p:cNvSpPr/>
          <p:nvPr/>
        </p:nvSpPr>
        <p:spPr>
          <a:xfrm>
            <a:off x="502920" y="411480"/>
            <a:ext cx="1005840" cy="1005840"/>
          </a:xfrm>
          <a:prstGeom prst="rect">
            <a:avLst/>
          </a:prstGeom>
          <a:solidFill>
            <a:srgbClr val="1E3D6F"/>
          </a:solidFill>
        </p:spPr>
        <p:txBody>
          <a:bodyPr/>
          <a:lstStyle/>
          <a:p>
            <a:endParaRPr/>
          </a:p>
        </p:txBody>
      </p:sp>
      <p:sp>
        <p:nvSpPr>
          <p:cNvPr id="6" name="Text 4"/>
          <p:cNvSpPr txBox="1"/>
          <p:nvPr/>
        </p:nvSpPr>
        <p:spPr>
          <a:xfrm>
            <a:off x="502920" y="475488"/>
            <a:ext cx="1005840" cy="822960"/>
          </a:xfrm>
          <a:prstGeom prst="rect">
            <a:avLst/>
          </a:prstGeom>
          <a:noFill/>
        </p:spPr>
        <p:txBody>
          <a:bodyPr wrap="square" lIns="0" tIns="0" rIns="0" bIns="0" rtlCol="0" anchor="ctr"/>
          <a:lstStyle/>
          <a:p>
            <a:pPr marL="0" indent="0" algn="ctr">
              <a:buNone/>
            </a:pPr>
            <a:r>
              <a:rPr lang="en-US" sz="3000" b="1" dirty="0">
                <a:solidFill>
                  <a:srgbClr val="7EC8E3"/>
                </a:solidFill>
                <a:latin typeface="Calibri" pitchFamily="34" charset="0"/>
                <a:ea typeface="Calibri" pitchFamily="34" charset="-122"/>
                <a:cs typeface="Calibri" pitchFamily="34" charset="-120"/>
              </a:rPr>
              <a:t>HH</a:t>
            </a:r>
            <a:endParaRPr lang="en-US" sz="3000" dirty="0"/>
          </a:p>
        </p:txBody>
      </p:sp>
      <p:sp>
        <p:nvSpPr>
          <p:cNvPr id="7" name="Text 5"/>
          <p:cNvSpPr txBox="1"/>
          <p:nvPr/>
        </p:nvSpPr>
        <p:spPr>
          <a:xfrm>
            <a:off x="1664208" y="438912"/>
            <a:ext cx="7132320" cy="640080"/>
          </a:xfrm>
          <a:prstGeom prst="rect">
            <a:avLst/>
          </a:prstGeom>
          <a:noFill/>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HouseHub</a:t>
            </a:r>
            <a:endParaRPr lang="en-US" sz="4000" dirty="0"/>
          </a:p>
        </p:txBody>
      </p:sp>
      <p:sp>
        <p:nvSpPr>
          <p:cNvPr id="8" name="Text 6"/>
          <p:cNvSpPr txBox="1"/>
          <p:nvPr/>
        </p:nvSpPr>
        <p:spPr>
          <a:xfrm>
            <a:off x="1664208" y="1078992"/>
            <a:ext cx="7132320" cy="475488"/>
          </a:xfrm>
          <a:prstGeom prst="rect">
            <a:avLst/>
          </a:prstGeom>
          <a:noFill/>
        </p:spPr>
        <p:txBody>
          <a:bodyPr wrap="square" lIns="0" tIns="0" rIns="0" bIns="0" rtlCol="0" anchor="ctr"/>
          <a:lstStyle/>
          <a:p>
            <a:pPr marL="0" indent="0">
              <a:buNone/>
            </a:pPr>
            <a:r>
              <a:rPr lang="en-US" sz="1900" dirty="0">
                <a:solidFill>
                  <a:srgbClr val="7EC8E3"/>
                </a:solidFill>
                <a:latin typeface="Calibri" pitchFamily="34" charset="0"/>
                <a:ea typeface="Calibri" pitchFamily="34" charset="-122"/>
                <a:cs typeface="Calibri" pitchFamily="34" charset="-120"/>
              </a:rPr>
              <a:t>House Rental Management System</a:t>
            </a:r>
            <a:endParaRPr lang="en-US" sz="1900" dirty="0"/>
          </a:p>
        </p:txBody>
      </p:sp>
      <p:sp>
        <p:nvSpPr>
          <p:cNvPr id="9" name="Shape 7"/>
          <p:cNvSpPr/>
          <p:nvPr/>
        </p:nvSpPr>
        <p:spPr>
          <a:xfrm>
            <a:off x="502920" y="1691640"/>
            <a:ext cx="8321040" cy="36576"/>
          </a:xfrm>
          <a:prstGeom prst="rect">
            <a:avLst/>
          </a:prstGeom>
          <a:solidFill>
            <a:srgbClr val="2563EB"/>
          </a:solidFill>
        </p:spPr>
        <p:txBody>
          <a:bodyPr/>
          <a:lstStyle/>
          <a:p>
            <a:endParaRPr/>
          </a:p>
        </p:txBody>
      </p:sp>
      <p:sp>
        <p:nvSpPr>
          <p:cNvPr id="10" name="Text 8"/>
          <p:cNvSpPr txBox="1"/>
          <p:nvPr/>
        </p:nvSpPr>
        <p:spPr>
          <a:xfrm>
            <a:off x="502920" y="1801368"/>
            <a:ext cx="8321040" cy="347472"/>
          </a:xfrm>
          <a:prstGeom prst="rect">
            <a:avLst/>
          </a:prstGeom>
          <a:noFill/>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Software Engineering  |  Course Code: 3112  |  Session: 2022-23</a:t>
            </a:r>
            <a:endParaRPr lang="en-US" sz="1250" dirty="0"/>
          </a:p>
        </p:txBody>
      </p:sp>
      <p:sp>
        <p:nvSpPr>
          <p:cNvPr id="11" name="Shape 9"/>
          <p:cNvSpPr/>
          <p:nvPr/>
        </p:nvSpPr>
        <p:spPr>
          <a:xfrm>
            <a:off x="502920" y="2304288"/>
            <a:ext cx="5074920" cy="2304288"/>
          </a:xfrm>
          <a:prstGeom prst="rect">
            <a:avLst/>
          </a:prstGeom>
          <a:solidFill>
            <a:srgbClr val="132035"/>
          </a:solidFill>
        </p:spPr>
        <p:txBody>
          <a:bodyPr/>
          <a:lstStyle/>
          <a:p>
            <a:endParaRPr/>
          </a:p>
        </p:txBody>
      </p:sp>
      <p:sp>
        <p:nvSpPr>
          <p:cNvPr id="12" name="Text 10"/>
          <p:cNvSpPr txBox="1"/>
          <p:nvPr/>
        </p:nvSpPr>
        <p:spPr>
          <a:xfrm>
            <a:off x="713232" y="2423160"/>
            <a:ext cx="4663440" cy="292608"/>
          </a:xfrm>
          <a:prstGeom prst="rect">
            <a:avLst/>
          </a:prstGeom>
          <a:noFill/>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SUBMITTED BY</a:t>
            </a:r>
            <a:endParaRPr lang="en-US" sz="1000" dirty="0"/>
          </a:p>
        </p:txBody>
      </p:sp>
      <p:sp>
        <p:nvSpPr>
          <p:cNvPr id="13" name="Shape 11"/>
          <p:cNvSpPr/>
          <p:nvPr/>
        </p:nvSpPr>
        <p:spPr>
          <a:xfrm>
            <a:off x="713232" y="2798064"/>
            <a:ext cx="822960" cy="310896"/>
          </a:xfrm>
          <a:prstGeom prst="rect">
            <a:avLst/>
          </a:prstGeom>
          <a:solidFill>
            <a:srgbClr val="1E3D6F"/>
          </a:solidFill>
        </p:spPr>
        <p:txBody>
          <a:bodyPr/>
          <a:lstStyle/>
          <a:p>
            <a:endParaRPr/>
          </a:p>
        </p:txBody>
      </p:sp>
      <p:sp>
        <p:nvSpPr>
          <p:cNvPr id="14" name="Text 12"/>
          <p:cNvSpPr txBox="1"/>
          <p:nvPr/>
        </p:nvSpPr>
        <p:spPr>
          <a:xfrm>
            <a:off x="713232" y="2798064"/>
            <a:ext cx="822960" cy="310896"/>
          </a:xfrm>
          <a:prstGeom prst="rect">
            <a:avLst/>
          </a:prstGeom>
          <a:noFill/>
        </p:spPr>
        <p:txBody>
          <a:bodyPr wrap="square" lIns="0" tIns="0" rIns="0" bIns="0" rtlCol="0" anchor="ctr"/>
          <a:lstStyle/>
          <a:p>
            <a:pPr marL="0" indent="0" algn="ctr">
              <a:buNone/>
            </a:pPr>
            <a:r>
              <a:rPr lang="en-US" sz="950" b="1" dirty="0">
                <a:solidFill>
                  <a:srgbClr val="CBD5E1"/>
                </a:solidFill>
                <a:latin typeface="Calibri" pitchFamily="34" charset="0"/>
                <a:ea typeface="Calibri" pitchFamily="34" charset="-122"/>
                <a:cs typeface="Calibri" pitchFamily="34" charset="-120"/>
              </a:rPr>
              <a:t>Member 1</a:t>
            </a:r>
            <a:endParaRPr lang="en-US" sz="950" dirty="0"/>
          </a:p>
        </p:txBody>
      </p:sp>
      <p:sp>
        <p:nvSpPr>
          <p:cNvPr id="15" name="Text 13"/>
          <p:cNvSpPr txBox="1"/>
          <p:nvPr/>
        </p:nvSpPr>
        <p:spPr>
          <a:xfrm>
            <a:off x="1627632" y="2807208"/>
            <a:ext cx="2651760" cy="292608"/>
          </a:xfrm>
          <a:prstGeom prst="rect">
            <a:avLst/>
          </a:prstGeom>
          <a:noFill/>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Punom Das Momo</a:t>
            </a:r>
            <a:endParaRPr lang="en-US" sz="1250" dirty="0"/>
          </a:p>
        </p:txBody>
      </p:sp>
      <p:sp>
        <p:nvSpPr>
          <p:cNvPr id="16" name="Text 14"/>
          <p:cNvSpPr txBox="1"/>
          <p:nvPr/>
        </p:nvSpPr>
        <p:spPr>
          <a:xfrm>
            <a:off x="4315968" y="2825496"/>
            <a:ext cx="1097280" cy="256032"/>
          </a:xfrm>
          <a:prstGeom prst="rect">
            <a:avLst/>
          </a:prstGeom>
          <a:noFill/>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ID: 202204031</a:t>
            </a:r>
            <a:endParaRPr lang="en-US" sz="1100" dirty="0"/>
          </a:p>
        </p:txBody>
      </p:sp>
      <p:sp>
        <p:nvSpPr>
          <p:cNvPr id="17" name="Shape 15"/>
          <p:cNvSpPr/>
          <p:nvPr/>
        </p:nvSpPr>
        <p:spPr>
          <a:xfrm>
            <a:off x="713232" y="3346704"/>
            <a:ext cx="822960" cy="310896"/>
          </a:xfrm>
          <a:prstGeom prst="rect">
            <a:avLst/>
          </a:prstGeom>
          <a:solidFill>
            <a:srgbClr val="1E3D6F"/>
          </a:solidFill>
        </p:spPr>
        <p:txBody>
          <a:bodyPr/>
          <a:lstStyle/>
          <a:p>
            <a:endParaRPr/>
          </a:p>
        </p:txBody>
      </p:sp>
      <p:sp>
        <p:nvSpPr>
          <p:cNvPr id="18" name="Text 16"/>
          <p:cNvSpPr txBox="1"/>
          <p:nvPr/>
        </p:nvSpPr>
        <p:spPr>
          <a:xfrm>
            <a:off x="713232" y="3346704"/>
            <a:ext cx="822960" cy="310896"/>
          </a:xfrm>
          <a:prstGeom prst="rect">
            <a:avLst/>
          </a:prstGeom>
          <a:noFill/>
        </p:spPr>
        <p:txBody>
          <a:bodyPr wrap="square" lIns="0" tIns="0" rIns="0" bIns="0" rtlCol="0" anchor="ctr"/>
          <a:lstStyle/>
          <a:p>
            <a:pPr marL="0" indent="0" algn="ctr">
              <a:buNone/>
            </a:pPr>
            <a:r>
              <a:rPr lang="en-US" sz="950" b="1" dirty="0">
                <a:solidFill>
                  <a:srgbClr val="CBD5E1"/>
                </a:solidFill>
                <a:latin typeface="Calibri" pitchFamily="34" charset="0"/>
                <a:ea typeface="Calibri" pitchFamily="34" charset="-122"/>
                <a:cs typeface="Calibri" pitchFamily="34" charset="-120"/>
              </a:rPr>
              <a:t>Member 2</a:t>
            </a:r>
            <a:endParaRPr lang="en-US" sz="950" dirty="0"/>
          </a:p>
        </p:txBody>
      </p:sp>
      <p:sp>
        <p:nvSpPr>
          <p:cNvPr id="19" name="Text 17"/>
          <p:cNvSpPr txBox="1"/>
          <p:nvPr/>
        </p:nvSpPr>
        <p:spPr>
          <a:xfrm>
            <a:off x="1627632" y="3355848"/>
            <a:ext cx="2651760" cy="292608"/>
          </a:xfrm>
          <a:prstGeom prst="rect">
            <a:avLst/>
          </a:prstGeom>
          <a:noFill/>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Foujia Akther</a:t>
            </a:r>
            <a:endParaRPr lang="en-US" sz="1250" dirty="0"/>
          </a:p>
        </p:txBody>
      </p:sp>
      <p:sp>
        <p:nvSpPr>
          <p:cNvPr id="20" name="Text 18"/>
          <p:cNvSpPr txBox="1"/>
          <p:nvPr/>
        </p:nvSpPr>
        <p:spPr>
          <a:xfrm>
            <a:off x="4315968" y="3374136"/>
            <a:ext cx="1097280" cy="256032"/>
          </a:xfrm>
          <a:prstGeom prst="rect">
            <a:avLst/>
          </a:prstGeom>
          <a:noFill/>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ID: 202204009</a:t>
            </a:r>
            <a:endParaRPr lang="en-US" sz="1100" dirty="0"/>
          </a:p>
        </p:txBody>
      </p:sp>
      <p:sp>
        <p:nvSpPr>
          <p:cNvPr id="21" name="Shape 19"/>
          <p:cNvSpPr/>
          <p:nvPr/>
        </p:nvSpPr>
        <p:spPr>
          <a:xfrm>
            <a:off x="713232" y="3895344"/>
            <a:ext cx="822960" cy="310896"/>
          </a:xfrm>
          <a:prstGeom prst="rect">
            <a:avLst/>
          </a:prstGeom>
          <a:solidFill>
            <a:srgbClr val="1E3D6F"/>
          </a:solidFill>
        </p:spPr>
        <p:txBody>
          <a:bodyPr/>
          <a:lstStyle/>
          <a:p>
            <a:endParaRPr/>
          </a:p>
        </p:txBody>
      </p:sp>
      <p:sp>
        <p:nvSpPr>
          <p:cNvPr id="22" name="Text 20"/>
          <p:cNvSpPr txBox="1"/>
          <p:nvPr/>
        </p:nvSpPr>
        <p:spPr>
          <a:xfrm>
            <a:off x="713232" y="3895344"/>
            <a:ext cx="822960" cy="310896"/>
          </a:xfrm>
          <a:prstGeom prst="rect">
            <a:avLst/>
          </a:prstGeom>
          <a:noFill/>
        </p:spPr>
        <p:txBody>
          <a:bodyPr wrap="square" lIns="0" tIns="0" rIns="0" bIns="0" rtlCol="0" anchor="ctr"/>
          <a:lstStyle/>
          <a:p>
            <a:pPr marL="0" indent="0" algn="ctr">
              <a:buNone/>
            </a:pPr>
            <a:r>
              <a:rPr lang="en-US" sz="950" b="1" dirty="0">
                <a:solidFill>
                  <a:srgbClr val="CBD5E1"/>
                </a:solidFill>
                <a:latin typeface="Calibri" pitchFamily="34" charset="0"/>
                <a:ea typeface="Calibri" pitchFamily="34" charset="-122"/>
                <a:cs typeface="Calibri" pitchFamily="34" charset="-120"/>
              </a:rPr>
              <a:t>Member 3</a:t>
            </a:r>
            <a:endParaRPr lang="en-US" sz="950" dirty="0"/>
          </a:p>
        </p:txBody>
      </p:sp>
      <p:sp>
        <p:nvSpPr>
          <p:cNvPr id="23" name="Text 21"/>
          <p:cNvSpPr txBox="1"/>
          <p:nvPr/>
        </p:nvSpPr>
        <p:spPr>
          <a:xfrm>
            <a:off x="1627632" y="3904488"/>
            <a:ext cx="2651760" cy="292608"/>
          </a:xfrm>
          <a:prstGeom prst="rect">
            <a:avLst/>
          </a:prstGeom>
          <a:noFill/>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Mansora Akther Mim</a:t>
            </a:r>
            <a:endParaRPr lang="en-US" sz="1250" dirty="0"/>
          </a:p>
        </p:txBody>
      </p:sp>
      <p:sp>
        <p:nvSpPr>
          <p:cNvPr id="24" name="Text 22"/>
          <p:cNvSpPr txBox="1"/>
          <p:nvPr/>
        </p:nvSpPr>
        <p:spPr>
          <a:xfrm>
            <a:off x="4315968" y="3922776"/>
            <a:ext cx="1097280" cy="256032"/>
          </a:xfrm>
          <a:prstGeom prst="rect">
            <a:avLst/>
          </a:prstGeom>
          <a:noFill/>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ID: 202104028</a:t>
            </a:r>
            <a:endParaRPr lang="en-US" sz="1100" dirty="0"/>
          </a:p>
        </p:txBody>
      </p:sp>
      <p:sp>
        <p:nvSpPr>
          <p:cNvPr id="25" name="Shape 23"/>
          <p:cNvSpPr/>
          <p:nvPr/>
        </p:nvSpPr>
        <p:spPr>
          <a:xfrm>
            <a:off x="5806440" y="2314227"/>
            <a:ext cx="2926080" cy="2304288"/>
          </a:xfrm>
          <a:prstGeom prst="rect">
            <a:avLst/>
          </a:prstGeom>
          <a:solidFill>
            <a:srgbClr val="132035"/>
          </a:solidFill>
        </p:spPr>
        <p:txBody>
          <a:bodyPr/>
          <a:lstStyle/>
          <a:p>
            <a:endParaRPr/>
          </a:p>
        </p:txBody>
      </p:sp>
      <p:sp>
        <p:nvSpPr>
          <p:cNvPr id="26" name="Text 24"/>
          <p:cNvSpPr txBox="1"/>
          <p:nvPr/>
        </p:nvSpPr>
        <p:spPr>
          <a:xfrm>
            <a:off x="5989320" y="2423160"/>
            <a:ext cx="2560320" cy="292608"/>
          </a:xfrm>
          <a:prstGeom prst="rect">
            <a:avLst/>
          </a:prstGeom>
          <a:noFill/>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SUBMITTED TO</a:t>
            </a:r>
            <a:endParaRPr lang="en-US" sz="1000" dirty="0"/>
          </a:p>
        </p:txBody>
      </p:sp>
      <p:sp>
        <p:nvSpPr>
          <p:cNvPr id="27" name="Text 25"/>
          <p:cNvSpPr txBox="1"/>
          <p:nvPr/>
        </p:nvSpPr>
        <p:spPr>
          <a:xfrm>
            <a:off x="5989320" y="2816352"/>
            <a:ext cx="2560320" cy="384048"/>
          </a:xfrm>
          <a:prstGeom prst="rect">
            <a:avLst/>
          </a:prstGeom>
          <a:noFill/>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Abdullah Al Siam</a:t>
            </a:r>
            <a:endParaRPr lang="en-US" sz="1450" dirty="0"/>
          </a:p>
        </p:txBody>
      </p:sp>
      <p:sp>
        <p:nvSpPr>
          <p:cNvPr id="28" name="Text 26"/>
          <p:cNvSpPr txBox="1"/>
          <p:nvPr/>
        </p:nvSpPr>
        <p:spPr>
          <a:xfrm>
            <a:off x="5989320" y="3200400"/>
            <a:ext cx="2560320" cy="274320"/>
          </a:xfrm>
          <a:prstGeom prst="rect">
            <a:avLst/>
          </a:prstGeom>
          <a:noFill/>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Lecturer</a:t>
            </a:r>
            <a:endParaRPr lang="en-US" sz="1200" dirty="0"/>
          </a:p>
        </p:txBody>
      </p:sp>
      <p:sp>
        <p:nvSpPr>
          <p:cNvPr id="29" name="Text 27"/>
          <p:cNvSpPr txBox="1"/>
          <p:nvPr/>
        </p:nvSpPr>
        <p:spPr>
          <a:xfrm>
            <a:off x="5989320" y="3474720"/>
            <a:ext cx="2560320" cy="274320"/>
          </a:xfrm>
          <a:prstGeom prst="rect">
            <a:avLst/>
          </a:prstGeom>
          <a:noFill/>
        </p:spPr>
        <p:txBody>
          <a:bodyPr wrap="square" lIns="0" tIns="0" rIns="0" bIns="0" rtlCol="0" anchor="ctr"/>
          <a:lstStyle/>
          <a:p>
            <a:pPr marL="0" indent="0">
              <a:buNone/>
            </a:pPr>
            <a:r>
              <a:rPr lang="en-US" sz="1150" dirty="0" smtClean="0">
                <a:solidFill>
                  <a:srgbClr val="CBD5E1"/>
                </a:solidFill>
                <a:latin typeface="Calibri" pitchFamily="34" charset="0"/>
                <a:ea typeface="Calibri" pitchFamily="34" charset="-122"/>
                <a:cs typeface="Calibri" pitchFamily="34" charset="-120"/>
              </a:rPr>
              <a:t> </a:t>
            </a:r>
            <a:r>
              <a:rPr lang="en-US" sz="1200" dirty="0" smtClean="0">
                <a:solidFill>
                  <a:srgbClr val="CBD5E1"/>
                </a:solidFill>
                <a:latin typeface="Calibri" pitchFamily="34" charset="0"/>
                <a:ea typeface="Calibri" pitchFamily="34" charset="-122"/>
                <a:cs typeface="Calibri" pitchFamily="34" charset="-120"/>
              </a:rPr>
              <a:t>Chairman of CSE department </a:t>
            </a:r>
            <a:endParaRPr lang="en-US" sz="1200" dirty="0"/>
          </a:p>
        </p:txBody>
      </p:sp>
      <p:sp>
        <p:nvSpPr>
          <p:cNvPr id="30" name="Text 28"/>
          <p:cNvSpPr txBox="1"/>
          <p:nvPr/>
        </p:nvSpPr>
        <p:spPr>
          <a:xfrm>
            <a:off x="5989320" y="3749040"/>
            <a:ext cx="2560320" cy="274320"/>
          </a:xfrm>
          <a:prstGeom prst="rect">
            <a:avLst/>
          </a:prstGeom>
          <a:noFill/>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Netrakona University</a:t>
            </a:r>
            <a:endParaRPr lang="en-US" sz="1150" dirty="0"/>
          </a:p>
        </p:txBody>
      </p:sp>
      <p:sp>
        <p:nvSpPr>
          <p:cNvPr id="31" name="Shape 29"/>
          <p:cNvSpPr/>
          <p:nvPr/>
        </p:nvSpPr>
        <p:spPr>
          <a:xfrm>
            <a:off x="0" y="4846320"/>
            <a:ext cx="9144000" cy="301752"/>
          </a:xfrm>
          <a:prstGeom prst="rect">
            <a:avLst/>
          </a:prstGeom>
          <a:solidFill>
            <a:srgbClr val="0A1628"/>
          </a:solidFill>
        </p:spPr>
        <p:txBody>
          <a:bodyPr/>
          <a:lstStyle/>
          <a:p>
            <a:endParaRPr/>
          </a:p>
        </p:txBody>
      </p:sp>
      <p:sp>
        <p:nvSpPr>
          <p:cNvPr id="32" name="Text 30"/>
          <p:cNvSpPr txBox="1"/>
          <p:nvPr/>
        </p:nvSpPr>
        <p:spPr>
          <a:xfrm>
            <a:off x="411480" y="4873752"/>
            <a:ext cx="8321040" cy="237744"/>
          </a:xfrm>
          <a:prstGeom prst="rect">
            <a:avLst/>
          </a:prstGeom>
          <a:noFill/>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Department of Computer Science &amp; Engineering  |  Netrakona University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a:solidFill>
                  <a:srgbClr val="2F5C97"/>
                </a:solidFill>
                <a:latin typeface="Aptos"/>
              </a:rPr>
              <a:t>SLIDE 02  |  TEAM</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Team Work Division</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71600"/>
            <a:ext cx="2788920" cy="3493008"/>
          </a:xfrm>
          <a:prstGeom prst="rect">
            <a:avLst/>
          </a:prstGeom>
          <a:solidFill>
            <a:srgbClr val="DBEAFE"/>
          </a:solidFill>
        </p:spPr>
        <p:txBody>
          <a:bodyPr/>
          <a:lstStyle/>
          <a:p>
            <a:endParaRPr/>
          </a:p>
        </p:txBody>
      </p:sp>
      <p:sp>
        <p:nvSpPr>
          <p:cNvPr id="7" name="Shape 5"/>
          <p:cNvSpPr/>
          <p:nvPr/>
        </p:nvSpPr>
        <p:spPr>
          <a:xfrm>
            <a:off x="438912" y="1508760"/>
            <a:ext cx="960120" cy="320040"/>
          </a:xfrm>
          <a:prstGeom prst="rect">
            <a:avLst/>
          </a:prstGeom>
          <a:solidFill>
            <a:srgbClr val="2563EB"/>
          </a:solidFill>
        </p:spPr>
        <p:txBody>
          <a:bodyPr/>
          <a:lstStyle/>
          <a:p>
            <a:endParaRPr/>
          </a:p>
        </p:txBody>
      </p:sp>
      <p:sp>
        <p:nvSpPr>
          <p:cNvPr id="8" name="Text 6"/>
          <p:cNvSpPr txBox="1"/>
          <p:nvPr/>
        </p:nvSpPr>
        <p:spPr>
          <a:xfrm>
            <a:off x="438912" y="1508760"/>
            <a:ext cx="960120" cy="320040"/>
          </a:xfrm>
          <a:prstGeom prst="rect">
            <a:avLst/>
          </a:prstGeom>
          <a:noFill/>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Member 1</a:t>
            </a:r>
            <a:endParaRPr lang="en-US" sz="1050" dirty="0"/>
          </a:p>
        </p:txBody>
      </p:sp>
      <p:sp>
        <p:nvSpPr>
          <p:cNvPr id="9" name="Text 7"/>
          <p:cNvSpPr txBox="1"/>
          <p:nvPr/>
        </p:nvSpPr>
        <p:spPr>
          <a:xfrm>
            <a:off x="438912" y="1901952"/>
            <a:ext cx="2423160" cy="365760"/>
          </a:xfrm>
          <a:prstGeom prst="rect">
            <a:avLst/>
          </a:prstGeom>
          <a:noFill/>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Punom Das Momo</a:t>
            </a:r>
            <a:endParaRPr lang="en-US" sz="1300" dirty="0"/>
          </a:p>
        </p:txBody>
      </p:sp>
      <p:sp>
        <p:nvSpPr>
          <p:cNvPr id="10" name="Text 8"/>
          <p:cNvSpPr txBox="1"/>
          <p:nvPr/>
        </p:nvSpPr>
        <p:spPr>
          <a:xfrm>
            <a:off x="438912" y="2267712"/>
            <a:ext cx="2423160" cy="256032"/>
          </a:xfrm>
          <a:prstGeom prst="rect">
            <a:avLst/>
          </a:prstGeom>
          <a:noFill/>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ID: 202204031</a:t>
            </a:r>
            <a:endParaRPr lang="en-US" sz="1100" dirty="0"/>
          </a:p>
        </p:txBody>
      </p:sp>
      <p:sp>
        <p:nvSpPr>
          <p:cNvPr id="11" name="Shape 9"/>
          <p:cNvSpPr/>
          <p:nvPr/>
        </p:nvSpPr>
        <p:spPr>
          <a:xfrm>
            <a:off x="438912" y="2560320"/>
            <a:ext cx="2423160" cy="0"/>
          </a:xfrm>
          <a:prstGeom prst="rect">
            <a:avLst/>
          </a:prstGeom>
          <a:noFill/>
          <a:ln w="12700">
            <a:solidFill>
              <a:srgbClr val="2563EB"/>
            </a:solidFill>
            <a:prstDash val="solid"/>
          </a:ln>
        </p:spPr>
        <p:txBody>
          <a:bodyPr/>
          <a:lstStyle/>
          <a:p>
            <a:endParaRPr/>
          </a:p>
        </p:txBody>
      </p:sp>
      <p:sp>
        <p:nvSpPr>
          <p:cNvPr id="12" name="Shape 10"/>
          <p:cNvSpPr/>
          <p:nvPr/>
        </p:nvSpPr>
        <p:spPr>
          <a:xfrm>
            <a:off x="493776" y="2670048"/>
            <a:ext cx="128016" cy="128016"/>
          </a:xfrm>
          <a:prstGeom prst="rect">
            <a:avLst/>
          </a:prstGeom>
          <a:solidFill>
            <a:srgbClr val="2563EB"/>
          </a:solidFill>
        </p:spPr>
        <p:txBody>
          <a:bodyPr/>
          <a:lstStyle/>
          <a:p>
            <a:endParaRPr/>
          </a:p>
        </p:txBody>
      </p:sp>
      <p:sp>
        <p:nvSpPr>
          <p:cNvPr id="13" name="Text 11"/>
          <p:cNvSpPr txBox="1"/>
          <p:nvPr/>
        </p:nvSpPr>
        <p:spPr>
          <a:xfrm>
            <a:off x="685800" y="2651760"/>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User Registration</a:t>
            </a:r>
            <a:endParaRPr lang="en-US" sz="1150" dirty="0"/>
          </a:p>
        </p:txBody>
      </p:sp>
      <p:sp>
        <p:nvSpPr>
          <p:cNvPr id="14" name="Shape 12"/>
          <p:cNvSpPr/>
          <p:nvPr/>
        </p:nvSpPr>
        <p:spPr>
          <a:xfrm>
            <a:off x="493776" y="3072384"/>
            <a:ext cx="128016" cy="128016"/>
          </a:xfrm>
          <a:prstGeom prst="rect">
            <a:avLst/>
          </a:prstGeom>
          <a:solidFill>
            <a:srgbClr val="2563EB"/>
          </a:solidFill>
        </p:spPr>
        <p:txBody>
          <a:bodyPr/>
          <a:lstStyle/>
          <a:p>
            <a:endParaRPr/>
          </a:p>
        </p:txBody>
      </p:sp>
      <p:sp>
        <p:nvSpPr>
          <p:cNvPr id="15" name="Text 13"/>
          <p:cNvSpPr txBox="1"/>
          <p:nvPr/>
        </p:nvSpPr>
        <p:spPr>
          <a:xfrm>
            <a:off x="685800" y="3054096"/>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Login &amp; JWT Token</a:t>
            </a:r>
            <a:endParaRPr lang="en-US" sz="1150" dirty="0"/>
          </a:p>
        </p:txBody>
      </p:sp>
      <p:sp>
        <p:nvSpPr>
          <p:cNvPr id="16" name="Shape 14"/>
          <p:cNvSpPr/>
          <p:nvPr/>
        </p:nvSpPr>
        <p:spPr>
          <a:xfrm>
            <a:off x="493776" y="3474720"/>
            <a:ext cx="128016" cy="128016"/>
          </a:xfrm>
          <a:prstGeom prst="rect">
            <a:avLst/>
          </a:prstGeom>
          <a:solidFill>
            <a:srgbClr val="2563EB"/>
          </a:solidFill>
        </p:spPr>
        <p:txBody>
          <a:bodyPr/>
          <a:lstStyle/>
          <a:p>
            <a:endParaRPr/>
          </a:p>
        </p:txBody>
      </p:sp>
      <p:sp>
        <p:nvSpPr>
          <p:cNvPr id="17" name="Text 15"/>
          <p:cNvSpPr txBox="1"/>
          <p:nvPr/>
        </p:nvSpPr>
        <p:spPr>
          <a:xfrm>
            <a:off x="685800" y="3456432"/>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Password (bcrypt)</a:t>
            </a:r>
            <a:endParaRPr lang="en-US" sz="1150" dirty="0"/>
          </a:p>
        </p:txBody>
      </p:sp>
      <p:sp>
        <p:nvSpPr>
          <p:cNvPr id="18" name="Shape 16"/>
          <p:cNvSpPr/>
          <p:nvPr/>
        </p:nvSpPr>
        <p:spPr>
          <a:xfrm>
            <a:off x="493776" y="3877056"/>
            <a:ext cx="128016" cy="128016"/>
          </a:xfrm>
          <a:prstGeom prst="rect">
            <a:avLst/>
          </a:prstGeom>
          <a:solidFill>
            <a:srgbClr val="2563EB"/>
          </a:solidFill>
        </p:spPr>
        <p:txBody>
          <a:bodyPr/>
          <a:lstStyle/>
          <a:p>
            <a:endParaRPr/>
          </a:p>
        </p:txBody>
      </p:sp>
      <p:sp>
        <p:nvSpPr>
          <p:cNvPr id="19" name="Text 17"/>
          <p:cNvSpPr txBox="1"/>
          <p:nvPr/>
        </p:nvSpPr>
        <p:spPr>
          <a:xfrm>
            <a:off x="685800" y="3858768"/>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Role-based Access</a:t>
            </a:r>
            <a:endParaRPr lang="en-US" sz="1150" dirty="0"/>
          </a:p>
        </p:txBody>
      </p:sp>
      <p:sp>
        <p:nvSpPr>
          <p:cNvPr id="20" name="Shape 18"/>
          <p:cNvSpPr/>
          <p:nvPr/>
        </p:nvSpPr>
        <p:spPr>
          <a:xfrm>
            <a:off x="493776" y="4279392"/>
            <a:ext cx="128016" cy="128016"/>
          </a:xfrm>
          <a:prstGeom prst="rect">
            <a:avLst/>
          </a:prstGeom>
          <a:solidFill>
            <a:srgbClr val="2563EB"/>
          </a:solidFill>
        </p:spPr>
        <p:txBody>
          <a:bodyPr/>
          <a:lstStyle/>
          <a:p>
            <a:endParaRPr/>
          </a:p>
        </p:txBody>
      </p:sp>
      <p:sp>
        <p:nvSpPr>
          <p:cNvPr id="21" name="Text 19"/>
          <p:cNvSpPr txBox="1"/>
          <p:nvPr/>
        </p:nvSpPr>
        <p:spPr>
          <a:xfrm>
            <a:off x="685800" y="4261104"/>
            <a:ext cx="2176272" cy="292608"/>
          </a:xfrm>
          <a:prstGeom prst="rect">
            <a:avLst/>
          </a:prstGeom>
          <a:noFill/>
        </p:spPr>
        <p:txBody>
          <a:bodyPr wrap="square" lIns="0" tIns="0" rIns="0" bIns="0" rtlCol="0" anchor="ctr"/>
          <a:lstStyle/>
          <a:p>
            <a:pPr marL="0" indent="0">
              <a:buNone/>
            </a:pPr>
            <a:endParaRPr lang="en-US" sz="1150" dirty="0"/>
          </a:p>
        </p:txBody>
      </p:sp>
      <p:sp>
        <p:nvSpPr>
          <p:cNvPr id="22" name="Shape 20"/>
          <p:cNvSpPr/>
          <p:nvPr/>
        </p:nvSpPr>
        <p:spPr>
          <a:xfrm>
            <a:off x="3246120" y="1371600"/>
            <a:ext cx="2788920" cy="3493008"/>
          </a:xfrm>
          <a:prstGeom prst="rect">
            <a:avLst/>
          </a:prstGeom>
          <a:solidFill>
            <a:srgbClr val="DCFCE7"/>
          </a:solidFill>
        </p:spPr>
        <p:txBody>
          <a:bodyPr/>
          <a:lstStyle/>
          <a:p>
            <a:endParaRPr/>
          </a:p>
        </p:txBody>
      </p:sp>
      <p:sp>
        <p:nvSpPr>
          <p:cNvPr id="23" name="Shape 21"/>
          <p:cNvSpPr/>
          <p:nvPr/>
        </p:nvSpPr>
        <p:spPr>
          <a:xfrm>
            <a:off x="3410712" y="1508760"/>
            <a:ext cx="960120" cy="320040"/>
          </a:xfrm>
          <a:prstGeom prst="rect">
            <a:avLst/>
          </a:prstGeom>
          <a:solidFill>
            <a:srgbClr val="15803D"/>
          </a:solidFill>
        </p:spPr>
        <p:txBody>
          <a:bodyPr/>
          <a:lstStyle/>
          <a:p>
            <a:endParaRPr/>
          </a:p>
        </p:txBody>
      </p:sp>
      <p:sp>
        <p:nvSpPr>
          <p:cNvPr id="24" name="Text 22"/>
          <p:cNvSpPr txBox="1"/>
          <p:nvPr/>
        </p:nvSpPr>
        <p:spPr>
          <a:xfrm>
            <a:off x="3410712" y="1508760"/>
            <a:ext cx="960120" cy="320040"/>
          </a:xfrm>
          <a:prstGeom prst="rect">
            <a:avLst/>
          </a:prstGeom>
          <a:noFill/>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Member 2</a:t>
            </a:r>
            <a:endParaRPr lang="en-US" sz="1050" dirty="0"/>
          </a:p>
        </p:txBody>
      </p:sp>
      <p:sp>
        <p:nvSpPr>
          <p:cNvPr id="25" name="Text 23"/>
          <p:cNvSpPr txBox="1"/>
          <p:nvPr/>
        </p:nvSpPr>
        <p:spPr>
          <a:xfrm>
            <a:off x="3410712" y="1901952"/>
            <a:ext cx="2423160" cy="365760"/>
          </a:xfrm>
          <a:prstGeom prst="rect">
            <a:avLst/>
          </a:prstGeom>
          <a:noFill/>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Foujia Akther</a:t>
            </a:r>
            <a:endParaRPr lang="en-US" sz="1300" dirty="0"/>
          </a:p>
        </p:txBody>
      </p:sp>
      <p:sp>
        <p:nvSpPr>
          <p:cNvPr id="26" name="Text 24"/>
          <p:cNvSpPr txBox="1"/>
          <p:nvPr/>
        </p:nvSpPr>
        <p:spPr>
          <a:xfrm>
            <a:off x="3410712" y="2267712"/>
            <a:ext cx="2423160" cy="256032"/>
          </a:xfrm>
          <a:prstGeom prst="rect">
            <a:avLst/>
          </a:prstGeom>
          <a:noFill/>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ID: 202204009</a:t>
            </a:r>
            <a:endParaRPr lang="en-US" sz="1100" dirty="0"/>
          </a:p>
        </p:txBody>
      </p:sp>
      <p:sp>
        <p:nvSpPr>
          <p:cNvPr id="27" name="Shape 25"/>
          <p:cNvSpPr/>
          <p:nvPr/>
        </p:nvSpPr>
        <p:spPr>
          <a:xfrm>
            <a:off x="3410712" y="2560320"/>
            <a:ext cx="2423160" cy="0"/>
          </a:xfrm>
          <a:prstGeom prst="rect">
            <a:avLst/>
          </a:prstGeom>
          <a:noFill/>
          <a:ln w="12700">
            <a:solidFill>
              <a:srgbClr val="15803D"/>
            </a:solidFill>
            <a:prstDash val="solid"/>
          </a:ln>
        </p:spPr>
        <p:txBody>
          <a:bodyPr/>
          <a:lstStyle/>
          <a:p>
            <a:endParaRPr/>
          </a:p>
        </p:txBody>
      </p:sp>
      <p:sp>
        <p:nvSpPr>
          <p:cNvPr id="28" name="Shape 26"/>
          <p:cNvSpPr/>
          <p:nvPr/>
        </p:nvSpPr>
        <p:spPr>
          <a:xfrm>
            <a:off x="3465576" y="2670048"/>
            <a:ext cx="128016" cy="128016"/>
          </a:xfrm>
          <a:prstGeom prst="rect">
            <a:avLst/>
          </a:prstGeom>
          <a:solidFill>
            <a:srgbClr val="15803D"/>
          </a:solidFill>
        </p:spPr>
        <p:txBody>
          <a:bodyPr/>
          <a:lstStyle/>
          <a:p>
            <a:endParaRPr/>
          </a:p>
        </p:txBody>
      </p:sp>
      <p:sp>
        <p:nvSpPr>
          <p:cNvPr id="29" name="Text 27"/>
          <p:cNvSpPr txBox="1"/>
          <p:nvPr/>
        </p:nvSpPr>
        <p:spPr>
          <a:xfrm>
            <a:off x="3657600" y="2651760"/>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Add / Edit / Delete Listing</a:t>
            </a:r>
            <a:endParaRPr lang="en-US" sz="1150" dirty="0"/>
          </a:p>
        </p:txBody>
      </p:sp>
      <p:sp>
        <p:nvSpPr>
          <p:cNvPr id="30" name="Shape 28"/>
          <p:cNvSpPr/>
          <p:nvPr/>
        </p:nvSpPr>
        <p:spPr>
          <a:xfrm>
            <a:off x="3465576" y="3072384"/>
            <a:ext cx="128016" cy="128016"/>
          </a:xfrm>
          <a:prstGeom prst="rect">
            <a:avLst/>
          </a:prstGeom>
          <a:solidFill>
            <a:srgbClr val="15803D"/>
          </a:solidFill>
        </p:spPr>
        <p:txBody>
          <a:bodyPr/>
          <a:lstStyle/>
          <a:p>
            <a:endParaRPr/>
          </a:p>
        </p:txBody>
      </p:sp>
      <p:sp>
        <p:nvSpPr>
          <p:cNvPr id="31" name="Text 29"/>
          <p:cNvSpPr txBox="1"/>
          <p:nvPr/>
        </p:nvSpPr>
        <p:spPr>
          <a:xfrm>
            <a:off x="3657600" y="3054096"/>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Image Upload (Multer)</a:t>
            </a:r>
            <a:endParaRPr lang="en-US" sz="1150" dirty="0"/>
          </a:p>
        </p:txBody>
      </p:sp>
      <p:sp>
        <p:nvSpPr>
          <p:cNvPr id="32" name="Shape 30"/>
          <p:cNvSpPr/>
          <p:nvPr/>
        </p:nvSpPr>
        <p:spPr>
          <a:xfrm>
            <a:off x="3465576" y="3474720"/>
            <a:ext cx="128016" cy="128016"/>
          </a:xfrm>
          <a:prstGeom prst="rect">
            <a:avLst/>
          </a:prstGeom>
          <a:solidFill>
            <a:srgbClr val="15803D"/>
          </a:solidFill>
        </p:spPr>
        <p:txBody>
          <a:bodyPr/>
          <a:lstStyle/>
          <a:p>
            <a:endParaRPr/>
          </a:p>
        </p:txBody>
      </p:sp>
      <p:sp>
        <p:nvSpPr>
          <p:cNvPr id="33" name="Text 31"/>
          <p:cNvSpPr txBox="1"/>
          <p:nvPr/>
        </p:nvSpPr>
        <p:spPr>
          <a:xfrm>
            <a:off x="3657600" y="3456432"/>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Listing Details Page</a:t>
            </a:r>
            <a:endParaRPr lang="en-US" sz="1150" dirty="0"/>
          </a:p>
        </p:txBody>
      </p:sp>
      <p:sp>
        <p:nvSpPr>
          <p:cNvPr id="34" name="Shape 32"/>
          <p:cNvSpPr/>
          <p:nvPr/>
        </p:nvSpPr>
        <p:spPr>
          <a:xfrm>
            <a:off x="3465576" y="3877056"/>
            <a:ext cx="128016" cy="128016"/>
          </a:xfrm>
          <a:prstGeom prst="rect">
            <a:avLst/>
          </a:prstGeom>
          <a:solidFill>
            <a:srgbClr val="15803D"/>
          </a:solidFill>
        </p:spPr>
        <p:txBody>
          <a:bodyPr/>
          <a:lstStyle/>
          <a:p>
            <a:endParaRPr/>
          </a:p>
        </p:txBody>
      </p:sp>
      <p:sp>
        <p:nvSpPr>
          <p:cNvPr id="35" name="Text 33"/>
          <p:cNvSpPr txBox="1"/>
          <p:nvPr/>
        </p:nvSpPr>
        <p:spPr>
          <a:xfrm>
            <a:off x="3657600" y="3858768"/>
            <a:ext cx="2176272" cy="292608"/>
          </a:xfrm>
          <a:prstGeom prst="rect">
            <a:avLst/>
          </a:prstGeom>
          <a:noFill/>
        </p:spPr>
        <p:txBody>
          <a:bodyPr wrap="square" lIns="0" tIns="0" rIns="0" bIns="0" rtlCol="0" anchor="ctr"/>
          <a:lstStyle/>
          <a:p>
            <a:pPr marL="0" indent="0">
              <a:buNone/>
            </a:pPr>
            <a:r>
              <a:rPr sz="1000">
                <a:solidFill>
                  <a:srgbClr val="232B35"/>
                </a:solidFill>
                <a:latin typeface="Aptos"/>
              </a:rPr>
              <a:t>Admin Dashboard</a:t>
            </a:r>
            <a:endParaRPr lang="en-US" sz="1150" dirty="0"/>
          </a:p>
        </p:txBody>
      </p:sp>
      <p:sp>
        <p:nvSpPr>
          <p:cNvPr id="36" name="Shape 34"/>
          <p:cNvSpPr/>
          <p:nvPr/>
        </p:nvSpPr>
        <p:spPr>
          <a:xfrm>
            <a:off x="6217920" y="1371600"/>
            <a:ext cx="2788920" cy="3493008"/>
          </a:xfrm>
          <a:prstGeom prst="rect">
            <a:avLst/>
          </a:prstGeom>
          <a:solidFill>
            <a:srgbClr val="EDE9FE"/>
          </a:solidFill>
        </p:spPr>
        <p:txBody>
          <a:bodyPr/>
          <a:lstStyle/>
          <a:p>
            <a:endParaRPr/>
          </a:p>
        </p:txBody>
      </p:sp>
      <p:sp>
        <p:nvSpPr>
          <p:cNvPr id="37" name="Shape 35"/>
          <p:cNvSpPr/>
          <p:nvPr/>
        </p:nvSpPr>
        <p:spPr>
          <a:xfrm>
            <a:off x="6382512" y="1508760"/>
            <a:ext cx="960120" cy="320040"/>
          </a:xfrm>
          <a:prstGeom prst="rect">
            <a:avLst/>
          </a:prstGeom>
          <a:solidFill>
            <a:srgbClr val="6D28D9"/>
          </a:solidFill>
        </p:spPr>
        <p:txBody>
          <a:bodyPr/>
          <a:lstStyle/>
          <a:p>
            <a:endParaRPr/>
          </a:p>
        </p:txBody>
      </p:sp>
      <p:sp>
        <p:nvSpPr>
          <p:cNvPr id="38" name="Text 36"/>
          <p:cNvSpPr txBox="1"/>
          <p:nvPr/>
        </p:nvSpPr>
        <p:spPr>
          <a:xfrm>
            <a:off x="6382512" y="1508760"/>
            <a:ext cx="960120" cy="320040"/>
          </a:xfrm>
          <a:prstGeom prst="rect">
            <a:avLst/>
          </a:prstGeom>
          <a:noFill/>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Member 3</a:t>
            </a:r>
            <a:endParaRPr lang="en-US" sz="1050" dirty="0"/>
          </a:p>
        </p:txBody>
      </p:sp>
      <p:sp>
        <p:nvSpPr>
          <p:cNvPr id="39" name="Text 37"/>
          <p:cNvSpPr txBox="1"/>
          <p:nvPr/>
        </p:nvSpPr>
        <p:spPr>
          <a:xfrm>
            <a:off x="6382512" y="1901952"/>
            <a:ext cx="2423160" cy="365760"/>
          </a:xfrm>
          <a:prstGeom prst="rect">
            <a:avLst/>
          </a:prstGeom>
          <a:noFill/>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Mansora Akther Mim</a:t>
            </a:r>
            <a:endParaRPr lang="en-US" sz="1300" dirty="0"/>
          </a:p>
        </p:txBody>
      </p:sp>
      <p:sp>
        <p:nvSpPr>
          <p:cNvPr id="40" name="Text 38"/>
          <p:cNvSpPr txBox="1"/>
          <p:nvPr/>
        </p:nvSpPr>
        <p:spPr>
          <a:xfrm>
            <a:off x="6382512" y="2267712"/>
            <a:ext cx="2423160" cy="256032"/>
          </a:xfrm>
          <a:prstGeom prst="rect">
            <a:avLst/>
          </a:prstGeom>
          <a:noFill/>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ID: 202104028</a:t>
            </a:r>
            <a:endParaRPr lang="en-US" sz="1100" dirty="0"/>
          </a:p>
        </p:txBody>
      </p:sp>
      <p:sp>
        <p:nvSpPr>
          <p:cNvPr id="41" name="Shape 39"/>
          <p:cNvSpPr/>
          <p:nvPr/>
        </p:nvSpPr>
        <p:spPr>
          <a:xfrm>
            <a:off x="6382512" y="2560320"/>
            <a:ext cx="2423160" cy="0"/>
          </a:xfrm>
          <a:prstGeom prst="rect">
            <a:avLst/>
          </a:prstGeom>
          <a:noFill/>
          <a:ln w="12700">
            <a:solidFill>
              <a:srgbClr val="6D28D9"/>
            </a:solidFill>
            <a:prstDash val="solid"/>
          </a:ln>
        </p:spPr>
        <p:txBody>
          <a:bodyPr/>
          <a:lstStyle/>
          <a:p>
            <a:endParaRPr/>
          </a:p>
        </p:txBody>
      </p:sp>
      <p:sp>
        <p:nvSpPr>
          <p:cNvPr id="42" name="Shape 40"/>
          <p:cNvSpPr/>
          <p:nvPr/>
        </p:nvSpPr>
        <p:spPr>
          <a:xfrm>
            <a:off x="6437376" y="2670048"/>
            <a:ext cx="128016" cy="128016"/>
          </a:xfrm>
          <a:prstGeom prst="rect">
            <a:avLst/>
          </a:prstGeom>
          <a:solidFill>
            <a:srgbClr val="6D28D9"/>
          </a:solidFill>
        </p:spPr>
        <p:txBody>
          <a:bodyPr/>
          <a:lstStyle/>
          <a:p>
            <a:endParaRPr/>
          </a:p>
        </p:txBody>
      </p:sp>
      <p:sp>
        <p:nvSpPr>
          <p:cNvPr id="43" name="Text 41"/>
          <p:cNvSpPr txBox="1"/>
          <p:nvPr/>
        </p:nvSpPr>
        <p:spPr>
          <a:xfrm>
            <a:off x="6629400" y="2651760"/>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Search &amp; Filter System</a:t>
            </a:r>
            <a:endParaRPr lang="en-US" sz="1150" dirty="0"/>
          </a:p>
        </p:txBody>
      </p:sp>
      <p:sp>
        <p:nvSpPr>
          <p:cNvPr id="44" name="Shape 42"/>
          <p:cNvSpPr/>
          <p:nvPr/>
        </p:nvSpPr>
        <p:spPr>
          <a:xfrm>
            <a:off x="6437376" y="3072384"/>
            <a:ext cx="128016" cy="128016"/>
          </a:xfrm>
          <a:prstGeom prst="rect">
            <a:avLst/>
          </a:prstGeom>
          <a:solidFill>
            <a:srgbClr val="6D28D9"/>
          </a:solidFill>
        </p:spPr>
        <p:txBody>
          <a:bodyPr/>
          <a:lstStyle/>
          <a:p>
            <a:endParaRPr/>
          </a:p>
        </p:txBody>
      </p:sp>
      <p:sp>
        <p:nvSpPr>
          <p:cNvPr id="45" name="Text 43"/>
          <p:cNvSpPr txBox="1"/>
          <p:nvPr/>
        </p:nvSpPr>
        <p:spPr>
          <a:xfrm>
            <a:off x="6629400" y="3054096"/>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Interest Request System</a:t>
            </a:r>
            <a:endParaRPr lang="en-US" sz="1150" dirty="0"/>
          </a:p>
        </p:txBody>
      </p:sp>
      <p:sp>
        <p:nvSpPr>
          <p:cNvPr id="46" name="Shape 44"/>
          <p:cNvSpPr/>
          <p:nvPr/>
        </p:nvSpPr>
        <p:spPr>
          <a:xfrm>
            <a:off x="6437376" y="3474720"/>
            <a:ext cx="128016" cy="128016"/>
          </a:xfrm>
          <a:prstGeom prst="rect">
            <a:avLst/>
          </a:prstGeom>
          <a:solidFill>
            <a:srgbClr val="6D28D9"/>
          </a:solidFill>
        </p:spPr>
        <p:txBody>
          <a:bodyPr/>
          <a:lstStyle/>
          <a:p>
            <a:endParaRPr/>
          </a:p>
        </p:txBody>
      </p:sp>
      <p:sp>
        <p:nvSpPr>
          <p:cNvPr id="47" name="Text 45"/>
          <p:cNvSpPr txBox="1"/>
          <p:nvPr/>
        </p:nvSpPr>
        <p:spPr>
          <a:xfrm>
            <a:off x="6629400" y="3456432"/>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Accept / Reject Flow</a:t>
            </a:r>
            <a:endParaRPr lang="en-US" sz="1150" dirty="0"/>
          </a:p>
        </p:txBody>
      </p:sp>
      <p:sp>
        <p:nvSpPr>
          <p:cNvPr id="48" name="Shape 46"/>
          <p:cNvSpPr/>
          <p:nvPr/>
        </p:nvSpPr>
        <p:spPr>
          <a:xfrm>
            <a:off x="6437376" y="3877056"/>
            <a:ext cx="128016" cy="128016"/>
          </a:xfrm>
          <a:prstGeom prst="rect">
            <a:avLst/>
          </a:prstGeom>
          <a:solidFill>
            <a:srgbClr val="6D28D9"/>
          </a:solidFill>
        </p:spPr>
        <p:txBody>
          <a:bodyPr/>
          <a:lstStyle/>
          <a:p>
            <a:endParaRPr/>
          </a:p>
        </p:txBody>
      </p:sp>
      <p:sp>
        <p:nvSpPr>
          <p:cNvPr id="49" name="Text 47"/>
          <p:cNvSpPr txBox="1"/>
          <p:nvPr/>
        </p:nvSpPr>
        <p:spPr>
          <a:xfrm>
            <a:off x="6629400" y="3858768"/>
            <a:ext cx="2176272" cy="292608"/>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Wishlist — Save &amp; Remove</a:t>
            </a:r>
            <a:endParaRPr lang="en-US" sz="1150" dirty="0"/>
          </a:p>
        </p:txBody>
      </p:sp>
      <p:sp>
        <p:nvSpPr>
          <p:cNvPr id="50" name="Shape 48"/>
          <p:cNvSpPr/>
          <p:nvPr/>
        </p:nvSpPr>
        <p:spPr>
          <a:xfrm>
            <a:off x="274320" y="4681728"/>
            <a:ext cx="8595360" cy="292608"/>
          </a:xfrm>
          <a:prstGeom prst="rect">
            <a:avLst/>
          </a:prstGeom>
          <a:solidFill>
            <a:srgbClr val="1A2C45"/>
          </a:solidFill>
        </p:spPr>
        <p:txBody>
          <a:bodyPr/>
          <a:lstStyle/>
          <a:p>
            <a:endParaRPr/>
          </a:p>
        </p:txBody>
      </p:sp>
      <p:sp>
        <p:nvSpPr>
          <p:cNvPr id="51" name="Text 49"/>
          <p:cNvSpPr txBox="1"/>
          <p:nvPr/>
        </p:nvSpPr>
        <p:spPr>
          <a:xfrm>
            <a:off x="411480" y="4700016"/>
            <a:ext cx="8321040" cy="256032"/>
          </a:xfrm>
          <a:prstGeom prst="rect">
            <a:avLst/>
          </a:prstGeom>
          <a:noFill/>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Version Control: Git &amp; GitHub  |  Each member works on a separate branch  |  Pull Requests for merging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a:solidFill>
                  <a:srgbClr val="2F5C97"/>
                </a:solidFill>
                <a:latin typeface="Aptos"/>
              </a:rPr>
              <a:t>SLIDE 03  |  BACKGROUND</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The Problem We Are Solving</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71600"/>
            <a:ext cx="4114800" cy="3520440"/>
          </a:xfrm>
          <a:prstGeom prst="rect">
            <a:avLst/>
          </a:prstGeom>
          <a:solidFill>
            <a:srgbClr val="FEE2E2"/>
          </a:solidFill>
        </p:spPr>
        <p:txBody>
          <a:bodyPr/>
          <a:lstStyle/>
          <a:p>
            <a:endParaRPr/>
          </a:p>
        </p:txBody>
      </p:sp>
      <p:sp>
        <p:nvSpPr>
          <p:cNvPr id="7" name="Text 5"/>
          <p:cNvSpPr txBox="1"/>
          <p:nvPr/>
        </p:nvSpPr>
        <p:spPr>
          <a:xfrm>
            <a:off x="457200" y="1508760"/>
            <a:ext cx="3749040" cy="365760"/>
          </a:xfrm>
          <a:prstGeom prst="rect">
            <a:avLst/>
          </a:prstGeom>
          <a:noFill/>
        </p:spPr>
        <p:txBody>
          <a:bodyPr wrap="square" lIns="0" tIns="0" rIns="0" bIns="0" rtlCol="0" anchor="ctr"/>
          <a:lstStyle/>
          <a:p>
            <a:pPr marL="0" indent="0">
              <a:buNone/>
            </a:pPr>
            <a:r>
              <a:rPr lang="en-US" sz="1400" b="1" dirty="0">
                <a:solidFill>
                  <a:srgbClr val="B91C1C"/>
                </a:solidFill>
                <a:latin typeface="Calibri" pitchFamily="34" charset="0"/>
                <a:ea typeface="Calibri" pitchFamily="34" charset="-122"/>
                <a:cs typeface="Calibri" pitchFamily="34" charset="-120"/>
              </a:rPr>
              <a:t>Current Situation (Problem)</a:t>
            </a:r>
            <a:endParaRPr lang="en-US" sz="1400" dirty="0"/>
          </a:p>
        </p:txBody>
      </p:sp>
      <p:sp>
        <p:nvSpPr>
          <p:cNvPr id="8" name="Shape 6"/>
          <p:cNvSpPr/>
          <p:nvPr/>
        </p:nvSpPr>
        <p:spPr>
          <a:xfrm>
            <a:off x="475488" y="1956816"/>
            <a:ext cx="237744" cy="237744"/>
          </a:xfrm>
          <a:prstGeom prst="rect">
            <a:avLst/>
          </a:prstGeom>
          <a:solidFill>
            <a:srgbClr val="B91C1C"/>
          </a:solidFill>
        </p:spPr>
        <p:txBody>
          <a:bodyPr/>
          <a:lstStyle/>
          <a:p>
            <a:endParaRPr/>
          </a:p>
        </p:txBody>
      </p:sp>
      <p:sp>
        <p:nvSpPr>
          <p:cNvPr id="9" name="Text 7"/>
          <p:cNvSpPr txBox="1"/>
          <p:nvPr/>
        </p:nvSpPr>
        <p:spPr>
          <a:xfrm>
            <a:off x="475488" y="1956816"/>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0" name="Text 8"/>
          <p:cNvSpPr txBox="1"/>
          <p:nvPr/>
        </p:nvSpPr>
        <p:spPr>
          <a:xfrm>
            <a:off x="804672" y="19751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Walk area to area asking locals</a:t>
            </a:r>
            <a:endParaRPr lang="en-US" sz="1250" dirty="0"/>
          </a:p>
        </p:txBody>
      </p:sp>
      <p:sp>
        <p:nvSpPr>
          <p:cNvPr id="11" name="Shape 9"/>
          <p:cNvSpPr/>
          <p:nvPr/>
        </p:nvSpPr>
        <p:spPr>
          <a:xfrm>
            <a:off x="475488" y="2414016"/>
            <a:ext cx="237744" cy="237744"/>
          </a:xfrm>
          <a:prstGeom prst="rect">
            <a:avLst/>
          </a:prstGeom>
          <a:solidFill>
            <a:srgbClr val="B91C1C"/>
          </a:solidFill>
        </p:spPr>
        <p:txBody>
          <a:bodyPr/>
          <a:lstStyle/>
          <a:p>
            <a:endParaRPr/>
          </a:p>
        </p:txBody>
      </p:sp>
      <p:sp>
        <p:nvSpPr>
          <p:cNvPr id="12" name="Text 10"/>
          <p:cNvSpPr txBox="1"/>
          <p:nvPr/>
        </p:nvSpPr>
        <p:spPr>
          <a:xfrm>
            <a:off x="475488" y="2414016"/>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3" name="Text 11"/>
          <p:cNvSpPr txBox="1"/>
          <p:nvPr/>
        </p:nvSpPr>
        <p:spPr>
          <a:xfrm>
            <a:off x="804672" y="24323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Brokers charge extra commission</a:t>
            </a:r>
            <a:endParaRPr lang="en-US" sz="1250" dirty="0"/>
          </a:p>
        </p:txBody>
      </p:sp>
      <p:sp>
        <p:nvSpPr>
          <p:cNvPr id="14" name="Shape 12"/>
          <p:cNvSpPr/>
          <p:nvPr/>
        </p:nvSpPr>
        <p:spPr>
          <a:xfrm>
            <a:off x="475488" y="2871216"/>
            <a:ext cx="237744" cy="237744"/>
          </a:xfrm>
          <a:prstGeom prst="rect">
            <a:avLst/>
          </a:prstGeom>
          <a:solidFill>
            <a:srgbClr val="B91C1C"/>
          </a:solidFill>
        </p:spPr>
        <p:txBody>
          <a:bodyPr/>
          <a:lstStyle/>
          <a:p>
            <a:endParaRPr/>
          </a:p>
        </p:txBody>
      </p:sp>
      <p:sp>
        <p:nvSpPr>
          <p:cNvPr id="15" name="Text 13"/>
          <p:cNvSpPr txBox="1"/>
          <p:nvPr/>
        </p:nvSpPr>
        <p:spPr>
          <a:xfrm>
            <a:off x="475488" y="2871216"/>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6" name="Text 14"/>
          <p:cNvSpPr txBox="1"/>
          <p:nvPr/>
        </p:nvSpPr>
        <p:spPr>
          <a:xfrm>
            <a:off x="804672" y="28895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Facebook groups - no filter</a:t>
            </a:r>
            <a:endParaRPr lang="en-US" sz="1250" dirty="0"/>
          </a:p>
        </p:txBody>
      </p:sp>
      <p:sp>
        <p:nvSpPr>
          <p:cNvPr id="17" name="Shape 15"/>
          <p:cNvSpPr/>
          <p:nvPr/>
        </p:nvSpPr>
        <p:spPr>
          <a:xfrm>
            <a:off x="475488" y="3328416"/>
            <a:ext cx="237744" cy="237744"/>
          </a:xfrm>
          <a:prstGeom prst="rect">
            <a:avLst/>
          </a:prstGeom>
          <a:solidFill>
            <a:srgbClr val="B91C1C"/>
          </a:solidFill>
        </p:spPr>
        <p:txBody>
          <a:bodyPr/>
          <a:lstStyle/>
          <a:p>
            <a:endParaRPr/>
          </a:p>
        </p:txBody>
      </p:sp>
      <p:sp>
        <p:nvSpPr>
          <p:cNvPr id="18" name="Text 16"/>
          <p:cNvSpPr txBox="1"/>
          <p:nvPr/>
        </p:nvSpPr>
        <p:spPr>
          <a:xfrm>
            <a:off x="475488" y="3328416"/>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9" name="Text 17"/>
          <p:cNvSpPr txBox="1"/>
          <p:nvPr/>
        </p:nvSpPr>
        <p:spPr>
          <a:xfrm>
            <a:off x="804672" y="33467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Cannot compare multiple options</a:t>
            </a:r>
            <a:endParaRPr lang="en-US" sz="1250" dirty="0"/>
          </a:p>
        </p:txBody>
      </p:sp>
      <p:sp>
        <p:nvSpPr>
          <p:cNvPr id="20" name="Shape 18"/>
          <p:cNvSpPr/>
          <p:nvPr/>
        </p:nvSpPr>
        <p:spPr>
          <a:xfrm>
            <a:off x="475488" y="3785616"/>
            <a:ext cx="237744" cy="237744"/>
          </a:xfrm>
          <a:prstGeom prst="rect">
            <a:avLst/>
          </a:prstGeom>
          <a:solidFill>
            <a:srgbClr val="B91C1C"/>
          </a:solidFill>
        </p:spPr>
        <p:txBody>
          <a:bodyPr/>
          <a:lstStyle/>
          <a:p>
            <a:endParaRPr/>
          </a:p>
        </p:txBody>
      </p:sp>
      <p:sp>
        <p:nvSpPr>
          <p:cNvPr id="21" name="Text 19"/>
          <p:cNvSpPr txBox="1"/>
          <p:nvPr/>
        </p:nvSpPr>
        <p:spPr>
          <a:xfrm>
            <a:off x="475488" y="3785616"/>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22" name="Text 20"/>
          <p:cNvSpPr txBox="1"/>
          <p:nvPr/>
        </p:nvSpPr>
        <p:spPr>
          <a:xfrm>
            <a:off x="804672" y="38039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Owners lack a proper ad platform</a:t>
            </a:r>
            <a:endParaRPr lang="en-US" sz="1250" dirty="0"/>
          </a:p>
        </p:txBody>
      </p:sp>
      <p:sp>
        <p:nvSpPr>
          <p:cNvPr id="23" name="Shape 21"/>
          <p:cNvSpPr/>
          <p:nvPr/>
        </p:nvSpPr>
        <p:spPr>
          <a:xfrm>
            <a:off x="475488" y="4242816"/>
            <a:ext cx="237744" cy="237744"/>
          </a:xfrm>
          <a:prstGeom prst="rect">
            <a:avLst/>
          </a:prstGeom>
          <a:solidFill>
            <a:srgbClr val="B91C1C"/>
          </a:solidFill>
        </p:spPr>
        <p:txBody>
          <a:bodyPr/>
          <a:lstStyle/>
          <a:p>
            <a:endParaRPr/>
          </a:p>
        </p:txBody>
      </p:sp>
      <p:sp>
        <p:nvSpPr>
          <p:cNvPr id="24" name="Text 22"/>
          <p:cNvSpPr txBox="1"/>
          <p:nvPr/>
        </p:nvSpPr>
        <p:spPr>
          <a:xfrm>
            <a:off x="475488" y="4242816"/>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25" name="Text 23"/>
          <p:cNvSpPr txBox="1"/>
          <p:nvPr/>
        </p:nvSpPr>
        <p:spPr>
          <a:xfrm>
            <a:off x="804672" y="42611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No verified contact system</a:t>
            </a:r>
            <a:endParaRPr lang="en-US" sz="1250" dirty="0"/>
          </a:p>
        </p:txBody>
      </p:sp>
      <p:sp>
        <p:nvSpPr>
          <p:cNvPr id="26" name="Shape 24"/>
          <p:cNvSpPr/>
          <p:nvPr/>
        </p:nvSpPr>
        <p:spPr>
          <a:xfrm>
            <a:off x="4754880" y="1371600"/>
            <a:ext cx="4114800" cy="3520440"/>
          </a:xfrm>
          <a:prstGeom prst="rect">
            <a:avLst/>
          </a:prstGeom>
          <a:solidFill>
            <a:srgbClr val="DCFCE7"/>
          </a:solidFill>
        </p:spPr>
        <p:txBody>
          <a:bodyPr/>
          <a:lstStyle/>
          <a:p>
            <a:endParaRPr/>
          </a:p>
        </p:txBody>
      </p:sp>
      <p:sp>
        <p:nvSpPr>
          <p:cNvPr id="27" name="Text 25"/>
          <p:cNvSpPr txBox="1"/>
          <p:nvPr/>
        </p:nvSpPr>
        <p:spPr>
          <a:xfrm>
            <a:off x="4937760" y="1508760"/>
            <a:ext cx="3749040" cy="365760"/>
          </a:xfrm>
          <a:prstGeom prst="rect">
            <a:avLst/>
          </a:prstGeom>
          <a:noFill/>
        </p:spPr>
        <p:txBody>
          <a:bodyPr wrap="square" lIns="0" tIns="0" rIns="0" bIns="0" rtlCol="0" anchor="ctr"/>
          <a:lstStyle/>
          <a:p>
            <a:pPr marL="0" indent="0">
              <a:buNone/>
            </a:pPr>
            <a:r>
              <a:rPr lang="en-US" sz="1400" b="1" dirty="0">
                <a:solidFill>
                  <a:srgbClr val="15803D"/>
                </a:solidFill>
                <a:latin typeface="Calibri" pitchFamily="34" charset="0"/>
                <a:ea typeface="Calibri" pitchFamily="34" charset="-122"/>
                <a:cs typeface="Calibri" pitchFamily="34" charset="-120"/>
              </a:rPr>
              <a:t>HouseHub Solution</a:t>
            </a:r>
            <a:endParaRPr lang="en-US" sz="1400" dirty="0"/>
          </a:p>
        </p:txBody>
      </p:sp>
      <p:sp>
        <p:nvSpPr>
          <p:cNvPr id="28" name="Shape 26"/>
          <p:cNvSpPr/>
          <p:nvPr/>
        </p:nvSpPr>
        <p:spPr>
          <a:xfrm>
            <a:off x="4956048" y="1956816"/>
            <a:ext cx="237744" cy="237744"/>
          </a:xfrm>
          <a:prstGeom prst="rect">
            <a:avLst/>
          </a:prstGeom>
          <a:solidFill>
            <a:srgbClr val="15803D"/>
          </a:solidFill>
        </p:spPr>
        <p:txBody>
          <a:bodyPr/>
          <a:lstStyle/>
          <a:p>
            <a:endParaRPr/>
          </a:p>
        </p:txBody>
      </p:sp>
      <p:sp>
        <p:nvSpPr>
          <p:cNvPr id="29" name="Text 27"/>
          <p:cNvSpPr txBox="1"/>
          <p:nvPr/>
        </p:nvSpPr>
        <p:spPr>
          <a:xfrm>
            <a:off x="4956048" y="1956816"/>
            <a:ext cx="237744" cy="237744"/>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t>
            </a:r>
            <a:endParaRPr lang="en-US" sz="1000" dirty="0"/>
          </a:p>
        </p:txBody>
      </p:sp>
      <p:sp>
        <p:nvSpPr>
          <p:cNvPr id="30" name="Text 28"/>
          <p:cNvSpPr txBox="1"/>
          <p:nvPr/>
        </p:nvSpPr>
        <p:spPr>
          <a:xfrm>
            <a:off x="5285232" y="19751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One platform for owners &amp; tenants</a:t>
            </a:r>
            <a:endParaRPr lang="en-US" sz="1250" dirty="0"/>
          </a:p>
        </p:txBody>
      </p:sp>
      <p:sp>
        <p:nvSpPr>
          <p:cNvPr id="31" name="Shape 29"/>
          <p:cNvSpPr/>
          <p:nvPr/>
        </p:nvSpPr>
        <p:spPr>
          <a:xfrm>
            <a:off x="4956048" y="2414016"/>
            <a:ext cx="237744" cy="237744"/>
          </a:xfrm>
          <a:prstGeom prst="rect">
            <a:avLst/>
          </a:prstGeom>
          <a:solidFill>
            <a:srgbClr val="15803D"/>
          </a:solidFill>
        </p:spPr>
        <p:txBody>
          <a:bodyPr/>
          <a:lstStyle/>
          <a:p>
            <a:endParaRPr/>
          </a:p>
        </p:txBody>
      </p:sp>
      <p:sp>
        <p:nvSpPr>
          <p:cNvPr id="32" name="Text 30"/>
          <p:cNvSpPr txBox="1"/>
          <p:nvPr/>
        </p:nvSpPr>
        <p:spPr>
          <a:xfrm>
            <a:off x="4956048" y="2414016"/>
            <a:ext cx="237744" cy="237744"/>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t>
            </a:r>
            <a:endParaRPr lang="en-US" sz="1000" dirty="0"/>
          </a:p>
        </p:txBody>
      </p:sp>
      <p:sp>
        <p:nvSpPr>
          <p:cNvPr id="33" name="Text 31"/>
          <p:cNvSpPr txBox="1"/>
          <p:nvPr/>
        </p:nvSpPr>
        <p:spPr>
          <a:xfrm>
            <a:off x="5285232" y="24323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Post listings with photos &amp; details</a:t>
            </a:r>
            <a:endParaRPr lang="en-US" sz="1250" dirty="0"/>
          </a:p>
        </p:txBody>
      </p:sp>
      <p:sp>
        <p:nvSpPr>
          <p:cNvPr id="34" name="Shape 32"/>
          <p:cNvSpPr/>
          <p:nvPr/>
        </p:nvSpPr>
        <p:spPr>
          <a:xfrm>
            <a:off x="4956048" y="2871216"/>
            <a:ext cx="237744" cy="237744"/>
          </a:xfrm>
          <a:prstGeom prst="rect">
            <a:avLst/>
          </a:prstGeom>
          <a:solidFill>
            <a:srgbClr val="15803D"/>
          </a:solidFill>
        </p:spPr>
        <p:txBody>
          <a:bodyPr/>
          <a:lstStyle/>
          <a:p>
            <a:endParaRPr/>
          </a:p>
        </p:txBody>
      </p:sp>
      <p:sp>
        <p:nvSpPr>
          <p:cNvPr id="35" name="Text 33"/>
          <p:cNvSpPr txBox="1"/>
          <p:nvPr/>
        </p:nvSpPr>
        <p:spPr>
          <a:xfrm>
            <a:off x="4956048" y="2871216"/>
            <a:ext cx="237744" cy="237744"/>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t>
            </a:r>
            <a:endParaRPr lang="en-US" sz="1000" dirty="0"/>
          </a:p>
        </p:txBody>
      </p:sp>
      <p:sp>
        <p:nvSpPr>
          <p:cNvPr id="36" name="Text 34"/>
          <p:cNvSpPr txBox="1"/>
          <p:nvPr/>
        </p:nvSpPr>
        <p:spPr>
          <a:xfrm>
            <a:off x="5285232" y="28895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Filter by area, price, room type</a:t>
            </a:r>
            <a:endParaRPr lang="en-US" sz="1250" dirty="0"/>
          </a:p>
        </p:txBody>
      </p:sp>
      <p:sp>
        <p:nvSpPr>
          <p:cNvPr id="37" name="Shape 35"/>
          <p:cNvSpPr/>
          <p:nvPr/>
        </p:nvSpPr>
        <p:spPr>
          <a:xfrm>
            <a:off x="4956048" y="3328416"/>
            <a:ext cx="237744" cy="237744"/>
          </a:xfrm>
          <a:prstGeom prst="rect">
            <a:avLst/>
          </a:prstGeom>
          <a:solidFill>
            <a:srgbClr val="15803D"/>
          </a:solidFill>
        </p:spPr>
        <p:txBody>
          <a:bodyPr/>
          <a:lstStyle/>
          <a:p>
            <a:endParaRPr/>
          </a:p>
        </p:txBody>
      </p:sp>
      <p:sp>
        <p:nvSpPr>
          <p:cNvPr id="38" name="Text 36"/>
          <p:cNvSpPr txBox="1"/>
          <p:nvPr/>
        </p:nvSpPr>
        <p:spPr>
          <a:xfrm>
            <a:off x="4956048" y="3328416"/>
            <a:ext cx="237744" cy="237744"/>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t>
            </a:r>
            <a:endParaRPr lang="en-US" sz="1000" dirty="0"/>
          </a:p>
        </p:txBody>
      </p:sp>
      <p:sp>
        <p:nvSpPr>
          <p:cNvPr id="39" name="Text 37"/>
          <p:cNvSpPr txBox="1"/>
          <p:nvPr/>
        </p:nvSpPr>
        <p:spPr>
          <a:xfrm>
            <a:off x="5285232" y="33467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Interest request - no broker needed</a:t>
            </a:r>
            <a:endParaRPr lang="en-US" sz="1250" dirty="0"/>
          </a:p>
        </p:txBody>
      </p:sp>
      <p:sp>
        <p:nvSpPr>
          <p:cNvPr id="40" name="Shape 38"/>
          <p:cNvSpPr/>
          <p:nvPr/>
        </p:nvSpPr>
        <p:spPr>
          <a:xfrm>
            <a:off x="4956048" y="3785616"/>
            <a:ext cx="237744" cy="237744"/>
          </a:xfrm>
          <a:prstGeom prst="rect">
            <a:avLst/>
          </a:prstGeom>
          <a:solidFill>
            <a:srgbClr val="15803D"/>
          </a:solidFill>
        </p:spPr>
        <p:txBody>
          <a:bodyPr/>
          <a:lstStyle/>
          <a:p>
            <a:endParaRPr/>
          </a:p>
        </p:txBody>
      </p:sp>
      <p:sp>
        <p:nvSpPr>
          <p:cNvPr id="41" name="Text 39"/>
          <p:cNvSpPr txBox="1"/>
          <p:nvPr/>
        </p:nvSpPr>
        <p:spPr>
          <a:xfrm>
            <a:off x="4956048" y="3785616"/>
            <a:ext cx="237744" cy="237744"/>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t>
            </a:r>
            <a:endParaRPr lang="en-US" sz="1000" dirty="0"/>
          </a:p>
        </p:txBody>
      </p:sp>
      <p:sp>
        <p:nvSpPr>
          <p:cNvPr id="42" name="Text 40"/>
          <p:cNvSpPr txBox="1"/>
          <p:nvPr/>
        </p:nvSpPr>
        <p:spPr>
          <a:xfrm>
            <a:off x="5285232" y="38039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Wishlist to compare &amp; revisit</a:t>
            </a:r>
            <a:endParaRPr lang="en-US" sz="1250" dirty="0"/>
          </a:p>
        </p:txBody>
      </p:sp>
      <p:sp>
        <p:nvSpPr>
          <p:cNvPr id="43" name="Shape 41"/>
          <p:cNvSpPr/>
          <p:nvPr/>
        </p:nvSpPr>
        <p:spPr>
          <a:xfrm>
            <a:off x="4956048" y="4242816"/>
            <a:ext cx="237744" cy="237744"/>
          </a:xfrm>
          <a:prstGeom prst="rect">
            <a:avLst/>
          </a:prstGeom>
          <a:solidFill>
            <a:srgbClr val="15803D"/>
          </a:solidFill>
        </p:spPr>
        <p:txBody>
          <a:bodyPr/>
          <a:lstStyle/>
          <a:p>
            <a:endParaRPr/>
          </a:p>
        </p:txBody>
      </p:sp>
      <p:sp>
        <p:nvSpPr>
          <p:cNvPr id="44" name="Text 42"/>
          <p:cNvSpPr txBox="1"/>
          <p:nvPr/>
        </p:nvSpPr>
        <p:spPr>
          <a:xfrm>
            <a:off x="4956048" y="4242816"/>
            <a:ext cx="237744" cy="237744"/>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t>
            </a:r>
            <a:endParaRPr lang="en-US" sz="1000" dirty="0"/>
          </a:p>
        </p:txBody>
      </p:sp>
      <p:sp>
        <p:nvSpPr>
          <p:cNvPr id="45" name="Text 43"/>
          <p:cNvSpPr txBox="1"/>
          <p:nvPr/>
        </p:nvSpPr>
        <p:spPr>
          <a:xfrm>
            <a:off x="5285232" y="4261104"/>
            <a:ext cx="3429000" cy="310896"/>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Contact shown only after approval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a:solidFill>
                  <a:srgbClr val="2F5C97"/>
                </a:solidFill>
                <a:latin typeface="Aptos"/>
              </a:rPr>
              <a:t>SLIDE 04  |  OVERVIEW</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What is HouseHub?</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71600"/>
            <a:ext cx="8595360" cy="658368"/>
          </a:xfrm>
          <a:prstGeom prst="rect">
            <a:avLst/>
          </a:prstGeom>
          <a:solidFill>
            <a:srgbClr val="DBEAFE"/>
          </a:solidFill>
        </p:spPr>
        <p:txBody>
          <a:bodyPr/>
          <a:lstStyle/>
          <a:p>
            <a:endParaRPr/>
          </a:p>
        </p:txBody>
      </p:sp>
      <p:sp>
        <p:nvSpPr>
          <p:cNvPr id="7" name="Text 5"/>
          <p:cNvSpPr txBox="1"/>
          <p:nvPr/>
        </p:nvSpPr>
        <p:spPr>
          <a:xfrm>
            <a:off x="457200" y="1426464"/>
            <a:ext cx="8229600" cy="548640"/>
          </a:xfrm>
          <a:prstGeom prst="rect">
            <a:avLst/>
          </a:prstGeom>
          <a:noFill/>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HouseHub is a full-stack web application that connects house/room owners with tenants on a single platform — offering listing management, smart search, interest requests, and a wishlist system with role-based access for Owner, Tenant and Admin.</a:t>
            </a:r>
            <a:endParaRPr lang="en-US" sz="1300" dirty="0"/>
          </a:p>
        </p:txBody>
      </p:sp>
      <p:sp>
        <p:nvSpPr>
          <p:cNvPr id="8" name="Shape 6"/>
          <p:cNvSpPr/>
          <p:nvPr/>
        </p:nvSpPr>
        <p:spPr>
          <a:xfrm>
            <a:off x="274320" y="2176272"/>
            <a:ext cx="2788920" cy="2743200"/>
          </a:xfrm>
          <a:prstGeom prst="rect">
            <a:avLst/>
          </a:prstGeom>
          <a:solidFill>
            <a:srgbClr val="DBEAFE"/>
          </a:solidFill>
        </p:spPr>
        <p:txBody>
          <a:bodyPr/>
          <a:lstStyle/>
          <a:p>
            <a:endParaRPr/>
          </a:p>
        </p:txBody>
      </p:sp>
      <p:sp>
        <p:nvSpPr>
          <p:cNvPr id="9" name="Shape 7"/>
          <p:cNvSpPr/>
          <p:nvPr/>
        </p:nvSpPr>
        <p:spPr>
          <a:xfrm>
            <a:off x="1097280" y="2304288"/>
            <a:ext cx="1143000" cy="384048"/>
          </a:xfrm>
          <a:prstGeom prst="rect">
            <a:avLst/>
          </a:prstGeom>
          <a:solidFill>
            <a:srgbClr val="2563EB"/>
          </a:solidFill>
        </p:spPr>
        <p:txBody>
          <a:bodyPr/>
          <a:lstStyle/>
          <a:p>
            <a:endParaRPr/>
          </a:p>
        </p:txBody>
      </p:sp>
      <p:sp>
        <p:nvSpPr>
          <p:cNvPr id="10" name="Text 8"/>
          <p:cNvSpPr txBox="1"/>
          <p:nvPr/>
        </p:nvSpPr>
        <p:spPr>
          <a:xfrm>
            <a:off x="1097280" y="2304288"/>
            <a:ext cx="1143000" cy="384048"/>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OWNER</a:t>
            </a:r>
            <a:endParaRPr lang="en-US" sz="1100" dirty="0"/>
          </a:p>
        </p:txBody>
      </p:sp>
      <p:sp>
        <p:nvSpPr>
          <p:cNvPr id="11" name="Text 9"/>
          <p:cNvSpPr txBox="1"/>
          <p:nvPr/>
        </p:nvSpPr>
        <p:spPr>
          <a:xfrm>
            <a:off x="438912" y="2798064"/>
            <a:ext cx="2468880" cy="365760"/>
          </a:xfrm>
          <a:prstGeom prst="rect">
            <a:avLst/>
          </a:prstGeom>
          <a:noFill/>
        </p:spPr>
        <p:txBody>
          <a:bodyPr wrap="square" lIns="0" tIns="0" rIns="0" bIns="0" rtlCol="0" anchor="ctr"/>
          <a:lstStyle/>
          <a:p>
            <a:pPr marL="0" indent="0" algn="ctr">
              <a:buNone/>
            </a:pPr>
            <a:r>
              <a:rPr lang="en-US" sz="1500" b="1" dirty="0">
                <a:solidFill>
                  <a:srgbClr val="2563EB"/>
                </a:solidFill>
                <a:latin typeface="Calibri" pitchFamily="34" charset="0"/>
                <a:ea typeface="Calibri" pitchFamily="34" charset="-122"/>
                <a:cs typeface="Calibri" pitchFamily="34" charset="-120"/>
              </a:rPr>
              <a:t>Owner</a:t>
            </a:r>
            <a:endParaRPr lang="en-US" sz="1500" dirty="0"/>
          </a:p>
        </p:txBody>
      </p:sp>
      <p:sp>
        <p:nvSpPr>
          <p:cNvPr id="12" name="Shape 10"/>
          <p:cNvSpPr/>
          <p:nvPr/>
        </p:nvSpPr>
        <p:spPr>
          <a:xfrm>
            <a:off x="548640" y="3163824"/>
            <a:ext cx="2240280" cy="0"/>
          </a:xfrm>
          <a:prstGeom prst="rect">
            <a:avLst/>
          </a:prstGeom>
          <a:noFill/>
          <a:ln w="10160">
            <a:solidFill>
              <a:srgbClr val="2563EB"/>
            </a:solidFill>
            <a:prstDash val="solid"/>
          </a:ln>
        </p:spPr>
        <p:txBody>
          <a:bodyPr/>
          <a:lstStyle/>
          <a:p>
            <a:endParaRPr/>
          </a:p>
        </p:txBody>
      </p:sp>
      <p:sp>
        <p:nvSpPr>
          <p:cNvPr id="13" name="Shape 11"/>
          <p:cNvSpPr/>
          <p:nvPr/>
        </p:nvSpPr>
        <p:spPr>
          <a:xfrm>
            <a:off x="548640" y="3273552"/>
            <a:ext cx="118872" cy="118872"/>
          </a:xfrm>
          <a:prstGeom prst="rect">
            <a:avLst/>
          </a:prstGeom>
          <a:solidFill>
            <a:srgbClr val="2563EB"/>
          </a:solidFill>
        </p:spPr>
        <p:txBody>
          <a:bodyPr/>
          <a:lstStyle/>
          <a:p>
            <a:endParaRPr/>
          </a:p>
        </p:txBody>
      </p:sp>
      <p:sp>
        <p:nvSpPr>
          <p:cNvPr id="14" name="Text 12"/>
          <p:cNvSpPr txBox="1"/>
          <p:nvPr/>
        </p:nvSpPr>
        <p:spPr>
          <a:xfrm>
            <a:off x="749808" y="3264408"/>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Post, edit &amp; delete listings</a:t>
            </a:r>
            <a:endParaRPr lang="en-US" sz="1100" dirty="0"/>
          </a:p>
        </p:txBody>
      </p:sp>
      <p:sp>
        <p:nvSpPr>
          <p:cNvPr id="15" name="Shape 13"/>
          <p:cNvSpPr/>
          <p:nvPr/>
        </p:nvSpPr>
        <p:spPr>
          <a:xfrm>
            <a:off x="548640" y="3657600"/>
            <a:ext cx="118872" cy="118872"/>
          </a:xfrm>
          <a:prstGeom prst="rect">
            <a:avLst/>
          </a:prstGeom>
          <a:solidFill>
            <a:srgbClr val="2563EB"/>
          </a:solidFill>
        </p:spPr>
        <p:txBody>
          <a:bodyPr/>
          <a:lstStyle/>
          <a:p>
            <a:endParaRPr/>
          </a:p>
        </p:txBody>
      </p:sp>
      <p:sp>
        <p:nvSpPr>
          <p:cNvPr id="16" name="Text 14"/>
          <p:cNvSpPr txBox="1"/>
          <p:nvPr/>
        </p:nvSpPr>
        <p:spPr>
          <a:xfrm>
            <a:off x="749808" y="3648456"/>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Upload property photos</a:t>
            </a:r>
            <a:endParaRPr lang="en-US" sz="1100" dirty="0"/>
          </a:p>
        </p:txBody>
      </p:sp>
      <p:sp>
        <p:nvSpPr>
          <p:cNvPr id="17" name="Shape 15"/>
          <p:cNvSpPr/>
          <p:nvPr/>
        </p:nvSpPr>
        <p:spPr>
          <a:xfrm>
            <a:off x="548640" y="4041648"/>
            <a:ext cx="118872" cy="118872"/>
          </a:xfrm>
          <a:prstGeom prst="rect">
            <a:avLst/>
          </a:prstGeom>
          <a:solidFill>
            <a:srgbClr val="2563EB"/>
          </a:solidFill>
        </p:spPr>
        <p:txBody>
          <a:bodyPr/>
          <a:lstStyle/>
          <a:p>
            <a:endParaRPr/>
          </a:p>
        </p:txBody>
      </p:sp>
      <p:sp>
        <p:nvSpPr>
          <p:cNvPr id="18" name="Text 16"/>
          <p:cNvSpPr txBox="1"/>
          <p:nvPr/>
        </p:nvSpPr>
        <p:spPr>
          <a:xfrm>
            <a:off x="749808" y="4032504"/>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Accept or reject tenant requests</a:t>
            </a:r>
            <a:endParaRPr lang="en-US" sz="1100" dirty="0"/>
          </a:p>
        </p:txBody>
      </p:sp>
      <p:sp>
        <p:nvSpPr>
          <p:cNvPr id="19" name="Shape 17"/>
          <p:cNvSpPr/>
          <p:nvPr/>
        </p:nvSpPr>
        <p:spPr>
          <a:xfrm>
            <a:off x="548640" y="4425696"/>
            <a:ext cx="118872" cy="118872"/>
          </a:xfrm>
          <a:prstGeom prst="rect">
            <a:avLst/>
          </a:prstGeom>
          <a:solidFill>
            <a:srgbClr val="2563EB"/>
          </a:solidFill>
        </p:spPr>
        <p:txBody>
          <a:bodyPr/>
          <a:lstStyle/>
          <a:p>
            <a:endParaRPr/>
          </a:p>
        </p:txBody>
      </p:sp>
      <p:sp>
        <p:nvSpPr>
          <p:cNvPr id="20" name="Text 18"/>
          <p:cNvSpPr txBox="1"/>
          <p:nvPr/>
        </p:nvSpPr>
        <p:spPr>
          <a:xfrm>
            <a:off x="749808" y="4416552"/>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Track all incoming interests</a:t>
            </a:r>
            <a:endParaRPr lang="en-US" sz="1100" dirty="0"/>
          </a:p>
        </p:txBody>
      </p:sp>
      <p:sp>
        <p:nvSpPr>
          <p:cNvPr id="21" name="Shape 19"/>
          <p:cNvSpPr/>
          <p:nvPr/>
        </p:nvSpPr>
        <p:spPr>
          <a:xfrm>
            <a:off x="3246120" y="2176272"/>
            <a:ext cx="2788920" cy="2743200"/>
          </a:xfrm>
          <a:prstGeom prst="rect">
            <a:avLst/>
          </a:prstGeom>
          <a:solidFill>
            <a:srgbClr val="DCFCE7"/>
          </a:solidFill>
        </p:spPr>
        <p:txBody>
          <a:bodyPr/>
          <a:lstStyle/>
          <a:p>
            <a:endParaRPr/>
          </a:p>
        </p:txBody>
      </p:sp>
      <p:sp>
        <p:nvSpPr>
          <p:cNvPr id="22" name="Shape 20"/>
          <p:cNvSpPr/>
          <p:nvPr/>
        </p:nvSpPr>
        <p:spPr>
          <a:xfrm>
            <a:off x="4069080" y="2304288"/>
            <a:ext cx="1143000" cy="384048"/>
          </a:xfrm>
          <a:prstGeom prst="rect">
            <a:avLst/>
          </a:prstGeom>
          <a:solidFill>
            <a:srgbClr val="15803D"/>
          </a:solidFill>
        </p:spPr>
        <p:txBody>
          <a:bodyPr/>
          <a:lstStyle/>
          <a:p>
            <a:endParaRPr/>
          </a:p>
        </p:txBody>
      </p:sp>
      <p:sp>
        <p:nvSpPr>
          <p:cNvPr id="23" name="Text 21"/>
          <p:cNvSpPr txBox="1"/>
          <p:nvPr/>
        </p:nvSpPr>
        <p:spPr>
          <a:xfrm>
            <a:off x="4069080" y="2304288"/>
            <a:ext cx="1143000" cy="384048"/>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TENANT</a:t>
            </a:r>
            <a:endParaRPr lang="en-US" sz="1100" dirty="0"/>
          </a:p>
        </p:txBody>
      </p:sp>
      <p:sp>
        <p:nvSpPr>
          <p:cNvPr id="24" name="Text 22"/>
          <p:cNvSpPr txBox="1"/>
          <p:nvPr/>
        </p:nvSpPr>
        <p:spPr>
          <a:xfrm>
            <a:off x="3410712" y="2798064"/>
            <a:ext cx="2468880" cy="365760"/>
          </a:xfrm>
          <a:prstGeom prst="rect">
            <a:avLst/>
          </a:prstGeom>
          <a:noFill/>
        </p:spPr>
        <p:txBody>
          <a:bodyPr wrap="square" lIns="0" tIns="0" rIns="0" bIns="0" rtlCol="0" anchor="ctr"/>
          <a:lstStyle/>
          <a:p>
            <a:pPr marL="0" indent="0" algn="ctr">
              <a:buNone/>
            </a:pPr>
            <a:r>
              <a:rPr lang="en-US" sz="1500" b="1" dirty="0">
                <a:solidFill>
                  <a:srgbClr val="15803D"/>
                </a:solidFill>
                <a:latin typeface="Calibri" pitchFamily="34" charset="0"/>
                <a:ea typeface="Calibri" pitchFamily="34" charset="-122"/>
                <a:cs typeface="Calibri" pitchFamily="34" charset="-120"/>
              </a:rPr>
              <a:t>Tenant</a:t>
            </a:r>
            <a:endParaRPr lang="en-US" sz="1500" dirty="0"/>
          </a:p>
        </p:txBody>
      </p:sp>
      <p:sp>
        <p:nvSpPr>
          <p:cNvPr id="25" name="Shape 23"/>
          <p:cNvSpPr/>
          <p:nvPr/>
        </p:nvSpPr>
        <p:spPr>
          <a:xfrm>
            <a:off x="3520440" y="3163824"/>
            <a:ext cx="2240280" cy="0"/>
          </a:xfrm>
          <a:prstGeom prst="rect">
            <a:avLst/>
          </a:prstGeom>
          <a:noFill/>
          <a:ln w="10160">
            <a:solidFill>
              <a:srgbClr val="15803D"/>
            </a:solidFill>
            <a:prstDash val="solid"/>
          </a:ln>
        </p:spPr>
        <p:txBody>
          <a:bodyPr/>
          <a:lstStyle/>
          <a:p>
            <a:endParaRPr/>
          </a:p>
        </p:txBody>
      </p:sp>
      <p:sp>
        <p:nvSpPr>
          <p:cNvPr id="26" name="Shape 24"/>
          <p:cNvSpPr/>
          <p:nvPr/>
        </p:nvSpPr>
        <p:spPr>
          <a:xfrm>
            <a:off x="3520440" y="3273552"/>
            <a:ext cx="118872" cy="118872"/>
          </a:xfrm>
          <a:prstGeom prst="rect">
            <a:avLst/>
          </a:prstGeom>
          <a:solidFill>
            <a:srgbClr val="15803D"/>
          </a:solidFill>
        </p:spPr>
        <p:txBody>
          <a:bodyPr/>
          <a:lstStyle/>
          <a:p>
            <a:endParaRPr/>
          </a:p>
        </p:txBody>
      </p:sp>
      <p:sp>
        <p:nvSpPr>
          <p:cNvPr id="27" name="Text 25"/>
          <p:cNvSpPr txBox="1"/>
          <p:nvPr/>
        </p:nvSpPr>
        <p:spPr>
          <a:xfrm>
            <a:off x="3721608" y="3264408"/>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Browse &amp; filter listings</a:t>
            </a:r>
            <a:endParaRPr lang="en-US" sz="1100" dirty="0"/>
          </a:p>
        </p:txBody>
      </p:sp>
      <p:sp>
        <p:nvSpPr>
          <p:cNvPr id="28" name="Shape 26"/>
          <p:cNvSpPr/>
          <p:nvPr/>
        </p:nvSpPr>
        <p:spPr>
          <a:xfrm>
            <a:off x="3520440" y="3657600"/>
            <a:ext cx="118872" cy="118872"/>
          </a:xfrm>
          <a:prstGeom prst="rect">
            <a:avLst/>
          </a:prstGeom>
          <a:solidFill>
            <a:srgbClr val="15803D"/>
          </a:solidFill>
        </p:spPr>
        <p:txBody>
          <a:bodyPr/>
          <a:lstStyle/>
          <a:p>
            <a:endParaRPr/>
          </a:p>
        </p:txBody>
      </p:sp>
      <p:sp>
        <p:nvSpPr>
          <p:cNvPr id="29" name="Text 27"/>
          <p:cNvSpPr txBox="1"/>
          <p:nvPr/>
        </p:nvSpPr>
        <p:spPr>
          <a:xfrm>
            <a:off x="3721608" y="3648456"/>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Save listings to Wishlist</a:t>
            </a:r>
            <a:endParaRPr lang="en-US" sz="1100" dirty="0"/>
          </a:p>
        </p:txBody>
      </p:sp>
      <p:sp>
        <p:nvSpPr>
          <p:cNvPr id="30" name="Shape 28"/>
          <p:cNvSpPr/>
          <p:nvPr/>
        </p:nvSpPr>
        <p:spPr>
          <a:xfrm>
            <a:off x="3520440" y="4041648"/>
            <a:ext cx="118872" cy="118872"/>
          </a:xfrm>
          <a:prstGeom prst="rect">
            <a:avLst/>
          </a:prstGeom>
          <a:solidFill>
            <a:srgbClr val="15803D"/>
          </a:solidFill>
        </p:spPr>
        <p:txBody>
          <a:bodyPr/>
          <a:lstStyle/>
          <a:p>
            <a:endParaRPr/>
          </a:p>
        </p:txBody>
      </p:sp>
      <p:sp>
        <p:nvSpPr>
          <p:cNvPr id="31" name="Text 29"/>
          <p:cNvSpPr txBox="1"/>
          <p:nvPr/>
        </p:nvSpPr>
        <p:spPr>
          <a:xfrm>
            <a:off x="3721608" y="4032504"/>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Send interest requests</a:t>
            </a:r>
            <a:endParaRPr lang="en-US" sz="1100" dirty="0"/>
          </a:p>
        </p:txBody>
      </p:sp>
      <p:sp>
        <p:nvSpPr>
          <p:cNvPr id="32" name="Shape 30"/>
          <p:cNvSpPr/>
          <p:nvPr/>
        </p:nvSpPr>
        <p:spPr>
          <a:xfrm>
            <a:off x="3520440" y="4425696"/>
            <a:ext cx="118872" cy="118872"/>
          </a:xfrm>
          <a:prstGeom prst="rect">
            <a:avLst/>
          </a:prstGeom>
          <a:solidFill>
            <a:srgbClr val="15803D"/>
          </a:solidFill>
        </p:spPr>
        <p:txBody>
          <a:bodyPr/>
          <a:lstStyle/>
          <a:p>
            <a:endParaRPr/>
          </a:p>
        </p:txBody>
      </p:sp>
      <p:sp>
        <p:nvSpPr>
          <p:cNvPr id="33" name="Text 31"/>
          <p:cNvSpPr txBox="1"/>
          <p:nvPr/>
        </p:nvSpPr>
        <p:spPr>
          <a:xfrm>
            <a:off x="3721608" y="4416552"/>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Track own request status</a:t>
            </a:r>
            <a:endParaRPr lang="en-US" sz="1100" dirty="0"/>
          </a:p>
        </p:txBody>
      </p:sp>
      <p:sp>
        <p:nvSpPr>
          <p:cNvPr id="34" name="Shape 32"/>
          <p:cNvSpPr/>
          <p:nvPr/>
        </p:nvSpPr>
        <p:spPr>
          <a:xfrm>
            <a:off x="6217920" y="2176272"/>
            <a:ext cx="2788920" cy="2743200"/>
          </a:xfrm>
          <a:prstGeom prst="rect">
            <a:avLst/>
          </a:prstGeom>
          <a:solidFill>
            <a:srgbClr val="EDE9FE"/>
          </a:solidFill>
        </p:spPr>
        <p:txBody>
          <a:bodyPr/>
          <a:lstStyle/>
          <a:p>
            <a:endParaRPr/>
          </a:p>
        </p:txBody>
      </p:sp>
      <p:sp>
        <p:nvSpPr>
          <p:cNvPr id="35" name="Shape 33"/>
          <p:cNvSpPr/>
          <p:nvPr/>
        </p:nvSpPr>
        <p:spPr>
          <a:xfrm>
            <a:off x="7040880" y="2304288"/>
            <a:ext cx="1143000" cy="384048"/>
          </a:xfrm>
          <a:prstGeom prst="rect">
            <a:avLst/>
          </a:prstGeom>
          <a:solidFill>
            <a:srgbClr val="6D28D9"/>
          </a:solidFill>
        </p:spPr>
        <p:txBody>
          <a:bodyPr/>
          <a:lstStyle/>
          <a:p>
            <a:endParaRPr/>
          </a:p>
        </p:txBody>
      </p:sp>
      <p:sp>
        <p:nvSpPr>
          <p:cNvPr id="36" name="Text 34"/>
          <p:cNvSpPr txBox="1"/>
          <p:nvPr/>
        </p:nvSpPr>
        <p:spPr>
          <a:xfrm>
            <a:off x="7040880" y="2304288"/>
            <a:ext cx="1143000" cy="384048"/>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ADMIN</a:t>
            </a:r>
            <a:endParaRPr lang="en-US" sz="1100" dirty="0"/>
          </a:p>
        </p:txBody>
      </p:sp>
      <p:sp>
        <p:nvSpPr>
          <p:cNvPr id="37" name="Text 35"/>
          <p:cNvSpPr txBox="1"/>
          <p:nvPr/>
        </p:nvSpPr>
        <p:spPr>
          <a:xfrm>
            <a:off x="6382512" y="2798064"/>
            <a:ext cx="2468880" cy="365760"/>
          </a:xfrm>
          <a:prstGeom prst="rect">
            <a:avLst/>
          </a:prstGeom>
          <a:noFill/>
        </p:spPr>
        <p:txBody>
          <a:bodyPr wrap="square" lIns="0" tIns="0" rIns="0" bIns="0" rtlCol="0" anchor="ctr"/>
          <a:lstStyle/>
          <a:p>
            <a:pPr marL="0" indent="0" algn="ctr">
              <a:buNone/>
            </a:pPr>
            <a:r>
              <a:rPr lang="en-US" sz="1500" b="1" dirty="0">
                <a:solidFill>
                  <a:srgbClr val="6D28D9"/>
                </a:solidFill>
                <a:latin typeface="Calibri" pitchFamily="34" charset="0"/>
                <a:ea typeface="Calibri" pitchFamily="34" charset="-122"/>
                <a:cs typeface="Calibri" pitchFamily="34" charset="-120"/>
              </a:rPr>
              <a:t>Admin</a:t>
            </a:r>
            <a:endParaRPr lang="en-US" sz="1500" dirty="0"/>
          </a:p>
        </p:txBody>
      </p:sp>
      <p:sp>
        <p:nvSpPr>
          <p:cNvPr id="38" name="Shape 36"/>
          <p:cNvSpPr/>
          <p:nvPr/>
        </p:nvSpPr>
        <p:spPr>
          <a:xfrm>
            <a:off x="6492240" y="3163824"/>
            <a:ext cx="2240280" cy="0"/>
          </a:xfrm>
          <a:prstGeom prst="rect">
            <a:avLst/>
          </a:prstGeom>
          <a:noFill/>
          <a:ln w="10160">
            <a:solidFill>
              <a:srgbClr val="6D28D9"/>
            </a:solidFill>
            <a:prstDash val="solid"/>
          </a:ln>
        </p:spPr>
        <p:txBody>
          <a:bodyPr/>
          <a:lstStyle/>
          <a:p>
            <a:endParaRPr/>
          </a:p>
        </p:txBody>
      </p:sp>
      <p:sp>
        <p:nvSpPr>
          <p:cNvPr id="39" name="Shape 37"/>
          <p:cNvSpPr/>
          <p:nvPr/>
        </p:nvSpPr>
        <p:spPr>
          <a:xfrm>
            <a:off x="6492240" y="3273552"/>
            <a:ext cx="118872" cy="118872"/>
          </a:xfrm>
          <a:prstGeom prst="rect">
            <a:avLst/>
          </a:prstGeom>
          <a:solidFill>
            <a:srgbClr val="6D28D9"/>
          </a:solidFill>
        </p:spPr>
        <p:txBody>
          <a:bodyPr/>
          <a:lstStyle/>
          <a:p>
            <a:endParaRPr/>
          </a:p>
        </p:txBody>
      </p:sp>
      <p:sp>
        <p:nvSpPr>
          <p:cNvPr id="40" name="Text 38"/>
          <p:cNvSpPr txBox="1"/>
          <p:nvPr/>
        </p:nvSpPr>
        <p:spPr>
          <a:xfrm>
            <a:off x="6693408" y="3264408"/>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View all users &amp; listings</a:t>
            </a:r>
            <a:endParaRPr lang="en-US" sz="1100" dirty="0"/>
          </a:p>
        </p:txBody>
      </p:sp>
      <p:sp>
        <p:nvSpPr>
          <p:cNvPr id="41" name="Shape 39"/>
          <p:cNvSpPr/>
          <p:nvPr/>
        </p:nvSpPr>
        <p:spPr>
          <a:xfrm>
            <a:off x="6492240" y="3657600"/>
            <a:ext cx="118872" cy="118872"/>
          </a:xfrm>
          <a:prstGeom prst="rect">
            <a:avLst/>
          </a:prstGeom>
          <a:solidFill>
            <a:srgbClr val="6D28D9"/>
          </a:solidFill>
        </p:spPr>
        <p:txBody>
          <a:bodyPr/>
          <a:lstStyle/>
          <a:p>
            <a:endParaRPr/>
          </a:p>
        </p:txBody>
      </p:sp>
      <p:sp>
        <p:nvSpPr>
          <p:cNvPr id="42" name="Text 40"/>
          <p:cNvSpPr txBox="1"/>
          <p:nvPr/>
        </p:nvSpPr>
        <p:spPr>
          <a:xfrm>
            <a:off x="6693408" y="3648456"/>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Block / unblock any user</a:t>
            </a:r>
            <a:endParaRPr lang="en-US" sz="1100" dirty="0"/>
          </a:p>
        </p:txBody>
      </p:sp>
      <p:sp>
        <p:nvSpPr>
          <p:cNvPr id="43" name="Shape 41"/>
          <p:cNvSpPr/>
          <p:nvPr/>
        </p:nvSpPr>
        <p:spPr>
          <a:xfrm>
            <a:off x="6492240" y="4041648"/>
            <a:ext cx="118872" cy="118872"/>
          </a:xfrm>
          <a:prstGeom prst="rect">
            <a:avLst/>
          </a:prstGeom>
          <a:solidFill>
            <a:srgbClr val="6D28D9"/>
          </a:solidFill>
        </p:spPr>
        <p:txBody>
          <a:bodyPr/>
          <a:lstStyle/>
          <a:p>
            <a:endParaRPr/>
          </a:p>
        </p:txBody>
      </p:sp>
      <p:sp>
        <p:nvSpPr>
          <p:cNvPr id="44" name="Text 42"/>
          <p:cNvSpPr txBox="1"/>
          <p:nvPr/>
        </p:nvSpPr>
        <p:spPr>
          <a:xfrm>
            <a:off x="6693408" y="4032504"/>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Remove inappropriate listings</a:t>
            </a:r>
            <a:endParaRPr lang="en-US" sz="1100" dirty="0"/>
          </a:p>
        </p:txBody>
      </p:sp>
      <p:sp>
        <p:nvSpPr>
          <p:cNvPr id="45" name="Shape 43"/>
          <p:cNvSpPr/>
          <p:nvPr/>
        </p:nvSpPr>
        <p:spPr>
          <a:xfrm>
            <a:off x="6492240" y="4425696"/>
            <a:ext cx="118872" cy="118872"/>
          </a:xfrm>
          <a:prstGeom prst="rect">
            <a:avLst/>
          </a:prstGeom>
          <a:solidFill>
            <a:srgbClr val="6D28D9"/>
          </a:solidFill>
        </p:spPr>
        <p:txBody>
          <a:bodyPr/>
          <a:lstStyle/>
          <a:p>
            <a:endParaRPr/>
          </a:p>
        </p:txBody>
      </p:sp>
      <p:sp>
        <p:nvSpPr>
          <p:cNvPr id="46" name="Text 44"/>
          <p:cNvSpPr txBox="1"/>
          <p:nvPr/>
        </p:nvSpPr>
        <p:spPr>
          <a:xfrm>
            <a:off x="6693408" y="4416552"/>
            <a:ext cx="219456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Monitor platform activity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a:solidFill>
                  <a:srgbClr val="2F5C97"/>
                </a:solidFill>
                <a:latin typeface="Aptos"/>
              </a:rPr>
              <a:t>SLIDE 05  |  TECHNOLOGY</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Technology Stack</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71600"/>
            <a:ext cx="2697480" cy="1783080"/>
          </a:xfrm>
          <a:prstGeom prst="rect">
            <a:avLst/>
          </a:prstGeom>
          <a:solidFill>
            <a:srgbClr val="DBEAFE"/>
          </a:solidFill>
        </p:spPr>
        <p:txBody>
          <a:bodyPr/>
          <a:lstStyle/>
          <a:p>
            <a:endParaRPr/>
          </a:p>
        </p:txBody>
      </p:sp>
      <p:sp>
        <p:nvSpPr>
          <p:cNvPr id="7" name="Shape 5"/>
          <p:cNvSpPr/>
          <p:nvPr/>
        </p:nvSpPr>
        <p:spPr>
          <a:xfrm>
            <a:off x="420624" y="1499616"/>
            <a:ext cx="1371600" cy="310896"/>
          </a:xfrm>
          <a:prstGeom prst="rect">
            <a:avLst/>
          </a:prstGeom>
          <a:solidFill>
            <a:srgbClr val="2563EB"/>
          </a:solidFill>
        </p:spPr>
        <p:txBody>
          <a:bodyPr/>
          <a:lstStyle/>
          <a:p>
            <a:endParaRPr/>
          </a:p>
        </p:txBody>
      </p:sp>
      <p:sp>
        <p:nvSpPr>
          <p:cNvPr id="8" name="Text 6"/>
          <p:cNvSpPr txBox="1"/>
          <p:nvPr/>
        </p:nvSpPr>
        <p:spPr>
          <a:xfrm>
            <a:off x="420624" y="1499616"/>
            <a:ext cx="1371600" cy="310896"/>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FRONTEND</a:t>
            </a:r>
            <a:endParaRPr lang="en-US" sz="1000" dirty="0"/>
          </a:p>
        </p:txBody>
      </p:sp>
      <p:sp>
        <p:nvSpPr>
          <p:cNvPr id="9" name="Text 7"/>
          <p:cNvSpPr txBox="1"/>
          <p:nvPr/>
        </p:nvSpPr>
        <p:spPr>
          <a:xfrm>
            <a:off x="457200" y="1901952"/>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HTML5  &amp;  CSS3</a:t>
            </a:r>
            <a:endParaRPr lang="en-US" sz="1100" dirty="0"/>
          </a:p>
        </p:txBody>
      </p:sp>
      <p:sp>
        <p:nvSpPr>
          <p:cNvPr id="10" name="Text 8"/>
          <p:cNvSpPr txBox="1"/>
          <p:nvPr/>
        </p:nvSpPr>
        <p:spPr>
          <a:xfrm>
            <a:off x="457200" y="2212848"/>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Bootstrap 5  (responsive UI)</a:t>
            </a:r>
            <a:endParaRPr lang="en-US" sz="1100" dirty="0"/>
          </a:p>
        </p:txBody>
      </p:sp>
      <p:sp>
        <p:nvSpPr>
          <p:cNvPr id="11" name="Text 9"/>
          <p:cNvSpPr txBox="1"/>
          <p:nvPr/>
        </p:nvSpPr>
        <p:spPr>
          <a:xfrm>
            <a:off x="457200" y="2523744"/>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JavaScript  (Fetch API)</a:t>
            </a:r>
            <a:endParaRPr lang="en-US" sz="1100" dirty="0"/>
          </a:p>
        </p:txBody>
      </p:sp>
      <p:sp>
        <p:nvSpPr>
          <p:cNvPr id="12" name="Text 10"/>
          <p:cNvSpPr txBox="1"/>
          <p:nvPr/>
        </p:nvSpPr>
        <p:spPr>
          <a:xfrm>
            <a:off x="457200" y="2834640"/>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Card-based listing layout</a:t>
            </a:r>
            <a:endParaRPr lang="en-US" sz="1100" dirty="0"/>
          </a:p>
        </p:txBody>
      </p:sp>
      <p:sp>
        <p:nvSpPr>
          <p:cNvPr id="13" name="Shape 11"/>
          <p:cNvSpPr/>
          <p:nvPr/>
        </p:nvSpPr>
        <p:spPr>
          <a:xfrm>
            <a:off x="3246120" y="1371600"/>
            <a:ext cx="2697480" cy="1783080"/>
          </a:xfrm>
          <a:prstGeom prst="rect">
            <a:avLst/>
          </a:prstGeom>
          <a:solidFill>
            <a:srgbClr val="DCFCE7"/>
          </a:solidFill>
        </p:spPr>
        <p:txBody>
          <a:bodyPr/>
          <a:lstStyle/>
          <a:p>
            <a:endParaRPr/>
          </a:p>
        </p:txBody>
      </p:sp>
      <p:sp>
        <p:nvSpPr>
          <p:cNvPr id="14" name="Shape 12"/>
          <p:cNvSpPr/>
          <p:nvPr/>
        </p:nvSpPr>
        <p:spPr>
          <a:xfrm>
            <a:off x="3392424" y="1499616"/>
            <a:ext cx="1371600" cy="310896"/>
          </a:xfrm>
          <a:prstGeom prst="rect">
            <a:avLst/>
          </a:prstGeom>
          <a:solidFill>
            <a:srgbClr val="15803D"/>
          </a:solidFill>
        </p:spPr>
        <p:txBody>
          <a:bodyPr/>
          <a:lstStyle/>
          <a:p>
            <a:endParaRPr/>
          </a:p>
        </p:txBody>
      </p:sp>
      <p:sp>
        <p:nvSpPr>
          <p:cNvPr id="15" name="Text 13"/>
          <p:cNvSpPr txBox="1"/>
          <p:nvPr/>
        </p:nvSpPr>
        <p:spPr>
          <a:xfrm>
            <a:off x="3392424" y="1499616"/>
            <a:ext cx="1371600" cy="310896"/>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BACKEND</a:t>
            </a:r>
            <a:endParaRPr lang="en-US" sz="1000" dirty="0"/>
          </a:p>
        </p:txBody>
      </p:sp>
      <p:sp>
        <p:nvSpPr>
          <p:cNvPr id="16" name="Text 14"/>
          <p:cNvSpPr txBox="1"/>
          <p:nvPr/>
        </p:nvSpPr>
        <p:spPr>
          <a:xfrm>
            <a:off x="3429000" y="1901952"/>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Node.js  (runtime)</a:t>
            </a:r>
            <a:endParaRPr lang="en-US" sz="1100" dirty="0"/>
          </a:p>
        </p:txBody>
      </p:sp>
      <p:sp>
        <p:nvSpPr>
          <p:cNvPr id="17" name="Text 15"/>
          <p:cNvSpPr txBox="1"/>
          <p:nvPr/>
        </p:nvSpPr>
        <p:spPr>
          <a:xfrm>
            <a:off x="3429000" y="2212848"/>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Express.js  (web framework)</a:t>
            </a:r>
            <a:endParaRPr lang="en-US" sz="1100" dirty="0"/>
          </a:p>
        </p:txBody>
      </p:sp>
      <p:sp>
        <p:nvSpPr>
          <p:cNvPr id="18" name="Text 16"/>
          <p:cNvSpPr txBox="1"/>
          <p:nvPr/>
        </p:nvSpPr>
        <p:spPr>
          <a:xfrm>
            <a:off x="3429000" y="2523744"/>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MVC architecture pattern</a:t>
            </a:r>
            <a:endParaRPr lang="en-US" sz="1100" dirty="0"/>
          </a:p>
        </p:txBody>
      </p:sp>
      <p:sp>
        <p:nvSpPr>
          <p:cNvPr id="19" name="Text 17"/>
          <p:cNvSpPr txBox="1"/>
          <p:nvPr/>
        </p:nvSpPr>
        <p:spPr>
          <a:xfrm>
            <a:off x="3429000" y="2834640"/>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RESTful API design</a:t>
            </a:r>
            <a:endParaRPr lang="en-US" sz="1100" dirty="0"/>
          </a:p>
        </p:txBody>
      </p:sp>
      <p:sp>
        <p:nvSpPr>
          <p:cNvPr id="20" name="Shape 18"/>
          <p:cNvSpPr/>
          <p:nvPr/>
        </p:nvSpPr>
        <p:spPr>
          <a:xfrm>
            <a:off x="6217920" y="1371600"/>
            <a:ext cx="2697480" cy="1783080"/>
          </a:xfrm>
          <a:prstGeom prst="rect">
            <a:avLst/>
          </a:prstGeom>
          <a:solidFill>
            <a:srgbClr val="FFEDD5"/>
          </a:solidFill>
        </p:spPr>
        <p:txBody>
          <a:bodyPr/>
          <a:lstStyle/>
          <a:p>
            <a:endParaRPr/>
          </a:p>
        </p:txBody>
      </p:sp>
      <p:sp>
        <p:nvSpPr>
          <p:cNvPr id="21" name="Shape 19"/>
          <p:cNvSpPr/>
          <p:nvPr/>
        </p:nvSpPr>
        <p:spPr>
          <a:xfrm>
            <a:off x="6364224" y="1499616"/>
            <a:ext cx="1371600" cy="310896"/>
          </a:xfrm>
          <a:prstGeom prst="rect">
            <a:avLst/>
          </a:prstGeom>
          <a:solidFill>
            <a:srgbClr val="C2410C"/>
          </a:solidFill>
        </p:spPr>
        <p:txBody>
          <a:bodyPr/>
          <a:lstStyle/>
          <a:p>
            <a:endParaRPr/>
          </a:p>
        </p:txBody>
      </p:sp>
      <p:sp>
        <p:nvSpPr>
          <p:cNvPr id="22" name="Text 20"/>
          <p:cNvSpPr txBox="1"/>
          <p:nvPr/>
        </p:nvSpPr>
        <p:spPr>
          <a:xfrm>
            <a:off x="6364224" y="1499616"/>
            <a:ext cx="1371600" cy="310896"/>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DATABASE</a:t>
            </a:r>
            <a:endParaRPr lang="en-US" sz="1000" dirty="0"/>
          </a:p>
        </p:txBody>
      </p:sp>
      <p:sp>
        <p:nvSpPr>
          <p:cNvPr id="23" name="Text 21"/>
          <p:cNvSpPr txBox="1"/>
          <p:nvPr/>
        </p:nvSpPr>
        <p:spPr>
          <a:xfrm>
            <a:off x="6400800" y="1901952"/>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MySQL  (relational DB)</a:t>
            </a:r>
            <a:endParaRPr lang="en-US" sz="1100" dirty="0"/>
          </a:p>
        </p:txBody>
      </p:sp>
      <p:sp>
        <p:nvSpPr>
          <p:cNvPr id="24" name="Text 22"/>
          <p:cNvSpPr txBox="1"/>
          <p:nvPr/>
        </p:nvSpPr>
        <p:spPr>
          <a:xfrm>
            <a:off x="6400800" y="2212848"/>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- 5 core tables with FK</a:t>
            </a:r>
            <a:endParaRPr lang="en-US" sz="1100" dirty="0"/>
          </a:p>
        </p:txBody>
      </p:sp>
      <p:sp>
        <p:nvSpPr>
          <p:cNvPr id="25" name="Text 23"/>
          <p:cNvSpPr txBox="1"/>
          <p:nvPr/>
        </p:nvSpPr>
        <p:spPr>
          <a:xfrm>
            <a:off x="6400800" y="2523744"/>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Indexed search queries</a:t>
            </a:r>
            <a:endParaRPr lang="en-US" sz="1100" dirty="0"/>
          </a:p>
        </p:txBody>
      </p:sp>
      <p:sp>
        <p:nvSpPr>
          <p:cNvPr id="26" name="Text 24"/>
          <p:cNvSpPr txBox="1"/>
          <p:nvPr/>
        </p:nvSpPr>
        <p:spPr>
          <a:xfrm>
            <a:off x="6400800" y="2834640"/>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Schema with normalization</a:t>
            </a:r>
            <a:endParaRPr lang="en-US" sz="1100" dirty="0"/>
          </a:p>
        </p:txBody>
      </p:sp>
      <p:sp>
        <p:nvSpPr>
          <p:cNvPr id="27" name="Shape 25"/>
          <p:cNvSpPr/>
          <p:nvPr/>
        </p:nvSpPr>
        <p:spPr>
          <a:xfrm>
            <a:off x="1783080" y="3310128"/>
            <a:ext cx="2697480" cy="1783080"/>
          </a:xfrm>
          <a:prstGeom prst="rect">
            <a:avLst/>
          </a:prstGeom>
          <a:solidFill>
            <a:srgbClr val="EDE9FE"/>
          </a:solidFill>
        </p:spPr>
        <p:txBody>
          <a:bodyPr/>
          <a:lstStyle/>
          <a:p>
            <a:endParaRPr/>
          </a:p>
        </p:txBody>
      </p:sp>
      <p:sp>
        <p:nvSpPr>
          <p:cNvPr id="28" name="Shape 26"/>
          <p:cNvSpPr/>
          <p:nvPr/>
        </p:nvSpPr>
        <p:spPr>
          <a:xfrm>
            <a:off x="1929384" y="3438144"/>
            <a:ext cx="1371600" cy="310896"/>
          </a:xfrm>
          <a:prstGeom prst="rect">
            <a:avLst/>
          </a:prstGeom>
          <a:solidFill>
            <a:srgbClr val="6D28D9"/>
          </a:solidFill>
        </p:spPr>
        <p:txBody>
          <a:bodyPr/>
          <a:lstStyle/>
          <a:p>
            <a:endParaRPr/>
          </a:p>
        </p:txBody>
      </p:sp>
      <p:sp>
        <p:nvSpPr>
          <p:cNvPr id="29" name="Text 27"/>
          <p:cNvSpPr txBox="1"/>
          <p:nvPr/>
        </p:nvSpPr>
        <p:spPr>
          <a:xfrm>
            <a:off x="1929384" y="3438144"/>
            <a:ext cx="1371600" cy="310896"/>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AUTH &amp; SEC</a:t>
            </a:r>
            <a:endParaRPr lang="en-US" sz="1000" dirty="0"/>
          </a:p>
        </p:txBody>
      </p:sp>
      <p:sp>
        <p:nvSpPr>
          <p:cNvPr id="30" name="Text 28"/>
          <p:cNvSpPr txBox="1"/>
          <p:nvPr/>
        </p:nvSpPr>
        <p:spPr>
          <a:xfrm>
            <a:off x="1965960" y="3840480"/>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JWT  (session tokens)</a:t>
            </a:r>
            <a:endParaRPr lang="en-US" sz="1100" dirty="0"/>
          </a:p>
        </p:txBody>
      </p:sp>
      <p:sp>
        <p:nvSpPr>
          <p:cNvPr id="31" name="Text 29"/>
          <p:cNvSpPr txBox="1"/>
          <p:nvPr/>
        </p:nvSpPr>
        <p:spPr>
          <a:xfrm>
            <a:off x="1965960" y="4151376"/>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bcrypt  (password hash)</a:t>
            </a:r>
            <a:endParaRPr lang="en-US" sz="1100" dirty="0"/>
          </a:p>
        </p:txBody>
      </p:sp>
      <p:sp>
        <p:nvSpPr>
          <p:cNvPr id="32" name="Text 30"/>
          <p:cNvSpPr txBox="1"/>
          <p:nvPr/>
        </p:nvSpPr>
        <p:spPr>
          <a:xfrm>
            <a:off x="1965960" y="4462272"/>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Multer  (image upload)</a:t>
            </a:r>
            <a:endParaRPr lang="en-US" sz="1100" dirty="0"/>
          </a:p>
        </p:txBody>
      </p:sp>
      <p:sp>
        <p:nvSpPr>
          <p:cNvPr id="33" name="Text 31"/>
          <p:cNvSpPr txBox="1"/>
          <p:nvPr/>
        </p:nvSpPr>
        <p:spPr>
          <a:xfrm>
            <a:off x="1965960" y="4773168"/>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Role-based middleware</a:t>
            </a:r>
            <a:endParaRPr lang="en-US" sz="1100" dirty="0"/>
          </a:p>
        </p:txBody>
      </p:sp>
      <p:sp>
        <p:nvSpPr>
          <p:cNvPr id="34" name="Shape 32"/>
          <p:cNvSpPr/>
          <p:nvPr/>
        </p:nvSpPr>
        <p:spPr>
          <a:xfrm>
            <a:off x="4754880" y="3310128"/>
            <a:ext cx="2697480" cy="1783080"/>
          </a:xfrm>
          <a:prstGeom prst="rect">
            <a:avLst/>
          </a:prstGeom>
          <a:solidFill>
            <a:srgbClr val="E2E8F0"/>
          </a:solidFill>
        </p:spPr>
        <p:txBody>
          <a:bodyPr/>
          <a:lstStyle/>
          <a:p>
            <a:endParaRPr/>
          </a:p>
        </p:txBody>
      </p:sp>
      <p:sp>
        <p:nvSpPr>
          <p:cNvPr id="35" name="Shape 33"/>
          <p:cNvSpPr/>
          <p:nvPr/>
        </p:nvSpPr>
        <p:spPr>
          <a:xfrm>
            <a:off x="4901184" y="3438144"/>
            <a:ext cx="1371600" cy="310896"/>
          </a:xfrm>
          <a:prstGeom prst="rect">
            <a:avLst/>
          </a:prstGeom>
          <a:solidFill>
            <a:srgbClr val="64748B"/>
          </a:solidFill>
        </p:spPr>
        <p:txBody>
          <a:bodyPr/>
          <a:lstStyle/>
          <a:p>
            <a:endParaRPr/>
          </a:p>
        </p:txBody>
      </p:sp>
      <p:sp>
        <p:nvSpPr>
          <p:cNvPr id="36" name="Text 34"/>
          <p:cNvSpPr txBox="1"/>
          <p:nvPr/>
        </p:nvSpPr>
        <p:spPr>
          <a:xfrm>
            <a:off x="4901184" y="3438144"/>
            <a:ext cx="1371600" cy="310896"/>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DEV TOOLS</a:t>
            </a:r>
            <a:endParaRPr lang="en-US" sz="1000" dirty="0"/>
          </a:p>
        </p:txBody>
      </p:sp>
      <p:sp>
        <p:nvSpPr>
          <p:cNvPr id="37" name="Text 35"/>
          <p:cNvSpPr txBox="1"/>
          <p:nvPr/>
        </p:nvSpPr>
        <p:spPr>
          <a:xfrm>
            <a:off x="4937760" y="3840480"/>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Git  &amp;  GitHub</a:t>
            </a:r>
            <a:endParaRPr lang="en-US" sz="1100" dirty="0"/>
          </a:p>
        </p:txBody>
      </p:sp>
      <p:sp>
        <p:nvSpPr>
          <p:cNvPr id="38" name="Text 36"/>
          <p:cNvSpPr txBox="1"/>
          <p:nvPr/>
        </p:nvSpPr>
        <p:spPr>
          <a:xfrm>
            <a:off x="4937760" y="4151376"/>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VS Code  editor</a:t>
            </a:r>
            <a:endParaRPr lang="en-US" sz="1100" dirty="0"/>
          </a:p>
        </p:txBody>
      </p:sp>
      <p:sp>
        <p:nvSpPr>
          <p:cNvPr id="39" name="Text 37"/>
          <p:cNvSpPr txBox="1"/>
          <p:nvPr/>
        </p:nvSpPr>
        <p:spPr>
          <a:xfrm>
            <a:off x="4937760" y="4462272"/>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Postman  (API testing)</a:t>
            </a:r>
            <a:endParaRPr lang="en-US" sz="1100" dirty="0"/>
          </a:p>
        </p:txBody>
      </p:sp>
      <p:sp>
        <p:nvSpPr>
          <p:cNvPr id="40" name="Text 38"/>
          <p:cNvSpPr txBox="1"/>
          <p:nvPr/>
        </p:nvSpPr>
        <p:spPr>
          <a:xfrm>
            <a:off x="4937760" y="4773168"/>
            <a:ext cx="2331720" cy="27432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Feature branch workflow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dirty="0">
                <a:solidFill>
                  <a:srgbClr val="2F5C97"/>
                </a:solidFill>
                <a:latin typeface="Aptos"/>
              </a:rPr>
              <a:t>SLIDE </a:t>
            </a:r>
            <a:r>
              <a:rPr lang="en-US" sz="1000" b="1" dirty="0" smtClean="0">
                <a:solidFill>
                  <a:srgbClr val="2F5C97"/>
                </a:solidFill>
                <a:latin typeface="Aptos"/>
              </a:rPr>
              <a:t>6</a:t>
            </a:r>
            <a:r>
              <a:rPr sz="1000" b="1" dirty="0" smtClean="0">
                <a:solidFill>
                  <a:srgbClr val="2F5C97"/>
                </a:solidFill>
                <a:latin typeface="Aptos"/>
              </a:rPr>
              <a:t>  </a:t>
            </a:r>
            <a:r>
              <a:rPr sz="1000" b="1" dirty="0">
                <a:solidFill>
                  <a:srgbClr val="2F5C97"/>
                </a:solidFill>
                <a:latin typeface="Aptos"/>
              </a:rPr>
              <a:t>|  MEMBER 1 — PUNOM DAS MOMO  (202204031)</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Authentication, Admin &amp; Security</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71600"/>
            <a:ext cx="4251960" cy="1115568"/>
          </a:xfrm>
          <a:prstGeom prst="rect">
            <a:avLst/>
          </a:prstGeom>
          <a:solidFill>
            <a:srgbClr val="DBEAFE"/>
          </a:solidFill>
        </p:spPr>
        <p:txBody>
          <a:bodyPr/>
          <a:lstStyle/>
          <a:p>
            <a:endParaRPr/>
          </a:p>
        </p:txBody>
      </p:sp>
      <p:sp>
        <p:nvSpPr>
          <p:cNvPr id="7" name="Text 5"/>
          <p:cNvSpPr txBox="1"/>
          <p:nvPr/>
        </p:nvSpPr>
        <p:spPr>
          <a:xfrm>
            <a:off x="438912" y="1481328"/>
            <a:ext cx="3995928" cy="329184"/>
          </a:xfrm>
          <a:prstGeom prst="rect">
            <a:avLst/>
          </a:prstGeom>
          <a:noFill/>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User Registration</a:t>
            </a:r>
            <a:endParaRPr lang="en-US" sz="1350" dirty="0"/>
          </a:p>
        </p:txBody>
      </p:sp>
      <p:sp>
        <p:nvSpPr>
          <p:cNvPr id="8" name="Text 6"/>
          <p:cNvSpPr txBox="1"/>
          <p:nvPr/>
        </p:nvSpPr>
        <p:spPr>
          <a:xfrm>
            <a:off x="438912" y="1828800"/>
            <a:ext cx="3995928" cy="585216"/>
          </a:xfrm>
          <a:prstGeom prst="rect">
            <a:avLst/>
          </a:prstGeom>
          <a:noFill/>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Sign-up form collects name, email, password, phone number and role (Owner or Tenant). All fields validated before saving.</a:t>
            </a:r>
            <a:endParaRPr lang="en-US" sz="1200" dirty="0"/>
          </a:p>
        </p:txBody>
      </p:sp>
      <p:sp>
        <p:nvSpPr>
          <p:cNvPr id="9" name="Shape 7"/>
          <p:cNvSpPr/>
          <p:nvPr/>
        </p:nvSpPr>
        <p:spPr>
          <a:xfrm>
            <a:off x="4709160" y="1371600"/>
            <a:ext cx="4251960" cy="1115568"/>
          </a:xfrm>
          <a:prstGeom prst="rect">
            <a:avLst/>
          </a:prstGeom>
          <a:solidFill>
            <a:srgbClr val="DBEAFE"/>
          </a:solidFill>
        </p:spPr>
        <p:txBody>
          <a:bodyPr/>
          <a:lstStyle/>
          <a:p>
            <a:endParaRPr/>
          </a:p>
        </p:txBody>
      </p:sp>
      <p:sp>
        <p:nvSpPr>
          <p:cNvPr id="10" name="Text 8"/>
          <p:cNvSpPr txBox="1"/>
          <p:nvPr/>
        </p:nvSpPr>
        <p:spPr>
          <a:xfrm>
            <a:off x="4873752" y="1481328"/>
            <a:ext cx="3995928" cy="329184"/>
          </a:xfrm>
          <a:prstGeom prst="rect">
            <a:avLst/>
          </a:prstGeom>
          <a:noFill/>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Login &amp; JWT Token</a:t>
            </a:r>
            <a:endParaRPr lang="en-US" sz="1350" dirty="0"/>
          </a:p>
        </p:txBody>
      </p:sp>
      <p:sp>
        <p:nvSpPr>
          <p:cNvPr id="11" name="Text 9"/>
          <p:cNvSpPr txBox="1"/>
          <p:nvPr/>
        </p:nvSpPr>
        <p:spPr>
          <a:xfrm>
            <a:off x="4873752" y="1828800"/>
            <a:ext cx="3995928" cy="585216"/>
          </a:xfrm>
          <a:prstGeom prst="rect">
            <a:avLst/>
          </a:prstGeom>
          <a:noFill/>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User logs in with email and password. A JWT token is returned and stored in the browser. All protected pages check this token.</a:t>
            </a:r>
            <a:endParaRPr lang="en-US" sz="1200" dirty="0"/>
          </a:p>
        </p:txBody>
      </p:sp>
      <p:sp>
        <p:nvSpPr>
          <p:cNvPr id="12" name="Shape 10"/>
          <p:cNvSpPr/>
          <p:nvPr/>
        </p:nvSpPr>
        <p:spPr>
          <a:xfrm>
            <a:off x="274320" y="2633472"/>
            <a:ext cx="4251960" cy="1115568"/>
          </a:xfrm>
          <a:prstGeom prst="rect">
            <a:avLst/>
          </a:prstGeom>
          <a:solidFill>
            <a:srgbClr val="DBEAFE"/>
          </a:solidFill>
        </p:spPr>
        <p:txBody>
          <a:bodyPr/>
          <a:lstStyle/>
          <a:p>
            <a:endParaRPr/>
          </a:p>
        </p:txBody>
      </p:sp>
      <p:sp>
        <p:nvSpPr>
          <p:cNvPr id="13" name="Text 11"/>
          <p:cNvSpPr txBox="1"/>
          <p:nvPr/>
        </p:nvSpPr>
        <p:spPr>
          <a:xfrm>
            <a:off x="438912" y="2743200"/>
            <a:ext cx="3995928" cy="329184"/>
          </a:xfrm>
          <a:prstGeom prst="rect">
            <a:avLst/>
          </a:prstGeom>
          <a:noFill/>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Password Security</a:t>
            </a:r>
            <a:endParaRPr lang="en-US" sz="1350" dirty="0"/>
          </a:p>
        </p:txBody>
      </p:sp>
      <p:sp>
        <p:nvSpPr>
          <p:cNvPr id="14" name="Text 12"/>
          <p:cNvSpPr txBox="1"/>
          <p:nvPr/>
        </p:nvSpPr>
        <p:spPr>
          <a:xfrm>
            <a:off x="438912" y="3090672"/>
            <a:ext cx="3995928" cy="585216"/>
          </a:xfrm>
          <a:prstGeom prst="rect">
            <a:avLst/>
          </a:prstGeom>
          <a:noFill/>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Passwords are NEVER stored as plain text. bcrypt hashing with salt factor is applied before the record is saved to the database.</a:t>
            </a:r>
            <a:endParaRPr lang="en-US" sz="1200" dirty="0"/>
          </a:p>
        </p:txBody>
      </p:sp>
      <p:sp>
        <p:nvSpPr>
          <p:cNvPr id="15" name="Shape 13"/>
          <p:cNvSpPr/>
          <p:nvPr/>
        </p:nvSpPr>
        <p:spPr>
          <a:xfrm>
            <a:off x="4709160" y="2633472"/>
            <a:ext cx="4251960" cy="1115568"/>
          </a:xfrm>
          <a:prstGeom prst="rect">
            <a:avLst/>
          </a:prstGeom>
          <a:solidFill>
            <a:srgbClr val="DBEAFE"/>
          </a:solidFill>
        </p:spPr>
        <p:txBody>
          <a:bodyPr/>
          <a:lstStyle/>
          <a:p>
            <a:endParaRPr/>
          </a:p>
        </p:txBody>
      </p:sp>
      <p:sp>
        <p:nvSpPr>
          <p:cNvPr id="16" name="Text 14"/>
          <p:cNvSpPr txBox="1"/>
          <p:nvPr/>
        </p:nvSpPr>
        <p:spPr>
          <a:xfrm>
            <a:off x="4873752" y="2743200"/>
            <a:ext cx="3995928" cy="329184"/>
          </a:xfrm>
          <a:prstGeom prst="rect">
            <a:avLst/>
          </a:prstGeom>
          <a:noFill/>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Role-based Access</a:t>
            </a:r>
            <a:endParaRPr lang="en-US" sz="1350" dirty="0"/>
          </a:p>
        </p:txBody>
      </p:sp>
      <p:sp>
        <p:nvSpPr>
          <p:cNvPr id="17" name="Text 15"/>
          <p:cNvSpPr txBox="1"/>
          <p:nvPr/>
        </p:nvSpPr>
        <p:spPr>
          <a:xfrm>
            <a:off x="4873752" y="3090672"/>
            <a:ext cx="3995928" cy="585216"/>
          </a:xfrm>
          <a:prstGeom prst="rect">
            <a:avLst/>
          </a:prstGeom>
          <a:noFill/>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Middleware reads the JWT and checks the role on every protected API route — ensuring Owner, Tenant and Admin stay in their own lane.</a:t>
            </a:r>
            <a:endParaRPr lang="en-US" sz="1200" dirty="0"/>
          </a:p>
        </p:txBody>
      </p:sp>
      <p:sp>
        <p:nvSpPr>
          <p:cNvPr id="18" name="Shape 16"/>
          <p:cNvSpPr/>
          <p:nvPr/>
        </p:nvSpPr>
        <p:spPr>
          <a:xfrm>
            <a:off x="274320" y="3895344"/>
            <a:ext cx="8595360" cy="868680"/>
          </a:xfrm>
          <a:prstGeom prst="rect">
            <a:avLst/>
          </a:prstGeom>
          <a:solidFill>
            <a:srgbClr val="DBEAFE"/>
          </a:solidFill>
        </p:spPr>
        <p:txBody>
          <a:bodyPr/>
          <a:lstStyle/>
          <a:p>
            <a:endParaRPr/>
          </a:p>
        </p:txBody>
      </p:sp>
      <p:sp>
        <p:nvSpPr>
          <p:cNvPr id="19" name="Text 17"/>
          <p:cNvSpPr txBox="1"/>
          <p:nvPr/>
        </p:nvSpPr>
        <p:spPr>
          <a:xfrm>
            <a:off x="438912" y="4005072"/>
            <a:ext cx="8339328" cy="329184"/>
          </a:xfrm>
          <a:prstGeom prst="rect">
            <a:avLst/>
          </a:prstGeom>
          <a:noFill/>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Admin Dashboard</a:t>
            </a:r>
            <a:endParaRPr lang="en-US" sz="1350" dirty="0"/>
          </a:p>
        </p:txBody>
      </p:sp>
      <p:sp>
        <p:nvSpPr>
          <p:cNvPr id="20" name="Text 18"/>
          <p:cNvSpPr txBox="1"/>
          <p:nvPr/>
        </p:nvSpPr>
        <p:spPr>
          <a:xfrm>
            <a:off x="438912" y="4352544"/>
            <a:ext cx="8339328" cy="338328"/>
          </a:xfrm>
          <a:prstGeom prst="rect">
            <a:avLst/>
          </a:prstGeom>
          <a:noFill/>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Admin can view all registered users and all listings. Admin can block/unblock any user and remove any inappropriate listing from the platform.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p\Pictures\Screenshots\Screenshot (31).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87586" y="808502"/>
            <a:ext cx="6071554" cy="324908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72559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dirty="0">
                <a:solidFill>
                  <a:srgbClr val="2F5C97"/>
                </a:solidFill>
                <a:latin typeface="Aptos"/>
              </a:rPr>
              <a:t>SLIDE </a:t>
            </a:r>
            <a:r>
              <a:rPr lang="en-US" sz="1000" b="1" dirty="0" smtClean="0">
                <a:solidFill>
                  <a:srgbClr val="2F5C97"/>
                </a:solidFill>
                <a:latin typeface="Aptos"/>
              </a:rPr>
              <a:t>7</a:t>
            </a:r>
            <a:r>
              <a:rPr sz="1000" b="1" dirty="0" smtClean="0">
                <a:solidFill>
                  <a:srgbClr val="2F5C97"/>
                </a:solidFill>
                <a:latin typeface="Aptos"/>
              </a:rPr>
              <a:t>  </a:t>
            </a:r>
            <a:r>
              <a:rPr sz="1000" b="1" dirty="0">
                <a:solidFill>
                  <a:srgbClr val="2F5C97"/>
                </a:solidFill>
                <a:latin typeface="Aptos"/>
              </a:rPr>
              <a:t>|  MEMBER 2 — FOUJIA AKTHER  (202204009)</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Property Listings &amp; Image Management</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89888"/>
            <a:ext cx="8595360" cy="667512"/>
          </a:xfrm>
          <a:prstGeom prst="rect">
            <a:avLst/>
          </a:prstGeom>
          <a:solidFill>
            <a:srgbClr val="DCFCE7"/>
          </a:solidFill>
        </p:spPr>
        <p:txBody>
          <a:bodyPr/>
          <a:lstStyle/>
          <a:p>
            <a:endParaRPr/>
          </a:p>
        </p:txBody>
      </p:sp>
      <p:sp>
        <p:nvSpPr>
          <p:cNvPr id="7" name="Text 5"/>
          <p:cNvSpPr txBox="1"/>
          <p:nvPr/>
        </p:nvSpPr>
        <p:spPr>
          <a:xfrm>
            <a:off x="457200" y="1481328"/>
            <a:ext cx="2743200" cy="329184"/>
          </a:xfrm>
          <a:prstGeom prst="rect">
            <a:avLst/>
          </a:prstGeom>
          <a:noFill/>
        </p:spPr>
        <p:txBody>
          <a:bodyPr wrap="square" lIns="0" tIns="0" rIns="0" bIns="0" rtlCol="0" anchor="ctr"/>
          <a:lstStyle/>
          <a:p>
            <a:pPr marL="0" indent="0">
              <a:buNone/>
            </a:pPr>
            <a:r>
              <a:rPr lang="en-US" sz="1350" b="1" dirty="0">
                <a:solidFill>
                  <a:srgbClr val="15803D"/>
                </a:solidFill>
                <a:latin typeface="Calibri" pitchFamily="34" charset="0"/>
                <a:ea typeface="Calibri" pitchFamily="34" charset="-122"/>
                <a:cs typeface="Calibri" pitchFamily="34" charset="-120"/>
              </a:rPr>
              <a:t>Add New Listing</a:t>
            </a:r>
            <a:endParaRPr lang="en-US" sz="1350" dirty="0"/>
          </a:p>
        </p:txBody>
      </p:sp>
      <p:sp>
        <p:nvSpPr>
          <p:cNvPr id="8" name="Text 6"/>
          <p:cNvSpPr txBox="1"/>
          <p:nvPr/>
        </p:nvSpPr>
        <p:spPr>
          <a:xfrm>
            <a:off x="3291840" y="1481328"/>
            <a:ext cx="5486400" cy="5029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Owner fills title, description, location, monthly price, room type (single room / full house / mess), number of bedrooms, and amenities such as Wi-Fi, gas or parking.</a:t>
            </a:r>
            <a:endParaRPr lang="en-US" sz="1150" dirty="0"/>
          </a:p>
        </p:txBody>
      </p:sp>
      <p:sp>
        <p:nvSpPr>
          <p:cNvPr id="9" name="Shape 7"/>
          <p:cNvSpPr/>
          <p:nvPr/>
        </p:nvSpPr>
        <p:spPr>
          <a:xfrm>
            <a:off x="274320" y="2121408"/>
            <a:ext cx="8595360" cy="667512"/>
          </a:xfrm>
          <a:prstGeom prst="rect">
            <a:avLst/>
          </a:prstGeom>
          <a:solidFill>
            <a:srgbClr val="DCFCE7"/>
          </a:solidFill>
        </p:spPr>
        <p:txBody>
          <a:bodyPr/>
          <a:lstStyle/>
          <a:p>
            <a:endParaRPr/>
          </a:p>
        </p:txBody>
      </p:sp>
      <p:sp>
        <p:nvSpPr>
          <p:cNvPr id="10" name="Text 8"/>
          <p:cNvSpPr txBox="1"/>
          <p:nvPr/>
        </p:nvSpPr>
        <p:spPr>
          <a:xfrm>
            <a:off x="457200" y="2212848"/>
            <a:ext cx="2743200" cy="329184"/>
          </a:xfrm>
          <a:prstGeom prst="rect">
            <a:avLst/>
          </a:prstGeom>
          <a:noFill/>
        </p:spPr>
        <p:txBody>
          <a:bodyPr wrap="square" lIns="0" tIns="0" rIns="0" bIns="0" rtlCol="0" anchor="ctr"/>
          <a:lstStyle/>
          <a:p>
            <a:pPr marL="0" indent="0">
              <a:buNone/>
            </a:pPr>
            <a:r>
              <a:rPr lang="en-US" sz="1350" b="1" dirty="0">
                <a:solidFill>
                  <a:srgbClr val="15803D"/>
                </a:solidFill>
                <a:latin typeface="Calibri" pitchFamily="34" charset="0"/>
                <a:ea typeface="Calibri" pitchFamily="34" charset="-122"/>
                <a:cs typeface="Calibri" pitchFamily="34" charset="-120"/>
              </a:rPr>
              <a:t>Edit &amp; Delete</a:t>
            </a:r>
            <a:endParaRPr lang="en-US" sz="1350" dirty="0"/>
          </a:p>
        </p:txBody>
      </p:sp>
      <p:sp>
        <p:nvSpPr>
          <p:cNvPr id="11" name="Text 9"/>
          <p:cNvSpPr txBox="1"/>
          <p:nvPr/>
        </p:nvSpPr>
        <p:spPr>
          <a:xfrm>
            <a:off x="3291840" y="2212848"/>
            <a:ext cx="5486400" cy="5029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Owner can update any field of their listing at any time. Only the listing owner can edit it. Admin can also delete any listing from the system.</a:t>
            </a:r>
            <a:endParaRPr lang="en-US" sz="1150" dirty="0"/>
          </a:p>
        </p:txBody>
      </p:sp>
      <p:sp>
        <p:nvSpPr>
          <p:cNvPr id="12" name="Shape 10"/>
          <p:cNvSpPr/>
          <p:nvPr/>
        </p:nvSpPr>
        <p:spPr>
          <a:xfrm>
            <a:off x="274320" y="2852928"/>
            <a:ext cx="8595360" cy="667512"/>
          </a:xfrm>
          <a:prstGeom prst="rect">
            <a:avLst/>
          </a:prstGeom>
          <a:solidFill>
            <a:srgbClr val="DCFCE7"/>
          </a:solidFill>
        </p:spPr>
        <p:txBody>
          <a:bodyPr/>
          <a:lstStyle/>
          <a:p>
            <a:endParaRPr/>
          </a:p>
        </p:txBody>
      </p:sp>
      <p:sp>
        <p:nvSpPr>
          <p:cNvPr id="13" name="Text 11"/>
          <p:cNvSpPr txBox="1"/>
          <p:nvPr/>
        </p:nvSpPr>
        <p:spPr>
          <a:xfrm>
            <a:off x="457200" y="2944368"/>
            <a:ext cx="2743200" cy="329184"/>
          </a:xfrm>
          <a:prstGeom prst="rect">
            <a:avLst/>
          </a:prstGeom>
          <a:noFill/>
        </p:spPr>
        <p:txBody>
          <a:bodyPr wrap="square" lIns="0" tIns="0" rIns="0" bIns="0" rtlCol="0" anchor="ctr"/>
          <a:lstStyle/>
          <a:p>
            <a:pPr marL="0" indent="0">
              <a:buNone/>
            </a:pPr>
            <a:r>
              <a:rPr lang="en-US" sz="1350" b="1" dirty="0">
                <a:solidFill>
                  <a:srgbClr val="15803D"/>
                </a:solidFill>
                <a:latin typeface="Calibri" pitchFamily="34" charset="0"/>
                <a:ea typeface="Calibri" pitchFamily="34" charset="-122"/>
                <a:cs typeface="Calibri" pitchFamily="34" charset="-120"/>
              </a:rPr>
              <a:t>Image Upload</a:t>
            </a:r>
            <a:endParaRPr lang="en-US" sz="1350" dirty="0"/>
          </a:p>
        </p:txBody>
      </p:sp>
      <p:sp>
        <p:nvSpPr>
          <p:cNvPr id="14" name="Text 12"/>
          <p:cNvSpPr txBox="1"/>
          <p:nvPr/>
        </p:nvSpPr>
        <p:spPr>
          <a:xfrm>
            <a:off x="3291840" y="2944368"/>
            <a:ext cx="5486400" cy="5029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Owner uploads one or more property photos using the Multer middleware. Images are saved on the server and linked via the listing_images table.</a:t>
            </a:r>
            <a:endParaRPr lang="en-US" sz="1150" dirty="0"/>
          </a:p>
        </p:txBody>
      </p:sp>
      <p:sp>
        <p:nvSpPr>
          <p:cNvPr id="15" name="Shape 13"/>
          <p:cNvSpPr/>
          <p:nvPr/>
        </p:nvSpPr>
        <p:spPr>
          <a:xfrm>
            <a:off x="274320" y="3584448"/>
            <a:ext cx="8595360" cy="667512"/>
          </a:xfrm>
          <a:prstGeom prst="rect">
            <a:avLst/>
          </a:prstGeom>
          <a:solidFill>
            <a:srgbClr val="DCFCE7"/>
          </a:solidFill>
        </p:spPr>
        <p:txBody>
          <a:bodyPr/>
          <a:lstStyle/>
          <a:p>
            <a:endParaRPr/>
          </a:p>
        </p:txBody>
      </p:sp>
      <p:sp>
        <p:nvSpPr>
          <p:cNvPr id="16" name="Text 14"/>
          <p:cNvSpPr txBox="1"/>
          <p:nvPr/>
        </p:nvSpPr>
        <p:spPr>
          <a:xfrm>
            <a:off x="457200" y="3675888"/>
            <a:ext cx="2743200" cy="329184"/>
          </a:xfrm>
          <a:prstGeom prst="rect">
            <a:avLst/>
          </a:prstGeom>
          <a:noFill/>
        </p:spPr>
        <p:txBody>
          <a:bodyPr wrap="square" lIns="0" tIns="0" rIns="0" bIns="0" rtlCol="0" anchor="ctr"/>
          <a:lstStyle/>
          <a:p>
            <a:pPr marL="0" indent="0">
              <a:buNone/>
            </a:pPr>
            <a:r>
              <a:rPr lang="en-US" sz="1350" b="1" dirty="0">
                <a:solidFill>
                  <a:srgbClr val="15803D"/>
                </a:solidFill>
                <a:latin typeface="Calibri" pitchFamily="34" charset="0"/>
                <a:ea typeface="Calibri" pitchFamily="34" charset="-122"/>
                <a:cs typeface="Calibri" pitchFamily="34" charset="-120"/>
              </a:rPr>
              <a:t>Listing Details Page</a:t>
            </a:r>
            <a:endParaRPr lang="en-US" sz="1350" dirty="0"/>
          </a:p>
        </p:txBody>
      </p:sp>
      <p:sp>
        <p:nvSpPr>
          <p:cNvPr id="17" name="Text 15"/>
          <p:cNvSpPr txBox="1"/>
          <p:nvPr/>
        </p:nvSpPr>
        <p:spPr>
          <a:xfrm>
            <a:off x="3291840" y="3675888"/>
            <a:ext cx="5486400" cy="5029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 full-page view showing the image gallery, all property information, average rating, and owner contact details — visible only after the tenant interest request is accepted.</a:t>
            </a:r>
            <a:endParaRPr lang="en-US" sz="1150" dirty="0"/>
          </a:p>
        </p:txBody>
      </p:sp>
      <p:sp>
        <p:nvSpPr>
          <p:cNvPr id="18" name="Shape 16"/>
          <p:cNvSpPr/>
          <p:nvPr/>
        </p:nvSpPr>
        <p:spPr>
          <a:xfrm>
            <a:off x="274320" y="4315968"/>
            <a:ext cx="8595360" cy="667512"/>
          </a:xfrm>
          <a:prstGeom prst="rect">
            <a:avLst/>
          </a:prstGeom>
          <a:solidFill>
            <a:srgbClr val="DCFCE7"/>
          </a:solidFill>
        </p:spPr>
        <p:txBody>
          <a:bodyPr/>
          <a:lstStyle/>
          <a:p>
            <a:endParaRPr/>
          </a:p>
        </p:txBody>
      </p:sp>
      <p:sp>
        <p:nvSpPr>
          <p:cNvPr id="19" name="Text 17"/>
          <p:cNvSpPr txBox="1"/>
          <p:nvPr/>
        </p:nvSpPr>
        <p:spPr>
          <a:xfrm>
            <a:off x="457200" y="4407408"/>
            <a:ext cx="2743200" cy="329184"/>
          </a:xfrm>
          <a:prstGeom prst="rect">
            <a:avLst/>
          </a:prstGeom>
          <a:noFill/>
        </p:spPr>
        <p:txBody>
          <a:bodyPr wrap="square" lIns="0" tIns="0" rIns="0" bIns="0" rtlCol="0" anchor="ctr"/>
          <a:lstStyle/>
          <a:p>
            <a:pPr marL="0" indent="0">
              <a:buNone/>
            </a:pPr>
            <a:r>
              <a:rPr lang="en-US" sz="1350" b="1" dirty="0">
                <a:solidFill>
                  <a:srgbClr val="15803D"/>
                </a:solidFill>
                <a:latin typeface="Calibri" pitchFamily="34" charset="0"/>
                <a:ea typeface="Calibri" pitchFamily="34" charset="-122"/>
                <a:cs typeface="Calibri" pitchFamily="34" charset="-120"/>
              </a:rPr>
              <a:t>Status Tracking</a:t>
            </a:r>
            <a:endParaRPr lang="en-US" sz="1350" dirty="0"/>
          </a:p>
        </p:txBody>
      </p:sp>
      <p:sp>
        <p:nvSpPr>
          <p:cNvPr id="20" name="Text 18"/>
          <p:cNvSpPr txBox="1"/>
          <p:nvPr/>
        </p:nvSpPr>
        <p:spPr>
          <a:xfrm>
            <a:off x="3291840" y="4407408"/>
            <a:ext cx="5486400" cy="5029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Each listing has a status field (available / unavailable). Owner can toggle it without deleting the listing, allowing seasonal or temporary hold.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dirty="0">
                <a:solidFill>
                  <a:srgbClr val="2F5C97"/>
                </a:solidFill>
                <a:latin typeface="Aptos"/>
              </a:rPr>
              <a:t>SLIDE </a:t>
            </a:r>
            <a:r>
              <a:rPr lang="en-US" sz="1000" b="1" dirty="0" smtClean="0">
                <a:solidFill>
                  <a:srgbClr val="2F5C97"/>
                </a:solidFill>
                <a:latin typeface="Aptos"/>
              </a:rPr>
              <a:t>8</a:t>
            </a:r>
            <a:r>
              <a:rPr sz="1000" b="1" dirty="0" smtClean="0">
                <a:solidFill>
                  <a:srgbClr val="2F5C97"/>
                </a:solidFill>
                <a:latin typeface="Aptos"/>
              </a:rPr>
              <a:t>  </a:t>
            </a:r>
            <a:r>
              <a:rPr sz="1000" b="1" dirty="0">
                <a:solidFill>
                  <a:srgbClr val="2F5C97"/>
                </a:solidFill>
                <a:latin typeface="Aptos"/>
              </a:rPr>
              <a:t>|  DATABASE</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Database Design  —  5 Core Tables</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89888"/>
            <a:ext cx="1783080" cy="365760"/>
          </a:xfrm>
          <a:prstGeom prst="rect">
            <a:avLst/>
          </a:prstGeom>
          <a:solidFill>
            <a:srgbClr val="1A2C45"/>
          </a:solidFill>
        </p:spPr>
        <p:txBody>
          <a:bodyPr/>
          <a:lstStyle/>
          <a:p>
            <a:endParaRPr/>
          </a:p>
        </p:txBody>
      </p:sp>
      <p:sp>
        <p:nvSpPr>
          <p:cNvPr id="7" name="Text 5"/>
          <p:cNvSpPr txBox="1"/>
          <p:nvPr/>
        </p:nvSpPr>
        <p:spPr>
          <a:xfrm>
            <a:off x="365760" y="1426464"/>
            <a:ext cx="1673352" cy="292608"/>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Table Name</a:t>
            </a:r>
            <a:endParaRPr lang="en-US" sz="1200" dirty="0"/>
          </a:p>
        </p:txBody>
      </p:sp>
      <p:sp>
        <p:nvSpPr>
          <p:cNvPr id="8" name="Shape 6"/>
          <p:cNvSpPr/>
          <p:nvPr/>
        </p:nvSpPr>
        <p:spPr>
          <a:xfrm>
            <a:off x="2148840" y="1389888"/>
            <a:ext cx="4572000" cy="365760"/>
          </a:xfrm>
          <a:prstGeom prst="rect">
            <a:avLst/>
          </a:prstGeom>
          <a:solidFill>
            <a:srgbClr val="1A2C45"/>
          </a:solidFill>
        </p:spPr>
        <p:txBody>
          <a:bodyPr/>
          <a:lstStyle/>
          <a:p>
            <a:endParaRPr/>
          </a:p>
        </p:txBody>
      </p:sp>
      <p:sp>
        <p:nvSpPr>
          <p:cNvPr id="9" name="Text 7"/>
          <p:cNvSpPr txBox="1"/>
          <p:nvPr/>
        </p:nvSpPr>
        <p:spPr>
          <a:xfrm>
            <a:off x="2240280" y="1426464"/>
            <a:ext cx="4462272" cy="292608"/>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Key Fields</a:t>
            </a:r>
            <a:endParaRPr lang="en-US" sz="1200" dirty="0"/>
          </a:p>
        </p:txBody>
      </p:sp>
      <p:sp>
        <p:nvSpPr>
          <p:cNvPr id="10" name="Shape 8"/>
          <p:cNvSpPr/>
          <p:nvPr/>
        </p:nvSpPr>
        <p:spPr>
          <a:xfrm>
            <a:off x="6812280" y="1389888"/>
            <a:ext cx="1965960" cy="365760"/>
          </a:xfrm>
          <a:prstGeom prst="rect">
            <a:avLst/>
          </a:prstGeom>
          <a:solidFill>
            <a:srgbClr val="1A2C45"/>
          </a:solidFill>
        </p:spPr>
        <p:txBody>
          <a:bodyPr/>
          <a:lstStyle/>
          <a:p>
            <a:endParaRPr/>
          </a:p>
        </p:txBody>
      </p:sp>
      <p:sp>
        <p:nvSpPr>
          <p:cNvPr id="11" name="Text 9"/>
          <p:cNvSpPr txBox="1"/>
          <p:nvPr/>
        </p:nvSpPr>
        <p:spPr>
          <a:xfrm>
            <a:off x="6903720" y="1426464"/>
            <a:ext cx="1856232" cy="292608"/>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Built By</a:t>
            </a:r>
            <a:endParaRPr lang="en-US" sz="1200" dirty="0"/>
          </a:p>
        </p:txBody>
      </p:sp>
      <p:sp>
        <p:nvSpPr>
          <p:cNvPr id="12" name="Shape 10"/>
          <p:cNvSpPr/>
          <p:nvPr/>
        </p:nvSpPr>
        <p:spPr>
          <a:xfrm>
            <a:off x="274320" y="1783080"/>
            <a:ext cx="1783080" cy="420624"/>
          </a:xfrm>
          <a:prstGeom prst="rect">
            <a:avLst/>
          </a:prstGeom>
          <a:solidFill>
            <a:srgbClr val="F8FAFC"/>
          </a:solidFill>
          <a:ln w="6350">
            <a:solidFill>
              <a:srgbClr val="E2E8F0"/>
            </a:solidFill>
            <a:prstDash val="solid"/>
          </a:ln>
        </p:spPr>
        <p:txBody>
          <a:bodyPr/>
          <a:lstStyle/>
          <a:p>
            <a:endParaRPr/>
          </a:p>
        </p:txBody>
      </p:sp>
      <p:sp>
        <p:nvSpPr>
          <p:cNvPr id="13" name="Text 11"/>
          <p:cNvSpPr txBox="1"/>
          <p:nvPr/>
        </p:nvSpPr>
        <p:spPr>
          <a:xfrm>
            <a:off x="365760" y="1828800"/>
            <a:ext cx="1655064" cy="365760"/>
          </a:xfrm>
          <a:prstGeom prst="rect">
            <a:avLst/>
          </a:prstGeom>
          <a:noFill/>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users</a:t>
            </a:r>
            <a:endParaRPr lang="en-US" sz="1250" dirty="0"/>
          </a:p>
        </p:txBody>
      </p:sp>
      <p:sp>
        <p:nvSpPr>
          <p:cNvPr id="14" name="Shape 12"/>
          <p:cNvSpPr/>
          <p:nvPr/>
        </p:nvSpPr>
        <p:spPr>
          <a:xfrm>
            <a:off x="2148840" y="1783080"/>
            <a:ext cx="4572000" cy="420624"/>
          </a:xfrm>
          <a:prstGeom prst="rect">
            <a:avLst/>
          </a:prstGeom>
          <a:solidFill>
            <a:srgbClr val="F8FAFC"/>
          </a:solidFill>
          <a:ln w="6350">
            <a:solidFill>
              <a:srgbClr val="E2E8F0"/>
            </a:solidFill>
            <a:prstDash val="solid"/>
          </a:ln>
        </p:spPr>
        <p:txBody>
          <a:bodyPr/>
          <a:lstStyle/>
          <a:p>
            <a:endParaRPr/>
          </a:p>
        </p:txBody>
      </p:sp>
      <p:sp>
        <p:nvSpPr>
          <p:cNvPr id="15" name="Text 13"/>
          <p:cNvSpPr txBox="1"/>
          <p:nvPr/>
        </p:nvSpPr>
        <p:spPr>
          <a:xfrm>
            <a:off x="2240280" y="1828800"/>
            <a:ext cx="4443984" cy="36576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 name, email, password (hashed), phone, role</a:t>
            </a:r>
            <a:endParaRPr lang="en-US" sz="1150" dirty="0"/>
          </a:p>
        </p:txBody>
      </p:sp>
      <p:sp>
        <p:nvSpPr>
          <p:cNvPr id="16" name="Shape 14"/>
          <p:cNvSpPr/>
          <p:nvPr/>
        </p:nvSpPr>
        <p:spPr>
          <a:xfrm>
            <a:off x="6812280" y="1783080"/>
            <a:ext cx="1965960" cy="420624"/>
          </a:xfrm>
          <a:prstGeom prst="rect">
            <a:avLst/>
          </a:prstGeom>
          <a:solidFill>
            <a:srgbClr val="F8FAFC"/>
          </a:solidFill>
          <a:ln w="6350">
            <a:solidFill>
              <a:srgbClr val="E2E8F0"/>
            </a:solidFill>
            <a:prstDash val="solid"/>
          </a:ln>
        </p:spPr>
        <p:txBody>
          <a:bodyPr/>
          <a:lstStyle/>
          <a:p>
            <a:endParaRPr/>
          </a:p>
        </p:txBody>
      </p:sp>
      <p:sp>
        <p:nvSpPr>
          <p:cNvPr id="17" name="Text 15"/>
          <p:cNvSpPr txBox="1"/>
          <p:nvPr/>
        </p:nvSpPr>
        <p:spPr>
          <a:xfrm>
            <a:off x="6903720" y="1828800"/>
            <a:ext cx="1837944" cy="36576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All Members</a:t>
            </a:r>
            <a:endParaRPr lang="en-US" sz="1150" dirty="0"/>
          </a:p>
        </p:txBody>
      </p:sp>
      <p:sp>
        <p:nvSpPr>
          <p:cNvPr id="18" name="Shape 16"/>
          <p:cNvSpPr/>
          <p:nvPr/>
        </p:nvSpPr>
        <p:spPr>
          <a:xfrm>
            <a:off x="274320" y="2203704"/>
            <a:ext cx="1783080" cy="566928"/>
          </a:xfrm>
          <a:prstGeom prst="rect">
            <a:avLst/>
          </a:prstGeom>
          <a:solidFill>
            <a:srgbClr val="FFFFFF"/>
          </a:solidFill>
          <a:ln w="6350">
            <a:solidFill>
              <a:srgbClr val="E2E8F0"/>
            </a:solidFill>
            <a:prstDash val="solid"/>
          </a:ln>
        </p:spPr>
        <p:txBody>
          <a:bodyPr/>
          <a:lstStyle/>
          <a:p>
            <a:endParaRPr/>
          </a:p>
        </p:txBody>
      </p:sp>
      <p:sp>
        <p:nvSpPr>
          <p:cNvPr id="19" name="Text 17"/>
          <p:cNvSpPr txBox="1"/>
          <p:nvPr/>
        </p:nvSpPr>
        <p:spPr>
          <a:xfrm>
            <a:off x="365760" y="2249424"/>
            <a:ext cx="1655064" cy="512064"/>
          </a:xfrm>
          <a:prstGeom prst="rect">
            <a:avLst/>
          </a:prstGeom>
          <a:noFill/>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listings</a:t>
            </a:r>
            <a:endParaRPr lang="en-US" sz="1250" dirty="0"/>
          </a:p>
        </p:txBody>
      </p:sp>
      <p:sp>
        <p:nvSpPr>
          <p:cNvPr id="20" name="Shape 18"/>
          <p:cNvSpPr/>
          <p:nvPr/>
        </p:nvSpPr>
        <p:spPr>
          <a:xfrm>
            <a:off x="2148840" y="2203704"/>
            <a:ext cx="4572000" cy="566928"/>
          </a:xfrm>
          <a:prstGeom prst="rect">
            <a:avLst/>
          </a:prstGeom>
          <a:solidFill>
            <a:srgbClr val="FFFFFF"/>
          </a:solidFill>
          <a:ln w="6350">
            <a:solidFill>
              <a:srgbClr val="E2E8F0"/>
            </a:solidFill>
            <a:prstDash val="solid"/>
          </a:ln>
        </p:spPr>
        <p:txBody>
          <a:bodyPr/>
          <a:lstStyle/>
          <a:p>
            <a:endParaRPr/>
          </a:p>
        </p:txBody>
      </p:sp>
      <p:sp>
        <p:nvSpPr>
          <p:cNvPr id="21" name="Text 19"/>
          <p:cNvSpPr txBox="1"/>
          <p:nvPr/>
        </p:nvSpPr>
        <p:spPr>
          <a:xfrm>
            <a:off x="2240280" y="2249424"/>
            <a:ext cx="4443984" cy="512064"/>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 owner_id (FK), title, location, price,</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room_type, bedrooms, status</a:t>
            </a:r>
            <a:endParaRPr lang="en-US" sz="1150" dirty="0"/>
          </a:p>
        </p:txBody>
      </p:sp>
      <p:sp>
        <p:nvSpPr>
          <p:cNvPr id="22" name="Shape 20"/>
          <p:cNvSpPr/>
          <p:nvPr/>
        </p:nvSpPr>
        <p:spPr>
          <a:xfrm>
            <a:off x="6812280" y="2203704"/>
            <a:ext cx="1965960" cy="566928"/>
          </a:xfrm>
          <a:prstGeom prst="rect">
            <a:avLst/>
          </a:prstGeom>
          <a:solidFill>
            <a:srgbClr val="FFFFFF"/>
          </a:solidFill>
          <a:ln w="6350">
            <a:solidFill>
              <a:srgbClr val="E2E8F0"/>
            </a:solidFill>
            <a:prstDash val="solid"/>
          </a:ln>
        </p:spPr>
        <p:txBody>
          <a:bodyPr/>
          <a:lstStyle/>
          <a:p>
            <a:endParaRPr/>
          </a:p>
        </p:txBody>
      </p:sp>
      <p:sp>
        <p:nvSpPr>
          <p:cNvPr id="23" name="Text 21"/>
          <p:cNvSpPr txBox="1"/>
          <p:nvPr/>
        </p:nvSpPr>
        <p:spPr>
          <a:xfrm>
            <a:off x="6903720" y="2249424"/>
            <a:ext cx="1837944" cy="512064"/>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Member 2</a:t>
            </a:r>
            <a:endParaRPr lang="en-US" sz="1150" dirty="0"/>
          </a:p>
        </p:txBody>
      </p:sp>
      <p:sp>
        <p:nvSpPr>
          <p:cNvPr id="24" name="Shape 22"/>
          <p:cNvSpPr/>
          <p:nvPr/>
        </p:nvSpPr>
        <p:spPr>
          <a:xfrm>
            <a:off x="274320" y="2770632"/>
            <a:ext cx="1783080" cy="420624"/>
          </a:xfrm>
          <a:prstGeom prst="rect">
            <a:avLst/>
          </a:prstGeom>
          <a:solidFill>
            <a:srgbClr val="F8FAFC"/>
          </a:solidFill>
          <a:ln w="6350">
            <a:solidFill>
              <a:srgbClr val="E2E8F0"/>
            </a:solidFill>
            <a:prstDash val="solid"/>
          </a:ln>
        </p:spPr>
        <p:txBody>
          <a:bodyPr/>
          <a:lstStyle/>
          <a:p>
            <a:endParaRPr/>
          </a:p>
        </p:txBody>
      </p:sp>
      <p:sp>
        <p:nvSpPr>
          <p:cNvPr id="25" name="Text 23"/>
          <p:cNvSpPr txBox="1"/>
          <p:nvPr/>
        </p:nvSpPr>
        <p:spPr>
          <a:xfrm>
            <a:off x="365760" y="2816352"/>
            <a:ext cx="1655064" cy="365760"/>
          </a:xfrm>
          <a:prstGeom prst="rect">
            <a:avLst/>
          </a:prstGeom>
          <a:noFill/>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listing_images</a:t>
            </a:r>
            <a:endParaRPr lang="en-US" sz="1250" dirty="0"/>
          </a:p>
        </p:txBody>
      </p:sp>
      <p:sp>
        <p:nvSpPr>
          <p:cNvPr id="26" name="Shape 24"/>
          <p:cNvSpPr/>
          <p:nvPr/>
        </p:nvSpPr>
        <p:spPr>
          <a:xfrm>
            <a:off x="2148840" y="2770632"/>
            <a:ext cx="4572000" cy="420624"/>
          </a:xfrm>
          <a:prstGeom prst="rect">
            <a:avLst/>
          </a:prstGeom>
          <a:solidFill>
            <a:srgbClr val="F8FAFC"/>
          </a:solidFill>
          <a:ln w="6350">
            <a:solidFill>
              <a:srgbClr val="E2E8F0"/>
            </a:solidFill>
            <a:prstDash val="solid"/>
          </a:ln>
        </p:spPr>
        <p:txBody>
          <a:bodyPr/>
          <a:lstStyle/>
          <a:p>
            <a:endParaRPr/>
          </a:p>
        </p:txBody>
      </p:sp>
      <p:sp>
        <p:nvSpPr>
          <p:cNvPr id="27" name="Text 25"/>
          <p:cNvSpPr txBox="1"/>
          <p:nvPr/>
        </p:nvSpPr>
        <p:spPr>
          <a:xfrm>
            <a:off x="2240280" y="2816352"/>
            <a:ext cx="4443984" cy="36576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 listing_id (FK), image_url</a:t>
            </a:r>
            <a:endParaRPr lang="en-US" sz="1150" dirty="0"/>
          </a:p>
        </p:txBody>
      </p:sp>
      <p:sp>
        <p:nvSpPr>
          <p:cNvPr id="28" name="Shape 26"/>
          <p:cNvSpPr/>
          <p:nvPr/>
        </p:nvSpPr>
        <p:spPr>
          <a:xfrm>
            <a:off x="6812280" y="2770632"/>
            <a:ext cx="1965960" cy="420624"/>
          </a:xfrm>
          <a:prstGeom prst="rect">
            <a:avLst/>
          </a:prstGeom>
          <a:solidFill>
            <a:srgbClr val="F8FAFC"/>
          </a:solidFill>
          <a:ln w="6350">
            <a:solidFill>
              <a:srgbClr val="E2E8F0"/>
            </a:solidFill>
            <a:prstDash val="solid"/>
          </a:ln>
        </p:spPr>
        <p:txBody>
          <a:bodyPr/>
          <a:lstStyle/>
          <a:p>
            <a:endParaRPr/>
          </a:p>
        </p:txBody>
      </p:sp>
      <p:sp>
        <p:nvSpPr>
          <p:cNvPr id="29" name="Text 27"/>
          <p:cNvSpPr txBox="1"/>
          <p:nvPr/>
        </p:nvSpPr>
        <p:spPr>
          <a:xfrm>
            <a:off x="6903720" y="2816352"/>
            <a:ext cx="1837944" cy="36576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Member 2</a:t>
            </a:r>
            <a:endParaRPr lang="en-US" sz="1150" dirty="0"/>
          </a:p>
        </p:txBody>
      </p:sp>
      <p:sp>
        <p:nvSpPr>
          <p:cNvPr id="30" name="Shape 28"/>
          <p:cNvSpPr/>
          <p:nvPr/>
        </p:nvSpPr>
        <p:spPr>
          <a:xfrm>
            <a:off x="274320" y="3191256"/>
            <a:ext cx="1783080" cy="566928"/>
          </a:xfrm>
          <a:prstGeom prst="rect">
            <a:avLst/>
          </a:prstGeom>
          <a:solidFill>
            <a:srgbClr val="FFFFFF"/>
          </a:solidFill>
          <a:ln w="6350">
            <a:solidFill>
              <a:srgbClr val="E2E8F0"/>
            </a:solidFill>
            <a:prstDash val="solid"/>
          </a:ln>
        </p:spPr>
        <p:txBody>
          <a:bodyPr/>
          <a:lstStyle/>
          <a:p>
            <a:endParaRPr/>
          </a:p>
        </p:txBody>
      </p:sp>
      <p:sp>
        <p:nvSpPr>
          <p:cNvPr id="31" name="Text 29"/>
          <p:cNvSpPr txBox="1"/>
          <p:nvPr/>
        </p:nvSpPr>
        <p:spPr>
          <a:xfrm>
            <a:off x="365760" y="3236976"/>
            <a:ext cx="1655064" cy="512064"/>
          </a:xfrm>
          <a:prstGeom prst="rect">
            <a:avLst/>
          </a:prstGeom>
          <a:noFill/>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requests</a:t>
            </a:r>
            <a:endParaRPr lang="en-US" sz="1250" dirty="0"/>
          </a:p>
        </p:txBody>
      </p:sp>
      <p:sp>
        <p:nvSpPr>
          <p:cNvPr id="32" name="Shape 30"/>
          <p:cNvSpPr/>
          <p:nvPr/>
        </p:nvSpPr>
        <p:spPr>
          <a:xfrm>
            <a:off x="2148840" y="3191256"/>
            <a:ext cx="4572000" cy="566928"/>
          </a:xfrm>
          <a:prstGeom prst="rect">
            <a:avLst/>
          </a:prstGeom>
          <a:solidFill>
            <a:srgbClr val="FFFFFF"/>
          </a:solidFill>
          <a:ln w="6350">
            <a:solidFill>
              <a:srgbClr val="E2E8F0"/>
            </a:solidFill>
            <a:prstDash val="solid"/>
          </a:ln>
        </p:spPr>
        <p:txBody>
          <a:bodyPr/>
          <a:lstStyle/>
          <a:p>
            <a:endParaRPr/>
          </a:p>
        </p:txBody>
      </p:sp>
      <p:sp>
        <p:nvSpPr>
          <p:cNvPr id="33" name="Text 31"/>
          <p:cNvSpPr txBox="1"/>
          <p:nvPr/>
        </p:nvSpPr>
        <p:spPr>
          <a:xfrm>
            <a:off x="2240280" y="3236976"/>
            <a:ext cx="4443984" cy="512064"/>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 listing_id (FK), tenant_id (FK),</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status (pending / accepted / rejected)</a:t>
            </a:r>
            <a:endParaRPr lang="en-US" sz="1150" dirty="0"/>
          </a:p>
        </p:txBody>
      </p:sp>
      <p:sp>
        <p:nvSpPr>
          <p:cNvPr id="34" name="Shape 32"/>
          <p:cNvSpPr/>
          <p:nvPr/>
        </p:nvSpPr>
        <p:spPr>
          <a:xfrm>
            <a:off x="6812280" y="3191256"/>
            <a:ext cx="1965960" cy="566928"/>
          </a:xfrm>
          <a:prstGeom prst="rect">
            <a:avLst/>
          </a:prstGeom>
          <a:solidFill>
            <a:srgbClr val="FFFFFF"/>
          </a:solidFill>
          <a:ln w="6350">
            <a:solidFill>
              <a:srgbClr val="E2E8F0"/>
            </a:solidFill>
            <a:prstDash val="solid"/>
          </a:ln>
        </p:spPr>
        <p:txBody>
          <a:bodyPr/>
          <a:lstStyle/>
          <a:p>
            <a:endParaRPr/>
          </a:p>
        </p:txBody>
      </p:sp>
      <p:sp>
        <p:nvSpPr>
          <p:cNvPr id="35" name="Text 33"/>
          <p:cNvSpPr txBox="1"/>
          <p:nvPr/>
        </p:nvSpPr>
        <p:spPr>
          <a:xfrm>
            <a:off x="6903720" y="3236976"/>
            <a:ext cx="1837944" cy="512064"/>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Member 3</a:t>
            </a:r>
            <a:endParaRPr lang="en-US" sz="1150" dirty="0"/>
          </a:p>
        </p:txBody>
      </p:sp>
      <p:sp>
        <p:nvSpPr>
          <p:cNvPr id="36" name="Shape 34"/>
          <p:cNvSpPr/>
          <p:nvPr/>
        </p:nvSpPr>
        <p:spPr>
          <a:xfrm>
            <a:off x="274320" y="3758184"/>
            <a:ext cx="1783080" cy="420624"/>
          </a:xfrm>
          <a:prstGeom prst="rect">
            <a:avLst/>
          </a:prstGeom>
          <a:solidFill>
            <a:srgbClr val="F8FAFC"/>
          </a:solidFill>
          <a:ln w="6350">
            <a:solidFill>
              <a:srgbClr val="E2E8F0"/>
            </a:solidFill>
            <a:prstDash val="solid"/>
          </a:ln>
        </p:spPr>
        <p:txBody>
          <a:bodyPr/>
          <a:lstStyle/>
          <a:p>
            <a:endParaRPr/>
          </a:p>
        </p:txBody>
      </p:sp>
      <p:sp>
        <p:nvSpPr>
          <p:cNvPr id="37" name="Text 35"/>
          <p:cNvSpPr txBox="1"/>
          <p:nvPr/>
        </p:nvSpPr>
        <p:spPr>
          <a:xfrm>
            <a:off x="365760" y="3803904"/>
            <a:ext cx="1655064" cy="365760"/>
          </a:xfrm>
          <a:prstGeom prst="rect">
            <a:avLst/>
          </a:prstGeom>
          <a:noFill/>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wishlist</a:t>
            </a:r>
            <a:endParaRPr lang="en-US" sz="1250" dirty="0"/>
          </a:p>
        </p:txBody>
      </p:sp>
      <p:sp>
        <p:nvSpPr>
          <p:cNvPr id="38" name="Shape 36"/>
          <p:cNvSpPr/>
          <p:nvPr/>
        </p:nvSpPr>
        <p:spPr>
          <a:xfrm>
            <a:off x="2148840" y="3758184"/>
            <a:ext cx="4572000" cy="420624"/>
          </a:xfrm>
          <a:prstGeom prst="rect">
            <a:avLst/>
          </a:prstGeom>
          <a:solidFill>
            <a:srgbClr val="F8FAFC"/>
          </a:solidFill>
          <a:ln w="6350">
            <a:solidFill>
              <a:srgbClr val="E2E8F0"/>
            </a:solidFill>
            <a:prstDash val="solid"/>
          </a:ln>
        </p:spPr>
        <p:txBody>
          <a:bodyPr/>
          <a:lstStyle/>
          <a:p>
            <a:endParaRPr/>
          </a:p>
        </p:txBody>
      </p:sp>
      <p:sp>
        <p:nvSpPr>
          <p:cNvPr id="39" name="Text 37"/>
          <p:cNvSpPr txBox="1"/>
          <p:nvPr/>
        </p:nvSpPr>
        <p:spPr>
          <a:xfrm>
            <a:off x="2240280" y="3803904"/>
            <a:ext cx="4443984" cy="36576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 tenant_id (FK), listing_id (FK), created_at</a:t>
            </a:r>
            <a:endParaRPr lang="en-US" sz="1150" dirty="0"/>
          </a:p>
        </p:txBody>
      </p:sp>
      <p:sp>
        <p:nvSpPr>
          <p:cNvPr id="40" name="Shape 38"/>
          <p:cNvSpPr/>
          <p:nvPr/>
        </p:nvSpPr>
        <p:spPr>
          <a:xfrm>
            <a:off x="6812280" y="3758184"/>
            <a:ext cx="1965960" cy="420624"/>
          </a:xfrm>
          <a:prstGeom prst="rect">
            <a:avLst/>
          </a:prstGeom>
          <a:solidFill>
            <a:srgbClr val="F8FAFC"/>
          </a:solidFill>
          <a:ln w="6350">
            <a:solidFill>
              <a:srgbClr val="E2E8F0"/>
            </a:solidFill>
            <a:prstDash val="solid"/>
          </a:ln>
        </p:spPr>
        <p:txBody>
          <a:bodyPr/>
          <a:lstStyle/>
          <a:p>
            <a:endParaRPr/>
          </a:p>
        </p:txBody>
      </p:sp>
      <p:sp>
        <p:nvSpPr>
          <p:cNvPr id="41" name="Text 39"/>
          <p:cNvSpPr txBox="1"/>
          <p:nvPr/>
        </p:nvSpPr>
        <p:spPr>
          <a:xfrm>
            <a:off x="6903720" y="3803904"/>
            <a:ext cx="1837944" cy="36576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Member 3</a:t>
            </a:r>
            <a:endParaRPr lang="en-US" sz="1150" dirty="0"/>
          </a:p>
        </p:txBody>
      </p:sp>
      <p:sp>
        <p:nvSpPr>
          <p:cNvPr id="42" name="Text 40"/>
          <p:cNvSpPr txBox="1"/>
          <p:nvPr/>
        </p:nvSpPr>
        <p:spPr>
          <a:xfrm>
            <a:off x="274320" y="4709160"/>
            <a:ext cx="8595360" cy="274320"/>
          </a:xfrm>
          <a:prstGeom prst="rect">
            <a:avLst/>
          </a:prstGeom>
          <a:noFill/>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FK = Foreign Key   |   Passwords stored as bcrypt hash — never plain text   |   UNIQUE constraint prevents duplicate requests / wishlist entries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Users\hp\Pictures\Screenshot (29).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841588" y="684201"/>
            <a:ext cx="6100263" cy="381491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668053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dirty="0">
                <a:solidFill>
                  <a:srgbClr val="2F5C97"/>
                </a:solidFill>
                <a:latin typeface="Aptos"/>
              </a:rPr>
              <a:t>SLIDE </a:t>
            </a:r>
            <a:r>
              <a:rPr sz="1000" b="1" dirty="0" smtClean="0">
                <a:solidFill>
                  <a:srgbClr val="2F5C97"/>
                </a:solidFill>
                <a:latin typeface="Aptos"/>
              </a:rPr>
              <a:t>1</a:t>
            </a:r>
            <a:r>
              <a:rPr lang="en-US" sz="1000" b="1" dirty="0" smtClean="0">
                <a:solidFill>
                  <a:srgbClr val="2F5C97"/>
                </a:solidFill>
                <a:latin typeface="Aptos"/>
              </a:rPr>
              <a:t>0 </a:t>
            </a:r>
            <a:r>
              <a:rPr sz="1000" b="1" dirty="0" smtClean="0">
                <a:solidFill>
                  <a:srgbClr val="2F5C97"/>
                </a:solidFill>
                <a:latin typeface="Aptos"/>
              </a:rPr>
              <a:t> </a:t>
            </a:r>
            <a:r>
              <a:rPr sz="1000" b="1" dirty="0">
                <a:solidFill>
                  <a:srgbClr val="2F5C97"/>
                </a:solidFill>
                <a:latin typeface="Aptos"/>
              </a:rPr>
              <a:t>|  MEMBER 3 — MANSORA AKTHER MIM  (202104028)</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Search, Request System &amp; Wishlist</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89888"/>
            <a:ext cx="8595360" cy="1078992"/>
          </a:xfrm>
          <a:prstGeom prst="rect">
            <a:avLst/>
          </a:prstGeom>
          <a:solidFill>
            <a:srgbClr val="DBEAFE"/>
          </a:solidFill>
        </p:spPr>
        <p:txBody>
          <a:bodyPr/>
          <a:lstStyle/>
          <a:p>
            <a:endParaRPr/>
          </a:p>
        </p:txBody>
      </p:sp>
      <p:sp>
        <p:nvSpPr>
          <p:cNvPr id="7" name="Text 5"/>
          <p:cNvSpPr txBox="1"/>
          <p:nvPr/>
        </p:nvSpPr>
        <p:spPr>
          <a:xfrm>
            <a:off x="457200" y="1499616"/>
            <a:ext cx="8229600" cy="365760"/>
          </a:xfrm>
          <a:prstGeom prst="rect">
            <a:avLst/>
          </a:prstGeom>
          <a:noFill/>
        </p:spPr>
        <p:txBody>
          <a:bodyPr wrap="square" lIns="0" tIns="0" rIns="0" bIns="0" rtlCol="0" anchor="ctr"/>
          <a:lstStyle/>
          <a:p>
            <a:pPr marL="0" indent="0">
              <a:buNone/>
            </a:pPr>
            <a:r>
              <a:rPr lang="en-US" sz="1450" b="1" dirty="0">
                <a:solidFill>
                  <a:srgbClr val="2563EB"/>
                </a:solidFill>
                <a:latin typeface="Calibri" pitchFamily="34" charset="0"/>
                <a:ea typeface="Calibri" pitchFamily="34" charset="-122"/>
                <a:cs typeface="Calibri" pitchFamily="34" charset="-120"/>
              </a:rPr>
              <a:t>Search &amp; Filter System</a:t>
            </a:r>
            <a:endParaRPr lang="en-US" sz="1450" dirty="0"/>
          </a:p>
        </p:txBody>
      </p:sp>
      <p:sp>
        <p:nvSpPr>
          <p:cNvPr id="8" name="Text 6"/>
          <p:cNvSpPr txBox="1"/>
          <p:nvPr/>
        </p:nvSpPr>
        <p:spPr>
          <a:xfrm>
            <a:off x="457200" y="1883664"/>
            <a:ext cx="8229600" cy="548640"/>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Tenant can filter all available listings by: Location (partial text match), Price range (minimum and maximum), Room type (single room, full house, mess) and a general Keyword that searches title, description and location at once.</a:t>
            </a:r>
            <a:endParaRPr lang="en-US" sz="1250" dirty="0"/>
          </a:p>
        </p:txBody>
      </p:sp>
      <p:sp>
        <p:nvSpPr>
          <p:cNvPr id="9" name="Shape 7"/>
          <p:cNvSpPr/>
          <p:nvPr/>
        </p:nvSpPr>
        <p:spPr>
          <a:xfrm>
            <a:off x="274320" y="2560320"/>
            <a:ext cx="8595360" cy="1078992"/>
          </a:xfrm>
          <a:prstGeom prst="rect">
            <a:avLst/>
          </a:prstGeom>
          <a:solidFill>
            <a:srgbClr val="DCFCE7"/>
          </a:solidFill>
        </p:spPr>
        <p:txBody>
          <a:bodyPr/>
          <a:lstStyle/>
          <a:p>
            <a:endParaRPr/>
          </a:p>
        </p:txBody>
      </p:sp>
      <p:sp>
        <p:nvSpPr>
          <p:cNvPr id="10" name="Text 8"/>
          <p:cNvSpPr txBox="1"/>
          <p:nvPr/>
        </p:nvSpPr>
        <p:spPr>
          <a:xfrm>
            <a:off x="457200" y="2670048"/>
            <a:ext cx="8229600" cy="365760"/>
          </a:xfrm>
          <a:prstGeom prst="rect">
            <a:avLst/>
          </a:prstGeom>
          <a:noFill/>
        </p:spPr>
        <p:txBody>
          <a:bodyPr wrap="square" lIns="0" tIns="0" rIns="0" bIns="0" rtlCol="0" anchor="ctr"/>
          <a:lstStyle/>
          <a:p>
            <a:pPr marL="0" indent="0">
              <a:buNone/>
            </a:pPr>
            <a:r>
              <a:rPr lang="en-US" sz="1450" b="1" dirty="0">
                <a:solidFill>
                  <a:srgbClr val="15803D"/>
                </a:solidFill>
                <a:latin typeface="Calibri" pitchFamily="34" charset="0"/>
                <a:ea typeface="Calibri" pitchFamily="34" charset="-122"/>
                <a:cs typeface="Calibri" pitchFamily="34" charset="-120"/>
              </a:rPr>
              <a:t>Interest Request System</a:t>
            </a:r>
            <a:endParaRPr lang="en-US" sz="1450" dirty="0"/>
          </a:p>
        </p:txBody>
      </p:sp>
      <p:sp>
        <p:nvSpPr>
          <p:cNvPr id="11" name="Text 9"/>
          <p:cNvSpPr txBox="1"/>
          <p:nvPr/>
        </p:nvSpPr>
        <p:spPr>
          <a:xfrm>
            <a:off x="457200" y="3054096"/>
            <a:ext cx="8229600" cy="548640"/>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Tenant clicks "I am Interested" on any listing. A request record is created with status Pending. The owner sees all incoming requests on their dashboard and clicks Accept or Reject. On acceptance, the tenant gains access to the owner contact details.</a:t>
            </a:r>
            <a:endParaRPr lang="en-US" sz="1250" dirty="0"/>
          </a:p>
        </p:txBody>
      </p:sp>
      <p:sp>
        <p:nvSpPr>
          <p:cNvPr id="12" name="Shape 10"/>
          <p:cNvSpPr/>
          <p:nvPr/>
        </p:nvSpPr>
        <p:spPr>
          <a:xfrm>
            <a:off x="274320" y="3730752"/>
            <a:ext cx="8595360" cy="1078992"/>
          </a:xfrm>
          <a:prstGeom prst="rect">
            <a:avLst/>
          </a:prstGeom>
          <a:solidFill>
            <a:srgbClr val="EDE9FE"/>
          </a:solidFill>
        </p:spPr>
        <p:txBody>
          <a:bodyPr/>
          <a:lstStyle/>
          <a:p>
            <a:endParaRPr/>
          </a:p>
        </p:txBody>
      </p:sp>
      <p:sp>
        <p:nvSpPr>
          <p:cNvPr id="13" name="Text 11"/>
          <p:cNvSpPr txBox="1"/>
          <p:nvPr/>
        </p:nvSpPr>
        <p:spPr>
          <a:xfrm>
            <a:off x="457200" y="3840480"/>
            <a:ext cx="8229600" cy="365760"/>
          </a:xfrm>
          <a:prstGeom prst="rect">
            <a:avLst/>
          </a:prstGeom>
          <a:noFill/>
        </p:spPr>
        <p:txBody>
          <a:bodyPr wrap="square" lIns="0" tIns="0" rIns="0" bIns="0" rtlCol="0" anchor="ctr"/>
          <a:lstStyle/>
          <a:p>
            <a:pPr marL="0" indent="0">
              <a:buNone/>
            </a:pPr>
            <a:r>
              <a:rPr lang="en-US" sz="1450" b="1" dirty="0">
                <a:solidFill>
                  <a:srgbClr val="6D28D9"/>
                </a:solidFill>
                <a:latin typeface="Calibri" pitchFamily="34" charset="0"/>
                <a:ea typeface="Calibri" pitchFamily="34" charset="-122"/>
                <a:cs typeface="Calibri" pitchFamily="34" charset="-120"/>
              </a:rPr>
              <a:t>Wishlist — Save for Later</a:t>
            </a:r>
            <a:endParaRPr lang="en-US" sz="1450" dirty="0"/>
          </a:p>
        </p:txBody>
      </p:sp>
      <p:sp>
        <p:nvSpPr>
          <p:cNvPr id="14" name="Text 12"/>
          <p:cNvSpPr txBox="1"/>
          <p:nvPr/>
        </p:nvSpPr>
        <p:spPr>
          <a:xfrm>
            <a:off x="457200" y="4224528"/>
            <a:ext cx="8229600" cy="548640"/>
          </a:xfrm>
          <a:prstGeom prst="rect">
            <a:avLst/>
          </a:prstGeom>
          <a:noFill/>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Tenant can bookmark any listing using a heart/save button on the listing card. The button toggles: clicking again removes the listing. A "My Saved Listings" page shows the full wishlist so the tenant can revisit and compare options easily.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dirty="0">
                <a:solidFill>
                  <a:srgbClr val="2F5C97"/>
                </a:solidFill>
                <a:latin typeface="Aptos"/>
              </a:rPr>
              <a:t>SLIDE </a:t>
            </a:r>
            <a:r>
              <a:rPr sz="1000" b="1" dirty="0" smtClean="0">
                <a:solidFill>
                  <a:srgbClr val="2F5C97"/>
                </a:solidFill>
                <a:latin typeface="Aptos"/>
              </a:rPr>
              <a:t>1</a:t>
            </a:r>
            <a:r>
              <a:rPr lang="en-US" sz="1000" b="1" dirty="0" smtClean="0">
                <a:solidFill>
                  <a:srgbClr val="2F5C97"/>
                </a:solidFill>
                <a:latin typeface="Aptos"/>
              </a:rPr>
              <a:t>1  </a:t>
            </a:r>
            <a:r>
              <a:rPr sz="1000" b="1" dirty="0" smtClean="0">
                <a:solidFill>
                  <a:srgbClr val="2F5C97"/>
                </a:solidFill>
                <a:latin typeface="Aptos"/>
              </a:rPr>
              <a:t>|  </a:t>
            </a:r>
            <a:r>
              <a:rPr sz="1000" b="1" dirty="0">
                <a:solidFill>
                  <a:srgbClr val="2F5C97"/>
                </a:solidFill>
                <a:latin typeface="Aptos"/>
              </a:rPr>
              <a:t>MEMBER 3 — API ROUTES</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Search, Request &amp; Wishlist API Endpoints</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71600"/>
            <a:ext cx="1097280" cy="347472"/>
          </a:xfrm>
          <a:prstGeom prst="rect">
            <a:avLst/>
          </a:prstGeom>
          <a:solidFill>
            <a:srgbClr val="1A2C45"/>
          </a:solidFill>
        </p:spPr>
        <p:txBody>
          <a:bodyPr/>
          <a:lstStyle/>
          <a:p>
            <a:endParaRPr/>
          </a:p>
        </p:txBody>
      </p:sp>
      <p:sp>
        <p:nvSpPr>
          <p:cNvPr id="7" name="Text 5"/>
          <p:cNvSpPr txBox="1"/>
          <p:nvPr/>
        </p:nvSpPr>
        <p:spPr>
          <a:xfrm>
            <a:off x="365760" y="1408176"/>
            <a:ext cx="987552" cy="274320"/>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p>
        </p:txBody>
      </p:sp>
      <p:sp>
        <p:nvSpPr>
          <p:cNvPr id="8" name="Shape 6"/>
          <p:cNvSpPr/>
          <p:nvPr/>
        </p:nvSpPr>
        <p:spPr>
          <a:xfrm>
            <a:off x="1463040" y="1371600"/>
            <a:ext cx="3520440" cy="347472"/>
          </a:xfrm>
          <a:prstGeom prst="rect">
            <a:avLst/>
          </a:prstGeom>
          <a:solidFill>
            <a:srgbClr val="1A2C45"/>
          </a:solidFill>
        </p:spPr>
        <p:txBody>
          <a:bodyPr/>
          <a:lstStyle/>
          <a:p>
            <a:endParaRPr/>
          </a:p>
        </p:txBody>
      </p:sp>
      <p:sp>
        <p:nvSpPr>
          <p:cNvPr id="9" name="Text 7"/>
          <p:cNvSpPr txBox="1"/>
          <p:nvPr/>
        </p:nvSpPr>
        <p:spPr>
          <a:xfrm>
            <a:off x="1554480" y="1408176"/>
            <a:ext cx="3410712" cy="274320"/>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Endpoint</a:t>
            </a:r>
            <a:endParaRPr lang="en-US" sz="1200" dirty="0"/>
          </a:p>
        </p:txBody>
      </p:sp>
      <p:sp>
        <p:nvSpPr>
          <p:cNvPr id="10" name="Shape 8"/>
          <p:cNvSpPr/>
          <p:nvPr/>
        </p:nvSpPr>
        <p:spPr>
          <a:xfrm>
            <a:off x="5074920" y="1371600"/>
            <a:ext cx="3703320" cy="347472"/>
          </a:xfrm>
          <a:prstGeom prst="rect">
            <a:avLst/>
          </a:prstGeom>
          <a:solidFill>
            <a:srgbClr val="1A2C45"/>
          </a:solidFill>
        </p:spPr>
        <p:txBody>
          <a:bodyPr/>
          <a:lstStyle/>
          <a:p>
            <a:endParaRPr/>
          </a:p>
        </p:txBody>
      </p:sp>
      <p:sp>
        <p:nvSpPr>
          <p:cNvPr id="11" name="Text 9"/>
          <p:cNvSpPr txBox="1"/>
          <p:nvPr/>
        </p:nvSpPr>
        <p:spPr>
          <a:xfrm>
            <a:off x="5166360" y="1408176"/>
            <a:ext cx="3593592" cy="274320"/>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p>
        </p:txBody>
      </p:sp>
      <p:sp>
        <p:nvSpPr>
          <p:cNvPr id="12" name="Shape 10"/>
          <p:cNvSpPr/>
          <p:nvPr/>
        </p:nvSpPr>
        <p:spPr>
          <a:xfrm>
            <a:off x="274320" y="1746504"/>
            <a:ext cx="8503920" cy="347472"/>
          </a:xfrm>
          <a:prstGeom prst="rect">
            <a:avLst/>
          </a:prstGeom>
          <a:solidFill>
            <a:srgbClr val="F8FAFC"/>
          </a:solidFill>
          <a:ln w="5080">
            <a:solidFill>
              <a:srgbClr val="E2E8F0"/>
            </a:solidFill>
            <a:prstDash val="solid"/>
          </a:ln>
        </p:spPr>
        <p:txBody>
          <a:bodyPr/>
          <a:lstStyle/>
          <a:p>
            <a:endParaRPr/>
          </a:p>
        </p:txBody>
      </p:sp>
      <p:sp>
        <p:nvSpPr>
          <p:cNvPr id="13" name="Shape 11"/>
          <p:cNvSpPr/>
          <p:nvPr/>
        </p:nvSpPr>
        <p:spPr>
          <a:xfrm>
            <a:off x="347472" y="1801368"/>
            <a:ext cx="914400" cy="228600"/>
          </a:xfrm>
          <a:prstGeom prst="rect">
            <a:avLst/>
          </a:prstGeom>
          <a:solidFill>
            <a:srgbClr val="2563EB"/>
          </a:solidFill>
        </p:spPr>
        <p:txBody>
          <a:bodyPr/>
          <a:lstStyle/>
          <a:p>
            <a:endParaRPr/>
          </a:p>
        </p:txBody>
      </p:sp>
      <p:sp>
        <p:nvSpPr>
          <p:cNvPr id="14" name="Text 12"/>
          <p:cNvSpPr txBox="1"/>
          <p:nvPr/>
        </p:nvSpPr>
        <p:spPr>
          <a:xfrm>
            <a:off x="347472" y="180136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GET</a:t>
            </a:r>
            <a:endParaRPr lang="en-US" sz="950" dirty="0"/>
          </a:p>
        </p:txBody>
      </p:sp>
      <p:sp>
        <p:nvSpPr>
          <p:cNvPr id="15" name="Text 13"/>
          <p:cNvSpPr txBox="1"/>
          <p:nvPr/>
        </p:nvSpPr>
        <p:spPr>
          <a:xfrm>
            <a:off x="1353312" y="181051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/api/search</a:t>
            </a:r>
            <a:endParaRPr lang="en-US" sz="1100" dirty="0"/>
          </a:p>
        </p:txBody>
      </p:sp>
      <p:sp>
        <p:nvSpPr>
          <p:cNvPr id="16" name="Text 14"/>
          <p:cNvSpPr txBox="1"/>
          <p:nvPr/>
        </p:nvSpPr>
        <p:spPr>
          <a:xfrm>
            <a:off x="5029200" y="181051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Search and filter listings — public</a:t>
            </a:r>
            <a:endParaRPr lang="en-US" sz="1100" dirty="0"/>
          </a:p>
        </p:txBody>
      </p:sp>
      <p:sp>
        <p:nvSpPr>
          <p:cNvPr id="17" name="Shape 15"/>
          <p:cNvSpPr/>
          <p:nvPr/>
        </p:nvSpPr>
        <p:spPr>
          <a:xfrm>
            <a:off x="274320" y="2112264"/>
            <a:ext cx="8503920" cy="347472"/>
          </a:xfrm>
          <a:prstGeom prst="rect">
            <a:avLst/>
          </a:prstGeom>
          <a:solidFill>
            <a:srgbClr val="FFFFFF"/>
          </a:solidFill>
          <a:ln w="5080">
            <a:solidFill>
              <a:srgbClr val="E2E8F0"/>
            </a:solidFill>
            <a:prstDash val="solid"/>
          </a:ln>
        </p:spPr>
        <p:txBody>
          <a:bodyPr/>
          <a:lstStyle/>
          <a:p>
            <a:endParaRPr/>
          </a:p>
        </p:txBody>
      </p:sp>
      <p:sp>
        <p:nvSpPr>
          <p:cNvPr id="18" name="Shape 16"/>
          <p:cNvSpPr/>
          <p:nvPr/>
        </p:nvSpPr>
        <p:spPr>
          <a:xfrm>
            <a:off x="347472" y="2167128"/>
            <a:ext cx="914400" cy="228600"/>
          </a:xfrm>
          <a:prstGeom prst="rect">
            <a:avLst/>
          </a:prstGeom>
          <a:solidFill>
            <a:srgbClr val="2563EB"/>
          </a:solidFill>
        </p:spPr>
        <p:txBody>
          <a:bodyPr/>
          <a:lstStyle/>
          <a:p>
            <a:endParaRPr/>
          </a:p>
        </p:txBody>
      </p:sp>
      <p:sp>
        <p:nvSpPr>
          <p:cNvPr id="19" name="Text 17"/>
          <p:cNvSpPr txBox="1"/>
          <p:nvPr/>
        </p:nvSpPr>
        <p:spPr>
          <a:xfrm>
            <a:off x="347472" y="216712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GET</a:t>
            </a:r>
            <a:endParaRPr lang="en-US" sz="950" dirty="0"/>
          </a:p>
        </p:txBody>
      </p:sp>
      <p:sp>
        <p:nvSpPr>
          <p:cNvPr id="20" name="Text 18"/>
          <p:cNvSpPr txBox="1"/>
          <p:nvPr/>
        </p:nvSpPr>
        <p:spPr>
          <a:xfrm>
            <a:off x="1353312" y="217627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/api/search/:id</a:t>
            </a:r>
            <a:endParaRPr lang="en-US" sz="1100" dirty="0"/>
          </a:p>
        </p:txBody>
      </p:sp>
      <p:sp>
        <p:nvSpPr>
          <p:cNvPr id="21" name="Text 19"/>
          <p:cNvSpPr txBox="1"/>
          <p:nvPr/>
        </p:nvSpPr>
        <p:spPr>
          <a:xfrm>
            <a:off x="5029200" y="217627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Full details of one listing</a:t>
            </a:r>
            <a:endParaRPr lang="en-US" sz="1100" dirty="0"/>
          </a:p>
        </p:txBody>
      </p:sp>
      <p:sp>
        <p:nvSpPr>
          <p:cNvPr id="22" name="Shape 20"/>
          <p:cNvSpPr/>
          <p:nvPr/>
        </p:nvSpPr>
        <p:spPr>
          <a:xfrm>
            <a:off x="274320" y="2478024"/>
            <a:ext cx="8503920" cy="347472"/>
          </a:xfrm>
          <a:prstGeom prst="rect">
            <a:avLst/>
          </a:prstGeom>
          <a:solidFill>
            <a:srgbClr val="F8FAFC"/>
          </a:solidFill>
          <a:ln w="5080">
            <a:solidFill>
              <a:srgbClr val="E2E8F0"/>
            </a:solidFill>
            <a:prstDash val="solid"/>
          </a:ln>
        </p:spPr>
        <p:txBody>
          <a:bodyPr/>
          <a:lstStyle/>
          <a:p>
            <a:endParaRPr/>
          </a:p>
        </p:txBody>
      </p:sp>
      <p:sp>
        <p:nvSpPr>
          <p:cNvPr id="23" name="Shape 21"/>
          <p:cNvSpPr/>
          <p:nvPr/>
        </p:nvSpPr>
        <p:spPr>
          <a:xfrm>
            <a:off x="347472" y="2532888"/>
            <a:ext cx="914400" cy="228600"/>
          </a:xfrm>
          <a:prstGeom prst="rect">
            <a:avLst/>
          </a:prstGeom>
          <a:solidFill>
            <a:srgbClr val="15803D"/>
          </a:solidFill>
        </p:spPr>
        <p:txBody>
          <a:bodyPr/>
          <a:lstStyle/>
          <a:p>
            <a:endParaRPr/>
          </a:p>
        </p:txBody>
      </p:sp>
      <p:sp>
        <p:nvSpPr>
          <p:cNvPr id="24" name="Text 22"/>
          <p:cNvSpPr txBox="1"/>
          <p:nvPr/>
        </p:nvSpPr>
        <p:spPr>
          <a:xfrm>
            <a:off x="347472" y="253288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POST</a:t>
            </a:r>
            <a:endParaRPr lang="en-US" sz="950" dirty="0"/>
          </a:p>
        </p:txBody>
      </p:sp>
      <p:sp>
        <p:nvSpPr>
          <p:cNvPr id="25" name="Text 23"/>
          <p:cNvSpPr txBox="1"/>
          <p:nvPr/>
        </p:nvSpPr>
        <p:spPr>
          <a:xfrm>
            <a:off x="1353312" y="254203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/api/requests</a:t>
            </a:r>
            <a:endParaRPr lang="en-US" sz="1100" dirty="0"/>
          </a:p>
        </p:txBody>
      </p:sp>
      <p:sp>
        <p:nvSpPr>
          <p:cNvPr id="26" name="Text 24"/>
          <p:cNvSpPr txBox="1"/>
          <p:nvPr/>
        </p:nvSpPr>
        <p:spPr>
          <a:xfrm>
            <a:off x="5029200" y="254203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Tenant sends interest request (tenant only)</a:t>
            </a:r>
            <a:endParaRPr lang="en-US" sz="1100" dirty="0"/>
          </a:p>
        </p:txBody>
      </p:sp>
      <p:sp>
        <p:nvSpPr>
          <p:cNvPr id="27" name="Shape 25"/>
          <p:cNvSpPr/>
          <p:nvPr/>
        </p:nvSpPr>
        <p:spPr>
          <a:xfrm>
            <a:off x="274320" y="2843784"/>
            <a:ext cx="8503920" cy="347472"/>
          </a:xfrm>
          <a:prstGeom prst="rect">
            <a:avLst/>
          </a:prstGeom>
          <a:solidFill>
            <a:srgbClr val="FFFFFF"/>
          </a:solidFill>
          <a:ln w="5080">
            <a:solidFill>
              <a:srgbClr val="E2E8F0"/>
            </a:solidFill>
            <a:prstDash val="solid"/>
          </a:ln>
        </p:spPr>
        <p:txBody>
          <a:bodyPr/>
          <a:lstStyle/>
          <a:p>
            <a:endParaRPr/>
          </a:p>
        </p:txBody>
      </p:sp>
      <p:sp>
        <p:nvSpPr>
          <p:cNvPr id="28" name="Shape 26"/>
          <p:cNvSpPr/>
          <p:nvPr/>
        </p:nvSpPr>
        <p:spPr>
          <a:xfrm>
            <a:off x="347472" y="2898648"/>
            <a:ext cx="914400" cy="228600"/>
          </a:xfrm>
          <a:prstGeom prst="rect">
            <a:avLst/>
          </a:prstGeom>
          <a:solidFill>
            <a:srgbClr val="2563EB"/>
          </a:solidFill>
        </p:spPr>
        <p:txBody>
          <a:bodyPr/>
          <a:lstStyle/>
          <a:p>
            <a:endParaRPr/>
          </a:p>
        </p:txBody>
      </p:sp>
      <p:sp>
        <p:nvSpPr>
          <p:cNvPr id="29" name="Text 27"/>
          <p:cNvSpPr txBox="1"/>
          <p:nvPr/>
        </p:nvSpPr>
        <p:spPr>
          <a:xfrm>
            <a:off x="347472" y="289864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GET</a:t>
            </a:r>
            <a:endParaRPr lang="en-US" sz="950" dirty="0"/>
          </a:p>
        </p:txBody>
      </p:sp>
      <p:sp>
        <p:nvSpPr>
          <p:cNvPr id="30" name="Text 28"/>
          <p:cNvSpPr txBox="1"/>
          <p:nvPr/>
        </p:nvSpPr>
        <p:spPr>
          <a:xfrm>
            <a:off x="1353312" y="290779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/api/requests/my-requests</a:t>
            </a:r>
            <a:endParaRPr lang="en-US" sz="1100" dirty="0"/>
          </a:p>
        </p:txBody>
      </p:sp>
      <p:sp>
        <p:nvSpPr>
          <p:cNvPr id="31" name="Text 29"/>
          <p:cNvSpPr txBox="1"/>
          <p:nvPr/>
        </p:nvSpPr>
        <p:spPr>
          <a:xfrm>
            <a:off x="5029200" y="290779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Tenant views own request history</a:t>
            </a:r>
            <a:endParaRPr lang="en-US" sz="1100" dirty="0"/>
          </a:p>
        </p:txBody>
      </p:sp>
      <p:sp>
        <p:nvSpPr>
          <p:cNvPr id="32" name="Shape 30"/>
          <p:cNvSpPr/>
          <p:nvPr/>
        </p:nvSpPr>
        <p:spPr>
          <a:xfrm>
            <a:off x="274320" y="3209544"/>
            <a:ext cx="8503920" cy="347472"/>
          </a:xfrm>
          <a:prstGeom prst="rect">
            <a:avLst/>
          </a:prstGeom>
          <a:solidFill>
            <a:srgbClr val="F8FAFC"/>
          </a:solidFill>
          <a:ln w="5080">
            <a:solidFill>
              <a:srgbClr val="E2E8F0"/>
            </a:solidFill>
            <a:prstDash val="solid"/>
          </a:ln>
        </p:spPr>
        <p:txBody>
          <a:bodyPr/>
          <a:lstStyle/>
          <a:p>
            <a:endParaRPr/>
          </a:p>
        </p:txBody>
      </p:sp>
      <p:sp>
        <p:nvSpPr>
          <p:cNvPr id="33" name="Shape 31"/>
          <p:cNvSpPr/>
          <p:nvPr/>
        </p:nvSpPr>
        <p:spPr>
          <a:xfrm>
            <a:off x="347472" y="3264408"/>
            <a:ext cx="914400" cy="228600"/>
          </a:xfrm>
          <a:prstGeom prst="rect">
            <a:avLst/>
          </a:prstGeom>
          <a:solidFill>
            <a:srgbClr val="2563EB"/>
          </a:solidFill>
        </p:spPr>
        <p:txBody>
          <a:bodyPr/>
          <a:lstStyle/>
          <a:p>
            <a:endParaRPr/>
          </a:p>
        </p:txBody>
      </p:sp>
      <p:sp>
        <p:nvSpPr>
          <p:cNvPr id="34" name="Text 32"/>
          <p:cNvSpPr txBox="1"/>
          <p:nvPr/>
        </p:nvSpPr>
        <p:spPr>
          <a:xfrm>
            <a:off x="347472" y="326440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GET</a:t>
            </a:r>
            <a:endParaRPr lang="en-US" sz="950" dirty="0"/>
          </a:p>
        </p:txBody>
      </p:sp>
      <p:sp>
        <p:nvSpPr>
          <p:cNvPr id="35" name="Text 33"/>
          <p:cNvSpPr txBox="1"/>
          <p:nvPr/>
        </p:nvSpPr>
        <p:spPr>
          <a:xfrm>
            <a:off x="1353312" y="327355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/api/requests/owner-requests</a:t>
            </a:r>
            <a:endParaRPr lang="en-US" sz="1100" dirty="0"/>
          </a:p>
        </p:txBody>
      </p:sp>
      <p:sp>
        <p:nvSpPr>
          <p:cNvPr id="36" name="Text 34"/>
          <p:cNvSpPr txBox="1"/>
          <p:nvPr/>
        </p:nvSpPr>
        <p:spPr>
          <a:xfrm>
            <a:off x="5029200" y="327355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Owner sees all requests on their listings</a:t>
            </a:r>
            <a:endParaRPr lang="en-US" sz="1100" dirty="0"/>
          </a:p>
        </p:txBody>
      </p:sp>
      <p:sp>
        <p:nvSpPr>
          <p:cNvPr id="37" name="Shape 35"/>
          <p:cNvSpPr/>
          <p:nvPr/>
        </p:nvSpPr>
        <p:spPr>
          <a:xfrm>
            <a:off x="274320" y="3575304"/>
            <a:ext cx="8503920" cy="347472"/>
          </a:xfrm>
          <a:prstGeom prst="rect">
            <a:avLst/>
          </a:prstGeom>
          <a:solidFill>
            <a:srgbClr val="FFFFFF"/>
          </a:solidFill>
          <a:ln w="5080">
            <a:solidFill>
              <a:srgbClr val="E2E8F0"/>
            </a:solidFill>
            <a:prstDash val="solid"/>
          </a:ln>
        </p:spPr>
        <p:txBody>
          <a:bodyPr/>
          <a:lstStyle/>
          <a:p>
            <a:endParaRPr/>
          </a:p>
        </p:txBody>
      </p:sp>
      <p:sp>
        <p:nvSpPr>
          <p:cNvPr id="38" name="Shape 36"/>
          <p:cNvSpPr/>
          <p:nvPr/>
        </p:nvSpPr>
        <p:spPr>
          <a:xfrm>
            <a:off x="347472" y="3630168"/>
            <a:ext cx="914400" cy="228600"/>
          </a:xfrm>
          <a:prstGeom prst="rect">
            <a:avLst/>
          </a:prstGeom>
          <a:solidFill>
            <a:srgbClr val="C2410C"/>
          </a:solidFill>
        </p:spPr>
        <p:txBody>
          <a:bodyPr/>
          <a:lstStyle/>
          <a:p>
            <a:endParaRPr/>
          </a:p>
        </p:txBody>
      </p:sp>
      <p:sp>
        <p:nvSpPr>
          <p:cNvPr id="39" name="Text 37"/>
          <p:cNvSpPr txBox="1"/>
          <p:nvPr/>
        </p:nvSpPr>
        <p:spPr>
          <a:xfrm>
            <a:off x="347472" y="363016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PUT</a:t>
            </a:r>
            <a:endParaRPr lang="en-US" sz="950" dirty="0"/>
          </a:p>
        </p:txBody>
      </p:sp>
      <p:sp>
        <p:nvSpPr>
          <p:cNvPr id="40" name="Text 38"/>
          <p:cNvSpPr txBox="1"/>
          <p:nvPr/>
        </p:nvSpPr>
        <p:spPr>
          <a:xfrm>
            <a:off x="1353312" y="363931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/api/requests/:id</a:t>
            </a:r>
            <a:endParaRPr lang="en-US" sz="1100" dirty="0"/>
          </a:p>
        </p:txBody>
      </p:sp>
      <p:sp>
        <p:nvSpPr>
          <p:cNvPr id="41" name="Text 39"/>
          <p:cNvSpPr txBox="1"/>
          <p:nvPr/>
        </p:nvSpPr>
        <p:spPr>
          <a:xfrm>
            <a:off x="5029200" y="363931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Owner accepts or rejects a request</a:t>
            </a:r>
            <a:endParaRPr lang="en-US" sz="1100" dirty="0"/>
          </a:p>
        </p:txBody>
      </p:sp>
      <p:sp>
        <p:nvSpPr>
          <p:cNvPr id="42" name="Shape 40"/>
          <p:cNvSpPr/>
          <p:nvPr/>
        </p:nvSpPr>
        <p:spPr>
          <a:xfrm>
            <a:off x="274320" y="3941064"/>
            <a:ext cx="8503920" cy="347472"/>
          </a:xfrm>
          <a:prstGeom prst="rect">
            <a:avLst/>
          </a:prstGeom>
          <a:solidFill>
            <a:srgbClr val="F8FAFC"/>
          </a:solidFill>
          <a:ln w="5080">
            <a:solidFill>
              <a:srgbClr val="E2E8F0"/>
            </a:solidFill>
            <a:prstDash val="solid"/>
          </a:ln>
        </p:spPr>
        <p:txBody>
          <a:bodyPr/>
          <a:lstStyle/>
          <a:p>
            <a:endParaRPr/>
          </a:p>
        </p:txBody>
      </p:sp>
      <p:sp>
        <p:nvSpPr>
          <p:cNvPr id="43" name="Shape 41"/>
          <p:cNvSpPr/>
          <p:nvPr/>
        </p:nvSpPr>
        <p:spPr>
          <a:xfrm>
            <a:off x="347472" y="3995928"/>
            <a:ext cx="914400" cy="228600"/>
          </a:xfrm>
          <a:prstGeom prst="rect">
            <a:avLst/>
          </a:prstGeom>
          <a:solidFill>
            <a:srgbClr val="B91C1C"/>
          </a:solidFill>
        </p:spPr>
        <p:txBody>
          <a:bodyPr/>
          <a:lstStyle/>
          <a:p>
            <a:endParaRPr/>
          </a:p>
        </p:txBody>
      </p:sp>
      <p:sp>
        <p:nvSpPr>
          <p:cNvPr id="44" name="Text 42"/>
          <p:cNvSpPr txBox="1"/>
          <p:nvPr/>
        </p:nvSpPr>
        <p:spPr>
          <a:xfrm>
            <a:off x="347472" y="399592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DELETE</a:t>
            </a:r>
            <a:endParaRPr lang="en-US" sz="950" dirty="0"/>
          </a:p>
        </p:txBody>
      </p:sp>
      <p:sp>
        <p:nvSpPr>
          <p:cNvPr id="45" name="Text 43"/>
          <p:cNvSpPr txBox="1"/>
          <p:nvPr/>
        </p:nvSpPr>
        <p:spPr>
          <a:xfrm>
            <a:off x="1353312" y="400507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/api/requests/:id</a:t>
            </a:r>
            <a:endParaRPr lang="en-US" sz="1100" dirty="0"/>
          </a:p>
        </p:txBody>
      </p:sp>
      <p:sp>
        <p:nvSpPr>
          <p:cNvPr id="46" name="Text 44"/>
          <p:cNvSpPr txBox="1"/>
          <p:nvPr/>
        </p:nvSpPr>
        <p:spPr>
          <a:xfrm>
            <a:off x="5029200" y="400507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Tenant cancels a pending request</a:t>
            </a:r>
            <a:endParaRPr lang="en-US" sz="1100" dirty="0"/>
          </a:p>
        </p:txBody>
      </p:sp>
      <p:sp>
        <p:nvSpPr>
          <p:cNvPr id="47" name="Shape 45"/>
          <p:cNvSpPr/>
          <p:nvPr/>
        </p:nvSpPr>
        <p:spPr>
          <a:xfrm>
            <a:off x="274320" y="4306824"/>
            <a:ext cx="8503920" cy="347472"/>
          </a:xfrm>
          <a:prstGeom prst="rect">
            <a:avLst/>
          </a:prstGeom>
          <a:solidFill>
            <a:srgbClr val="FFFFFF"/>
          </a:solidFill>
          <a:ln w="5080">
            <a:solidFill>
              <a:srgbClr val="E2E8F0"/>
            </a:solidFill>
            <a:prstDash val="solid"/>
          </a:ln>
        </p:spPr>
        <p:txBody>
          <a:bodyPr/>
          <a:lstStyle/>
          <a:p>
            <a:endParaRPr/>
          </a:p>
        </p:txBody>
      </p:sp>
      <p:sp>
        <p:nvSpPr>
          <p:cNvPr id="48" name="Shape 46"/>
          <p:cNvSpPr/>
          <p:nvPr/>
        </p:nvSpPr>
        <p:spPr>
          <a:xfrm>
            <a:off x="347472" y="4361688"/>
            <a:ext cx="914400" cy="228600"/>
          </a:xfrm>
          <a:prstGeom prst="rect">
            <a:avLst/>
          </a:prstGeom>
          <a:solidFill>
            <a:srgbClr val="2563EB"/>
          </a:solidFill>
        </p:spPr>
        <p:txBody>
          <a:bodyPr/>
          <a:lstStyle/>
          <a:p>
            <a:endParaRPr/>
          </a:p>
        </p:txBody>
      </p:sp>
      <p:sp>
        <p:nvSpPr>
          <p:cNvPr id="49" name="Text 47"/>
          <p:cNvSpPr txBox="1"/>
          <p:nvPr/>
        </p:nvSpPr>
        <p:spPr>
          <a:xfrm>
            <a:off x="347472" y="436168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GET</a:t>
            </a:r>
            <a:endParaRPr lang="en-US" sz="950" dirty="0"/>
          </a:p>
        </p:txBody>
      </p:sp>
      <p:sp>
        <p:nvSpPr>
          <p:cNvPr id="50" name="Text 48"/>
          <p:cNvSpPr txBox="1"/>
          <p:nvPr/>
        </p:nvSpPr>
        <p:spPr>
          <a:xfrm>
            <a:off x="1353312" y="437083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/api/wishlist</a:t>
            </a:r>
            <a:endParaRPr lang="en-US" sz="1100" dirty="0"/>
          </a:p>
        </p:txBody>
      </p:sp>
      <p:sp>
        <p:nvSpPr>
          <p:cNvPr id="51" name="Text 49"/>
          <p:cNvSpPr txBox="1"/>
          <p:nvPr/>
        </p:nvSpPr>
        <p:spPr>
          <a:xfrm>
            <a:off x="5029200" y="437083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Get all saved listings for tenant</a:t>
            </a:r>
            <a:endParaRPr lang="en-US" sz="1100" dirty="0"/>
          </a:p>
        </p:txBody>
      </p:sp>
      <p:sp>
        <p:nvSpPr>
          <p:cNvPr id="52" name="Shape 50"/>
          <p:cNvSpPr/>
          <p:nvPr/>
        </p:nvSpPr>
        <p:spPr>
          <a:xfrm>
            <a:off x="274320" y="4672584"/>
            <a:ext cx="8503920" cy="347472"/>
          </a:xfrm>
          <a:prstGeom prst="rect">
            <a:avLst/>
          </a:prstGeom>
          <a:solidFill>
            <a:srgbClr val="F8FAFC"/>
          </a:solidFill>
          <a:ln w="5080">
            <a:solidFill>
              <a:srgbClr val="E2E8F0"/>
            </a:solidFill>
            <a:prstDash val="solid"/>
          </a:ln>
        </p:spPr>
        <p:txBody>
          <a:bodyPr/>
          <a:lstStyle/>
          <a:p>
            <a:endParaRPr/>
          </a:p>
        </p:txBody>
      </p:sp>
      <p:sp>
        <p:nvSpPr>
          <p:cNvPr id="53" name="Shape 51"/>
          <p:cNvSpPr/>
          <p:nvPr/>
        </p:nvSpPr>
        <p:spPr>
          <a:xfrm>
            <a:off x="347472" y="4727448"/>
            <a:ext cx="914400" cy="228600"/>
          </a:xfrm>
          <a:prstGeom prst="rect">
            <a:avLst/>
          </a:prstGeom>
          <a:solidFill>
            <a:srgbClr val="15803D"/>
          </a:solidFill>
        </p:spPr>
        <p:txBody>
          <a:bodyPr/>
          <a:lstStyle/>
          <a:p>
            <a:endParaRPr/>
          </a:p>
        </p:txBody>
      </p:sp>
      <p:sp>
        <p:nvSpPr>
          <p:cNvPr id="54" name="Text 52"/>
          <p:cNvSpPr txBox="1"/>
          <p:nvPr/>
        </p:nvSpPr>
        <p:spPr>
          <a:xfrm>
            <a:off x="347472" y="472744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POST</a:t>
            </a:r>
            <a:endParaRPr lang="en-US" sz="950" dirty="0"/>
          </a:p>
        </p:txBody>
      </p:sp>
      <p:sp>
        <p:nvSpPr>
          <p:cNvPr id="55" name="Text 53"/>
          <p:cNvSpPr txBox="1"/>
          <p:nvPr/>
        </p:nvSpPr>
        <p:spPr>
          <a:xfrm>
            <a:off x="1353312" y="473659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/api/wishlist/:id</a:t>
            </a:r>
            <a:endParaRPr lang="en-US" sz="1100" dirty="0"/>
          </a:p>
        </p:txBody>
      </p:sp>
      <p:sp>
        <p:nvSpPr>
          <p:cNvPr id="56" name="Text 54"/>
          <p:cNvSpPr txBox="1"/>
          <p:nvPr/>
        </p:nvSpPr>
        <p:spPr>
          <a:xfrm>
            <a:off x="5029200" y="473659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Toggle save / remove for a listing</a:t>
            </a:r>
            <a:endParaRPr lang="en-US" sz="1100" dirty="0"/>
          </a:p>
        </p:txBody>
      </p:sp>
      <p:sp>
        <p:nvSpPr>
          <p:cNvPr id="57" name="Shape 55"/>
          <p:cNvSpPr/>
          <p:nvPr/>
        </p:nvSpPr>
        <p:spPr>
          <a:xfrm>
            <a:off x="274320" y="5038344"/>
            <a:ext cx="8503920" cy="347472"/>
          </a:xfrm>
          <a:prstGeom prst="rect">
            <a:avLst/>
          </a:prstGeom>
          <a:solidFill>
            <a:srgbClr val="FFFFFF"/>
          </a:solidFill>
          <a:ln w="5080">
            <a:solidFill>
              <a:srgbClr val="E2E8F0"/>
            </a:solidFill>
            <a:prstDash val="solid"/>
          </a:ln>
        </p:spPr>
        <p:txBody>
          <a:bodyPr/>
          <a:lstStyle/>
          <a:p>
            <a:endParaRPr/>
          </a:p>
        </p:txBody>
      </p:sp>
      <p:sp>
        <p:nvSpPr>
          <p:cNvPr id="58" name="Shape 56"/>
          <p:cNvSpPr/>
          <p:nvPr/>
        </p:nvSpPr>
        <p:spPr>
          <a:xfrm>
            <a:off x="347472" y="5093208"/>
            <a:ext cx="914400" cy="228600"/>
          </a:xfrm>
          <a:prstGeom prst="rect">
            <a:avLst/>
          </a:prstGeom>
          <a:solidFill>
            <a:srgbClr val="2563EB"/>
          </a:solidFill>
        </p:spPr>
        <p:txBody>
          <a:bodyPr/>
          <a:lstStyle/>
          <a:p>
            <a:endParaRPr/>
          </a:p>
        </p:txBody>
      </p:sp>
      <p:sp>
        <p:nvSpPr>
          <p:cNvPr id="59" name="Text 57"/>
          <p:cNvSpPr txBox="1"/>
          <p:nvPr/>
        </p:nvSpPr>
        <p:spPr>
          <a:xfrm>
            <a:off x="347472" y="5093208"/>
            <a:ext cx="914400" cy="228600"/>
          </a:xfrm>
          <a:prstGeom prst="rect">
            <a:avLst/>
          </a:prstGeom>
          <a:noFill/>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GET</a:t>
            </a:r>
            <a:endParaRPr lang="en-US" sz="950" dirty="0"/>
          </a:p>
        </p:txBody>
      </p:sp>
      <p:sp>
        <p:nvSpPr>
          <p:cNvPr id="60" name="Text 58"/>
          <p:cNvSpPr txBox="1"/>
          <p:nvPr/>
        </p:nvSpPr>
        <p:spPr>
          <a:xfrm>
            <a:off x="1353312" y="5102352"/>
            <a:ext cx="3621024" cy="237744"/>
          </a:xfrm>
          <a:prstGeom prst="rect">
            <a:avLst/>
          </a:prstGeom>
          <a:noFill/>
        </p:spPr>
        <p:txBody>
          <a:bodyPr wrap="square" lIns="0" tIns="0" rIns="0" bIns="0" rtlCol="0" anchor="ctr"/>
          <a:lstStyle/>
          <a:p>
            <a:pPr marL="0" indent="0">
              <a:buNone/>
            </a:pPr>
            <a:r>
              <a:rPr lang="en-US" sz="1100" dirty="0">
                <a:solidFill>
                  <a:srgbClr val="2563EB"/>
                </a:solidFill>
                <a:latin typeface="Courier New" panose="02070309020205020404" pitchFamily="34" charset="0"/>
                <a:ea typeface="Courier New" panose="02070309020205020404" pitchFamily="34" charset="-122"/>
                <a:cs typeface="Courier New" panose="02070309020205020404" pitchFamily="34" charset="-120"/>
              </a:rPr>
              <a:t>/api/wishlist/check/:id</a:t>
            </a:r>
            <a:endParaRPr lang="en-US" sz="1100" dirty="0"/>
          </a:p>
        </p:txBody>
      </p:sp>
      <p:sp>
        <p:nvSpPr>
          <p:cNvPr id="61" name="Text 59"/>
          <p:cNvSpPr txBox="1"/>
          <p:nvPr/>
        </p:nvSpPr>
        <p:spPr>
          <a:xfrm>
            <a:off x="5029200" y="5102352"/>
            <a:ext cx="3657600" cy="237744"/>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Check if a listing is saved (button state)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97280" cy="246221"/>
          </a:xfrm>
          <a:prstGeom prst="rect">
            <a:avLst/>
          </a:prstGeom>
          <a:noFill/>
        </p:spPr>
        <p:txBody>
          <a:bodyPr wrap="square" anchor="t">
            <a:spAutoFit/>
          </a:bodyPr>
          <a:lstStyle/>
          <a:p>
            <a:pPr algn="l"/>
            <a:r>
              <a:rPr sz="1000" b="1" dirty="0">
                <a:solidFill>
                  <a:srgbClr val="2F5C97"/>
                </a:solidFill>
                <a:latin typeface="Aptos"/>
              </a:rPr>
              <a:t>SLIDE </a:t>
            </a:r>
            <a:r>
              <a:rPr lang="en-US" sz="1000" b="1" dirty="0" smtClean="0">
                <a:solidFill>
                  <a:srgbClr val="2F5C97"/>
                </a:solidFill>
                <a:latin typeface="Aptos"/>
              </a:rPr>
              <a:t>12</a:t>
            </a:r>
            <a:endParaRPr sz="1000" b="1" dirty="0">
              <a:solidFill>
                <a:srgbClr val="2F5C97"/>
              </a:solidFill>
              <a:latin typeface="Aptos"/>
            </a:endParaRPr>
          </a:p>
        </p:txBody>
      </p:sp>
      <p:sp>
        <p:nvSpPr>
          <p:cNvPr id="3" name="TextBox 2"/>
          <p:cNvSpPr txBox="1"/>
          <p:nvPr/>
        </p:nvSpPr>
        <p:spPr>
          <a:xfrm>
            <a:off x="502920" y="566928"/>
            <a:ext cx="11155680" cy="502920"/>
          </a:xfrm>
          <a:prstGeom prst="rect">
            <a:avLst/>
          </a:prstGeom>
          <a:noFill/>
        </p:spPr>
        <p:txBody>
          <a:bodyPr wrap="square" anchor="t">
            <a:spAutoFit/>
          </a:bodyPr>
          <a:lstStyle/>
          <a:p>
            <a:pPr algn="l"/>
            <a:r>
              <a:rPr sz="2600" b="1">
                <a:solidFill>
                  <a:srgbClr val="192B49"/>
                </a:solidFill>
                <a:latin typeface="Aptos"/>
              </a:rPr>
              <a:t>Frontend + Backend + User Interface</a:t>
            </a:r>
          </a:p>
        </p:txBody>
      </p:sp>
      <p:sp>
        <p:nvSpPr>
          <p:cNvPr id="4" name="TextBox 3"/>
          <p:cNvSpPr txBox="1"/>
          <p:nvPr/>
        </p:nvSpPr>
        <p:spPr>
          <a:xfrm>
            <a:off x="502920" y="1033271"/>
            <a:ext cx="11064240" cy="292608"/>
          </a:xfrm>
          <a:prstGeom prst="rect">
            <a:avLst/>
          </a:prstGeom>
          <a:noFill/>
        </p:spPr>
        <p:txBody>
          <a:bodyPr wrap="square" anchor="t">
            <a:spAutoFit/>
          </a:bodyPr>
          <a:lstStyle/>
          <a:p>
            <a:pPr algn="l"/>
            <a:r>
              <a:rPr sz="1100" b="0">
                <a:solidFill>
                  <a:srgbClr val="6A7789"/>
                </a:solidFill>
                <a:latin typeface="Aptos"/>
              </a:rPr>
              <a:t>How HouseHub turns user actions into working pages and APIs</a:t>
            </a:r>
          </a:p>
        </p:txBody>
      </p:sp>
      <p:sp>
        <p:nvSpPr>
          <p:cNvPr id="5" name="Rectangle 4"/>
          <p:cNvSpPr/>
          <p:nvPr/>
        </p:nvSpPr>
        <p:spPr>
          <a:xfrm>
            <a:off x="502920" y="1353312"/>
            <a:ext cx="11201400" cy="22860"/>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792705"/>
            <a:ext cx="3703320" cy="434340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83080"/>
            <a:ext cx="3200400" cy="274320"/>
          </a:xfrm>
          <a:prstGeom prst="rect">
            <a:avLst/>
          </a:prstGeom>
          <a:noFill/>
        </p:spPr>
        <p:txBody>
          <a:bodyPr wrap="square" anchor="t">
            <a:spAutoFit/>
          </a:bodyPr>
          <a:lstStyle/>
          <a:p>
            <a:pPr algn="l"/>
            <a:r>
              <a:rPr sz="1600" b="1">
                <a:solidFill>
                  <a:srgbClr val="192B49"/>
                </a:solidFill>
                <a:latin typeface="Aptos"/>
              </a:rPr>
              <a:t>Application Flow</a:t>
            </a:r>
          </a:p>
        </p:txBody>
      </p:sp>
      <p:sp>
        <p:nvSpPr>
          <p:cNvPr id="8" name="Rounded Rectangle 7"/>
          <p:cNvSpPr/>
          <p:nvPr/>
        </p:nvSpPr>
        <p:spPr>
          <a:xfrm>
            <a:off x="777240" y="2331720"/>
            <a:ext cx="3154680" cy="86868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450591"/>
            <a:ext cx="1097280" cy="201168"/>
          </a:xfrm>
          <a:prstGeom prst="rect">
            <a:avLst/>
          </a:prstGeom>
          <a:noFill/>
        </p:spPr>
        <p:txBody>
          <a:bodyPr wrap="square" anchor="t">
            <a:spAutoFit/>
          </a:bodyPr>
          <a:lstStyle/>
          <a:p>
            <a:pPr algn="l"/>
            <a:r>
              <a:rPr sz="1200" b="1">
                <a:solidFill>
                  <a:srgbClr val="2F5C97"/>
                </a:solidFill>
                <a:latin typeface="Aptos"/>
              </a:rPr>
              <a:t>FRONTEND</a:t>
            </a:r>
          </a:p>
        </p:txBody>
      </p:sp>
      <p:sp>
        <p:nvSpPr>
          <p:cNvPr id="10" name="TextBox 9"/>
          <p:cNvSpPr txBox="1"/>
          <p:nvPr/>
        </p:nvSpPr>
        <p:spPr>
          <a:xfrm>
            <a:off x="960120" y="2697479"/>
            <a:ext cx="2697480" cy="365760"/>
          </a:xfrm>
          <a:prstGeom prst="rect">
            <a:avLst/>
          </a:prstGeom>
          <a:noFill/>
        </p:spPr>
        <p:txBody>
          <a:bodyPr wrap="square" anchor="t">
            <a:spAutoFit/>
          </a:bodyPr>
          <a:lstStyle/>
          <a:p>
            <a:pPr algn="l"/>
            <a:r>
              <a:rPr sz="920" b="0">
                <a:solidFill>
                  <a:srgbClr val="232B35"/>
                </a:solidFill>
                <a:latin typeface="Aptos"/>
              </a:rPr>
              <a:t>HTML/CSS • Bootstrap 5 • JavaScript / Fetch API</a:t>
            </a:r>
          </a:p>
        </p:txBody>
      </p:sp>
      <p:sp>
        <p:nvSpPr>
          <p:cNvPr id="11" name="TextBox 10"/>
          <p:cNvSpPr txBox="1"/>
          <p:nvPr/>
        </p:nvSpPr>
        <p:spPr>
          <a:xfrm>
            <a:off x="2240280" y="3227832"/>
            <a:ext cx="457200" cy="182880"/>
          </a:xfrm>
          <a:prstGeom prst="rect">
            <a:avLst/>
          </a:prstGeom>
          <a:noFill/>
        </p:spPr>
        <p:txBody>
          <a:bodyPr wrap="square" anchor="t">
            <a:spAutoFit/>
          </a:bodyPr>
          <a:lstStyle/>
          <a:p>
            <a:pPr algn="ctr"/>
            <a:r>
              <a:rPr sz="1400" b="1">
                <a:solidFill>
                  <a:srgbClr val="6A7789"/>
                </a:solidFill>
                <a:latin typeface="Aptos"/>
              </a:rPr>
              <a:t>↓</a:t>
            </a:r>
          </a:p>
        </p:txBody>
      </p:sp>
      <p:sp>
        <p:nvSpPr>
          <p:cNvPr id="12" name="Rounded Rectangle 11"/>
          <p:cNvSpPr/>
          <p:nvPr/>
        </p:nvSpPr>
        <p:spPr>
          <a:xfrm>
            <a:off x="777240" y="3474720"/>
            <a:ext cx="3154680" cy="86868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593591"/>
            <a:ext cx="1097280" cy="201168"/>
          </a:xfrm>
          <a:prstGeom prst="rect">
            <a:avLst/>
          </a:prstGeom>
          <a:noFill/>
        </p:spPr>
        <p:txBody>
          <a:bodyPr wrap="square" anchor="t">
            <a:spAutoFit/>
          </a:bodyPr>
          <a:lstStyle/>
          <a:p>
            <a:pPr algn="l"/>
            <a:r>
              <a:rPr sz="1200" b="1">
                <a:solidFill>
                  <a:srgbClr val="2F5C97"/>
                </a:solidFill>
                <a:latin typeface="Aptos"/>
              </a:rPr>
              <a:t>BACKEND</a:t>
            </a:r>
          </a:p>
        </p:txBody>
      </p:sp>
      <p:sp>
        <p:nvSpPr>
          <p:cNvPr id="14" name="TextBox 13"/>
          <p:cNvSpPr txBox="1"/>
          <p:nvPr/>
        </p:nvSpPr>
        <p:spPr>
          <a:xfrm>
            <a:off x="960120" y="3840480"/>
            <a:ext cx="2697480" cy="365760"/>
          </a:xfrm>
          <a:prstGeom prst="rect">
            <a:avLst/>
          </a:prstGeom>
          <a:noFill/>
        </p:spPr>
        <p:txBody>
          <a:bodyPr wrap="square" anchor="t">
            <a:spAutoFit/>
          </a:bodyPr>
          <a:lstStyle/>
          <a:p>
            <a:pPr algn="l"/>
            <a:r>
              <a:rPr sz="920" b="0">
                <a:solidFill>
                  <a:srgbClr val="232B35"/>
                </a:solidFill>
                <a:latin typeface="Aptos"/>
              </a:rPr>
              <a:t>Node.js • Express.js • REST APIs • MVC</a:t>
            </a:r>
          </a:p>
        </p:txBody>
      </p:sp>
      <p:sp>
        <p:nvSpPr>
          <p:cNvPr id="15" name="TextBox 14"/>
          <p:cNvSpPr txBox="1"/>
          <p:nvPr/>
        </p:nvSpPr>
        <p:spPr>
          <a:xfrm>
            <a:off x="2240280" y="4370831"/>
            <a:ext cx="457200" cy="182880"/>
          </a:xfrm>
          <a:prstGeom prst="rect">
            <a:avLst/>
          </a:prstGeom>
          <a:noFill/>
        </p:spPr>
        <p:txBody>
          <a:bodyPr wrap="square" anchor="t">
            <a:spAutoFit/>
          </a:bodyPr>
          <a:lstStyle/>
          <a:p>
            <a:pPr algn="ctr"/>
            <a:r>
              <a:rPr sz="1400" b="1">
                <a:solidFill>
                  <a:srgbClr val="6A7789"/>
                </a:solidFill>
                <a:latin typeface="Aptos"/>
              </a:rPr>
              <a:t>↓</a:t>
            </a:r>
          </a:p>
        </p:txBody>
      </p:sp>
      <p:sp>
        <p:nvSpPr>
          <p:cNvPr id="16" name="Rounded Rectangle 15"/>
          <p:cNvSpPr/>
          <p:nvPr/>
        </p:nvSpPr>
        <p:spPr>
          <a:xfrm>
            <a:off x="777240" y="4617720"/>
            <a:ext cx="3154680" cy="86868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736592"/>
            <a:ext cx="1097280" cy="201168"/>
          </a:xfrm>
          <a:prstGeom prst="rect">
            <a:avLst/>
          </a:prstGeom>
          <a:noFill/>
        </p:spPr>
        <p:txBody>
          <a:bodyPr wrap="square" anchor="t">
            <a:spAutoFit/>
          </a:bodyPr>
          <a:lstStyle/>
          <a:p>
            <a:pPr algn="l"/>
            <a:r>
              <a:rPr sz="1200" b="1">
                <a:solidFill>
                  <a:srgbClr val="2F5C97"/>
                </a:solidFill>
                <a:latin typeface="Aptos"/>
              </a:rPr>
              <a:t>DATABASE</a:t>
            </a:r>
          </a:p>
        </p:txBody>
      </p:sp>
      <p:sp>
        <p:nvSpPr>
          <p:cNvPr id="18" name="TextBox 17"/>
          <p:cNvSpPr txBox="1"/>
          <p:nvPr/>
        </p:nvSpPr>
        <p:spPr>
          <a:xfrm>
            <a:off x="960120" y="4983480"/>
            <a:ext cx="2697480" cy="365760"/>
          </a:xfrm>
          <a:prstGeom prst="rect">
            <a:avLst/>
          </a:prstGeom>
          <a:noFill/>
        </p:spPr>
        <p:txBody>
          <a:bodyPr wrap="square" anchor="t">
            <a:spAutoFit/>
          </a:bodyPr>
          <a:lstStyle/>
          <a:p>
            <a:pPr algn="l"/>
            <a:r>
              <a:rPr sz="920" b="0">
                <a:solidFill>
                  <a:srgbClr val="232B35"/>
                </a:solidFill>
                <a:latin typeface="Aptos"/>
              </a:rPr>
              <a:t>MySQL • users • listings • requests • wishlist</a:t>
            </a:r>
          </a:p>
        </p:txBody>
      </p:sp>
      <p:sp>
        <p:nvSpPr>
          <p:cNvPr id="19" name="TextBox 18"/>
          <p:cNvSpPr txBox="1"/>
          <p:nvPr/>
        </p:nvSpPr>
        <p:spPr>
          <a:xfrm>
            <a:off x="4480560" y="1600200"/>
            <a:ext cx="6766560" cy="320040"/>
          </a:xfrm>
          <a:prstGeom prst="rect">
            <a:avLst/>
          </a:prstGeom>
          <a:noFill/>
        </p:spPr>
        <p:txBody>
          <a:bodyPr wrap="square" anchor="t">
            <a:spAutoFit/>
          </a:bodyPr>
          <a:lstStyle/>
          <a:p>
            <a:pPr algn="l"/>
            <a:r>
              <a:rPr sz="1600" b="1">
                <a:solidFill>
                  <a:srgbClr val="192B49"/>
                </a:solidFill>
                <a:latin typeface="Aptos"/>
              </a:rPr>
              <a:t>Main Pages / Scenario</a:t>
            </a:r>
          </a:p>
        </p:txBody>
      </p:sp>
      <p:sp>
        <p:nvSpPr>
          <p:cNvPr id="20" name="Rounded Rectangle 19"/>
          <p:cNvSpPr/>
          <p:nvPr/>
        </p:nvSpPr>
        <p:spPr>
          <a:xfrm>
            <a:off x="4480560" y="2011680"/>
            <a:ext cx="2148840" cy="164592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80560" y="2011680"/>
            <a:ext cx="2148840" cy="256032"/>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90288" y="2048256"/>
            <a:ext cx="1929384" cy="164592"/>
          </a:xfrm>
          <a:prstGeom prst="rect">
            <a:avLst/>
          </a:prstGeom>
          <a:noFill/>
        </p:spPr>
        <p:txBody>
          <a:bodyPr wrap="square" anchor="t">
            <a:spAutoFit/>
          </a:bodyPr>
          <a:lstStyle/>
          <a:p>
            <a:pPr algn="l"/>
            <a:r>
              <a:rPr sz="820" b="1">
                <a:solidFill>
                  <a:srgbClr val="6A7789"/>
                </a:solidFill>
                <a:latin typeface="Aptos"/>
              </a:rPr>
              <a:t>LOGIN</a:t>
            </a:r>
          </a:p>
        </p:txBody>
      </p:sp>
      <p:sp>
        <p:nvSpPr>
          <p:cNvPr id="23" name="TextBox 22"/>
          <p:cNvSpPr txBox="1"/>
          <p:nvPr/>
        </p:nvSpPr>
        <p:spPr>
          <a:xfrm>
            <a:off x="4626864" y="2377440"/>
            <a:ext cx="1856232" cy="182880"/>
          </a:xfrm>
          <a:prstGeom prst="rect">
            <a:avLst/>
          </a:prstGeom>
          <a:noFill/>
        </p:spPr>
        <p:txBody>
          <a:bodyPr wrap="square" anchor="t">
            <a:spAutoFit/>
          </a:bodyPr>
          <a:lstStyle/>
          <a:p>
            <a:pPr algn="l"/>
            <a:r>
              <a:rPr sz="820" b="0">
                <a:solidFill>
                  <a:srgbClr val="232B35"/>
                </a:solidFill>
                <a:latin typeface="Aptos"/>
              </a:rPr>
              <a:t>Email</a:t>
            </a:r>
          </a:p>
        </p:txBody>
      </p:sp>
      <p:sp>
        <p:nvSpPr>
          <p:cNvPr id="24" name="TextBox 23"/>
          <p:cNvSpPr txBox="1"/>
          <p:nvPr/>
        </p:nvSpPr>
        <p:spPr>
          <a:xfrm>
            <a:off x="4626864" y="2651760"/>
            <a:ext cx="1856232" cy="182880"/>
          </a:xfrm>
          <a:prstGeom prst="rect">
            <a:avLst/>
          </a:prstGeom>
          <a:noFill/>
        </p:spPr>
        <p:txBody>
          <a:bodyPr wrap="square" anchor="t">
            <a:spAutoFit/>
          </a:bodyPr>
          <a:lstStyle/>
          <a:p>
            <a:pPr algn="l"/>
            <a:r>
              <a:rPr sz="820" b="0">
                <a:solidFill>
                  <a:srgbClr val="232B35"/>
                </a:solidFill>
                <a:latin typeface="Aptos"/>
              </a:rPr>
              <a:t>Password</a:t>
            </a:r>
          </a:p>
        </p:txBody>
      </p:sp>
      <p:sp>
        <p:nvSpPr>
          <p:cNvPr id="25" name="TextBox 24"/>
          <p:cNvSpPr txBox="1"/>
          <p:nvPr/>
        </p:nvSpPr>
        <p:spPr>
          <a:xfrm>
            <a:off x="4626864" y="2926079"/>
            <a:ext cx="1856232" cy="182880"/>
          </a:xfrm>
          <a:prstGeom prst="rect">
            <a:avLst/>
          </a:prstGeom>
          <a:noFill/>
        </p:spPr>
        <p:txBody>
          <a:bodyPr wrap="square" anchor="t">
            <a:spAutoFit/>
          </a:bodyPr>
          <a:lstStyle/>
          <a:p>
            <a:pPr algn="l"/>
            <a:r>
              <a:rPr sz="820" b="0">
                <a:solidFill>
                  <a:srgbClr val="232B35"/>
                </a:solidFill>
                <a:latin typeface="Aptos"/>
              </a:rPr>
              <a:t>Role: Owner / Tenant</a:t>
            </a:r>
          </a:p>
        </p:txBody>
      </p:sp>
      <p:sp>
        <p:nvSpPr>
          <p:cNvPr id="26" name="Rounded Rectangle 25"/>
          <p:cNvSpPr/>
          <p:nvPr/>
        </p:nvSpPr>
        <p:spPr>
          <a:xfrm>
            <a:off x="4626864" y="3264408"/>
            <a:ext cx="1143000" cy="237744"/>
          </a:xfrm>
          <a:prstGeom prst="roundRect">
            <a:avLst/>
          </a:prstGeom>
          <a:solidFill>
            <a:srgbClr val="2F5C97"/>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26864" y="3291840"/>
            <a:ext cx="1143000" cy="146304"/>
          </a:xfrm>
          <a:prstGeom prst="rect">
            <a:avLst/>
          </a:prstGeom>
          <a:noFill/>
        </p:spPr>
        <p:txBody>
          <a:bodyPr wrap="square" anchor="t">
            <a:spAutoFit/>
          </a:bodyPr>
          <a:lstStyle/>
          <a:p>
            <a:pPr algn="ctr"/>
            <a:r>
              <a:rPr sz="750" b="1">
                <a:solidFill>
                  <a:srgbClr val="FFFFFF"/>
                </a:solidFill>
                <a:latin typeface="Aptos"/>
              </a:rPr>
              <a:t>LOGIN</a:t>
            </a:r>
          </a:p>
        </p:txBody>
      </p:sp>
      <p:sp>
        <p:nvSpPr>
          <p:cNvPr id="28" name="Rounded Rectangle 27"/>
          <p:cNvSpPr/>
          <p:nvPr/>
        </p:nvSpPr>
        <p:spPr>
          <a:xfrm>
            <a:off x="6766560" y="2011680"/>
            <a:ext cx="2148840" cy="164592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766560" y="2011680"/>
            <a:ext cx="2148840" cy="256032"/>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2048256"/>
            <a:ext cx="1929384" cy="164592"/>
          </a:xfrm>
          <a:prstGeom prst="rect">
            <a:avLst/>
          </a:prstGeom>
          <a:noFill/>
        </p:spPr>
        <p:txBody>
          <a:bodyPr wrap="square" anchor="t">
            <a:spAutoFit/>
          </a:bodyPr>
          <a:lstStyle/>
          <a:p>
            <a:pPr algn="l"/>
            <a:r>
              <a:rPr sz="820" b="1">
                <a:solidFill>
                  <a:srgbClr val="6A7789"/>
                </a:solidFill>
                <a:latin typeface="Aptos"/>
              </a:rPr>
              <a:t>SEARCH LISTINGS</a:t>
            </a:r>
          </a:p>
        </p:txBody>
      </p:sp>
      <p:sp>
        <p:nvSpPr>
          <p:cNvPr id="31" name="TextBox 30"/>
          <p:cNvSpPr txBox="1"/>
          <p:nvPr/>
        </p:nvSpPr>
        <p:spPr>
          <a:xfrm>
            <a:off x="6912864" y="2377440"/>
            <a:ext cx="1856232" cy="182880"/>
          </a:xfrm>
          <a:prstGeom prst="rect">
            <a:avLst/>
          </a:prstGeom>
          <a:noFill/>
        </p:spPr>
        <p:txBody>
          <a:bodyPr wrap="square" anchor="t">
            <a:spAutoFit/>
          </a:bodyPr>
          <a:lstStyle/>
          <a:p>
            <a:pPr algn="l"/>
            <a:r>
              <a:rPr sz="820" b="0">
                <a:solidFill>
                  <a:srgbClr val="232B35"/>
                </a:solidFill>
                <a:latin typeface="Aptos"/>
              </a:rPr>
              <a:t>Location  |  Price</a:t>
            </a:r>
          </a:p>
        </p:txBody>
      </p:sp>
      <p:sp>
        <p:nvSpPr>
          <p:cNvPr id="32" name="TextBox 31"/>
          <p:cNvSpPr txBox="1"/>
          <p:nvPr/>
        </p:nvSpPr>
        <p:spPr>
          <a:xfrm>
            <a:off x="6912864" y="2651760"/>
            <a:ext cx="1856232" cy="182880"/>
          </a:xfrm>
          <a:prstGeom prst="rect">
            <a:avLst/>
          </a:prstGeom>
          <a:noFill/>
        </p:spPr>
        <p:txBody>
          <a:bodyPr wrap="square" anchor="t">
            <a:spAutoFit/>
          </a:bodyPr>
          <a:lstStyle/>
          <a:p>
            <a:pPr algn="l"/>
            <a:r>
              <a:rPr sz="820" b="0">
                <a:solidFill>
                  <a:srgbClr val="232B35"/>
                </a:solidFill>
                <a:latin typeface="Aptos"/>
              </a:rPr>
              <a:t>Room Type</a:t>
            </a:r>
          </a:p>
        </p:txBody>
      </p:sp>
      <p:sp>
        <p:nvSpPr>
          <p:cNvPr id="33" name="TextBox 32"/>
          <p:cNvSpPr txBox="1"/>
          <p:nvPr/>
        </p:nvSpPr>
        <p:spPr>
          <a:xfrm>
            <a:off x="6912864" y="2926079"/>
            <a:ext cx="1856232" cy="182880"/>
          </a:xfrm>
          <a:prstGeom prst="rect">
            <a:avLst/>
          </a:prstGeom>
          <a:noFill/>
        </p:spPr>
        <p:txBody>
          <a:bodyPr wrap="square" anchor="t">
            <a:spAutoFit/>
          </a:bodyPr>
          <a:lstStyle/>
          <a:p>
            <a:pPr algn="l"/>
            <a:r>
              <a:rPr sz="820" b="0">
                <a:solidFill>
                  <a:srgbClr val="232B35"/>
                </a:solidFill>
                <a:latin typeface="Aptos"/>
              </a:rPr>
              <a:t>Property Cards</a:t>
            </a:r>
          </a:p>
        </p:txBody>
      </p:sp>
      <p:sp>
        <p:nvSpPr>
          <p:cNvPr id="34" name="Rounded Rectangle 33"/>
          <p:cNvSpPr/>
          <p:nvPr/>
        </p:nvSpPr>
        <p:spPr>
          <a:xfrm>
            <a:off x="6912864" y="3264408"/>
            <a:ext cx="1143000" cy="237744"/>
          </a:xfrm>
          <a:prstGeom prst="roundRect">
            <a:avLst/>
          </a:prstGeom>
          <a:solidFill>
            <a:srgbClr val="2F5C97"/>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12864" y="3291840"/>
            <a:ext cx="1143000" cy="146304"/>
          </a:xfrm>
          <a:prstGeom prst="rect">
            <a:avLst/>
          </a:prstGeom>
          <a:noFill/>
        </p:spPr>
        <p:txBody>
          <a:bodyPr wrap="square" anchor="t">
            <a:spAutoFit/>
          </a:bodyPr>
          <a:lstStyle/>
          <a:p>
            <a:pPr algn="ctr"/>
            <a:r>
              <a:rPr sz="750" b="1">
                <a:solidFill>
                  <a:srgbClr val="FFFFFF"/>
                </a:solidFill>
                <a:latin typeface="Aptos"/>
              </a:rPr>
              <a:t>SEARCH</a:t>
            </a:r>
          </a:p>
        </p:txBody>
      </p:sp>
      <p:sp>
        <p:nvSpPr>
          <p:cNvPr id="36" name="Rounded Rectangle 35"/>
          <p:cNvSpPr/>
          <p:nvPr/>
        </p:nvSpPr>
        <p:spPr>
          <a:xfrm>
            <a:off x="9052560" y="2011680"/>
            <a:ext cx="2148840" cy="164592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052560" y="2011680"/>
            <a:ext cx="2148840" cy="256032"/>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62288" y="2048256"/>
            <a:ext cx="1929384" cy="164592"/>
          </a:xfrm>
          <a:prstGeom prst="rect">
            <a:avLst/>
          </a:prstGeom>
          <a:noFill/>
        </p:spPr>
        <p:txBody>
          <a:bodyPr wrap="square" anchor="t">
            <a:spAutoFit/>
          </a:bodyPr>
          <a:lstStyle/>
          <a:p>
            <a:pPr algn="l"/>
            <a:r>
              <a:rPr sz="820" b="1">
                <a:solidFill>
                  <a:srgbClr val="6A7789"/>
                </a:solidFill>
                <a:latin typeface="Aptos"/>
              </a:rPr>
              <a:t>DASHBOARD</a:t>
            </a:r>
          </a:p>
        </p:txBody>
      </p:sp>
      <p:sp>
        <p:nvSpPr>
          <p:cNvPr id="39" name="TextBox 38"/>
          <p:cNvSpPr txBox="1"/>
          <p:nvPr/>
        </p:nvSpPr>
        <p:spPr>
          <a:xfrm>
            <a:off x="9198864" y="2377440"/>
            <a:ext cx="1856232" cy="182880"/>
          </a:xfrm>
          <a:prstGeom prst="rect">
            <a:avLst/>
          </a:prstGeom>
          <a:noFill/>
        </p:spPr>
        <p:txBody>
          <a:bodyPr wrap="square" anchor="t">
            <a:spAutoFit/>
          </a:bodyPr>
          <a:lstStyle/>
          <a:p>
            <a:pPr algn="l"/>
            <a:r>
              <a:rPr sz="820" b="0">
                <a:solidFill>
                  <a:srgbClr val="232B35"/>
                </a:solidFill>
                <a:latin typeface="Aptos"/>
              </a:rPr>
              <a:t>My Listings / Requests</a:t>
            </a:r>
          </a:p>
        </p:txBody>
      </p:sp>
      <p:sp>
        <p:nvSpPr>
          <p:cNvPr id="40" name="TextBox 39"/>
          <p:cNvSpPr txBox="1"/>
          <p:nvPr/>
        </p:nvSpPr>
        <p:spPr>
          <a:xfrm>
            <a:off x="9198864" y="2651760"/>
            <a:ext cx="1856232" cy="182880"/>
          </a:xfrm>
          <a:prstGeom prst="rect">
            <a:avLst/>
          </a:prstGeom>
          <a:noFill/>
        </p:spPr>
        <p:txBody>
          <a:bodyPr wrap="square" anchor="t">
            <a:spAutoFit/>
          </a:bodyPr>
          <a:lstStyle/>
          <a:p>
            <a:pPr algn="l"/>
            <a:r>
              <a:rPr sz="820" b="0">
                <a:solidFill>
                  <a:srgbClr val="232B35"/>
                </a:solidFill>
                <a:latin typeface="Aptos"/>
              </a:rPr>
              <a:t>Wishlist / Status</a:t>
            </a:r>
          </a:p>
        </p:txBody>
      </p:sp>
      <p:sp>
        <p:nvSpPr>
          <p:cNvPr id="41" name="TextBox 40"/>
          <p:cNvSpPr txBox="1"/>
          <p:nvPr/>
        </p:nvSpPr>
        <p:spPr>
          <a:xfrm>
            <a:off x="9198864" y="2926079"/>
            <a:ext cx="1856232" cy="182880"/>
          </a:xfrm>
          <a:prstGeom prst="rect">
            <a:avLst/>
          </a:prstGeom>
          <a:noFill/>
        </p:spPr>
        <p:txBody>
          <a:bodyPr wrap="square" anchor="t">
            <a:spAutoFit/>
          </a:bodyPr>
          <a:lstStyle/>
          <a:p>
            <a:pPr algn="l"/>
            <a:r>
              <a:rPr sz="820" b="0">
                <a:solidFill>
                  <a:srgbClr val="232B35"/>
                </a:solidFill>
                <a:latin typeface="Aptos"/>
              </a:rPr>
              <a:t>Admin: Users + Listings</a:t>
            </a:r>
          </a:p>
        </p:txBody>
      </p:sp>
      <p:sp>
        <p:nvSpPr>
          <p:cNvPr id="42" name="Rounded Rectangle 41"/>
          <p:cNvSpPr/>
          <p:nvPr/>
        </p:nvSpPr>
        <p:spPr>
          <a:xfrm>
            <a:off x="9198864" y="3264408"/>
            <a:ext cx="1143000" cy="237744"/>
          </a:xfrm>
          <a:prstGeom prst="roundRect">
            <a:avLst/>
          </a:prstGeom>
          <a:solidFill>
            <a:srgbClr val="2F5C97"/>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98864" y="3291840"/>
            <a:ext cx="1143000" cy="146304"/>
          </a:xfrm>
          <a:prstGeom prst="rect">
            <a:avLst/>
          </a:prstGeom>
          <a:noFill/>
        </p:spPr>
        <p:txBody>
          <a:bodyPr wrap="square" anchor="t">
            <a:spAutoFit/>
          </a:bodyPr>
          <a:lstStyle/>
          <a:p>
            <a:pPr algn="ctr"/>
            <a:r>
              <a:rPr sz="750" b="1">
                <a:solidFill>
                  <a:srgbClr val="FFFFFF"/>
                </a:solidFill>
                <a:latin typeface="Aptos"/>
              </a:rPr>
              <a:t>OPEN</a:t>
            </a:r>
          </a:p>
        </p:txBody>
      </p:sp>
      <p:sp>
        <p:nvSpPr>
          <p:cNvPr id="44" name="Rounded Rectangle 43"/>
          <p:cNvSpPr/>
          <p:nvPr/>
        </p:nvSpPr>
        <p:spPr>
          <a:xfrm>
            <a:off x="4480560" y="3886200"/>
            <a:ext cx="3246120" cy="164592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480560" y="3886200"/>
            <a:ext cx="3246120" cy="256032"/>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590288" y="3922776"/>
            <a:ext cx="3026663" cy="164592"/>
          </a:xfrm>
          <a:prstGeom prst="rect">
            <a:avLst/>
          </a:prstGeom>
          <a:noFill/>
        </p:spPr>
        <p:txBody>
          <a:bodyPr wrap="square" anchor="t">
            <a:spAutoFit/>
          </a:bodyPr>
          <a:lstStyle/>
          <a:p>
            <a:pPr algn="l"/>
            <a:r>
              <a:rPr sz="820" b="1">
                <a:solidFill>
                  <a:srgbClr val="6A7789"/>
                </a:solidFill>
                <a:latin typeface="Aptos"/>
              </a:rPr>
              <a:t>LISTING DETAILS</a:t>
            </a:r>
          </a:p>
        </p:txBody>
      </p:sp>
      <p:sp>
        <p:nvSpPr>
          <p:cNvPr id="47" name="TextBox 46"/>
          <p:cNvSpPr txBox="1"/>
          <p:nvPr/>
        </p:nvSpPr>
        <p:spPr>
          <a:xfrm>
            <a:off x="4626864" y="4251960"/>
            <a:ext cx="2953512" cy="182880"/>
          </a:xfrm>
          <a:prstGeom prst="rect">
            <a:avLst/>
          </a:prstGeom>
          <a:noFill/>
        </p:spPr>
        <p:txBody>
          <a:bodyPr wrap="square" anchor="t">
            <a:spAutoFit/>
          </a:bodyPr>
          <a:lstStyle/>
          <a:p>
            <a:pPr algn="l"/>
            <a:r>
              <a:rPr sz="820" b="0">
                <a:solidFill>
                  <a:srgbClr val="232B35"/>
                </a:solidFill>
                <a:latin typeface="Aptos"/>
              </a:rPr>
              <a:t>Photo gallery</a:t>
            </a:r>
          </a:p>
        </p:txBody>
      </p:sp>
      <p:sp>
        <p:nvSpPr>
          <p:cNvPr id="48" name="TextBox 47"/>
          <p:cNvSpPr txBox="1"/>
          <p:nvPr/>
        </p:nvSpPr>
        <p:spPr>
          <a:xfrm>
            <a:off x="4626864" y="4526280"/>
            <a:ext cx="2953512" cy="182880"/>
          </a:xfrm>
          <a:prstGeom prst="rect">
            <a:avLst/>
          </a:prstGeom>
          <a:noFill/>
        </p:spPr>
        <p:txBody>
          <a:bodyPr wrap="square" anchor="t">
            <a:spAutoFit/>
          </a:bodyPr>
          <a:lstStyle/>
          <a:p>
            <a:pPr algn="l"/>
            <a:r>
              <a:rPr sz="820" b="0">
                <a:solidFill>
                  <a:srgbClr val="232B35"/>
                </a:solidFill>
                <a:latin typeface="Aptos"/>
              </a:rPr>
              <a:t>Rent • rooms • location</a:t>
            </a:r>
          </a:p>
        </p:txBody>
      </p:sp>
      <p:sp>
        <p:nvSpPr>
          <p:cNvPr id="49" name="TextBox 48"/>
          <p:cNvSpPr txBox="1"/>
          <p:nvPr/>
        </p:nvSpPr>
        <p:spPr>
          <a:xfrm>
            <a:off x="4626864" y="4800600"/>
            <a:ext cx="2953512" cy="182880"/>
          </a:xfrm>
          <a:prstGeom prst="rect">
            <a:avLst/>
          </a:prstGeom>
          <a:noFill/>
        </p:spPr>
        <p:txBody>
          <a:bodyPr wrap="square" anchor="t">
            <a:spAutoFit/>
          </a:bodyPr>
          <a:lstStyle/>
          <a:p>
            <a:pPr algn="l"/>
            <a:r>
              <a:rPr sz="820" b="0">
                <a:solidFill>
                  <a:srgbClr val="232B35"/>
                </a:solidFill>
                <a:latin typeface="Aptos"/>
              </a:rPr>
              <a:t>I am Interested  ♥</a:t>
            </a:r>
          </a:p>
        </p:txBody>
      </p:sp>
      <p:sp>
        <p:nvSpPr>
          <p:cNvPr id="50" name="Rounded Rectangle 49"/>
          <p:cNvSpPr/>
          <p:nvPr/>
        </p:nvSpPr>
        <p:spPr>
          <a:xfrm>
            <a:off x="4626864" y="5138928"/>
            <a:ext cx="1143000" cy="237744"/>
          </a:xfrm>
          <a:prstGeom prst="roundRect">
            <a:avLst/>
          </a:prstGeom>
          <a:solidFill>
            <a:srgbClr val="2F5C97"/>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626864" y="5166359"/>
            <a:ext cx="1143000" cy="146304"/>
          </a:xfrm>
          <a:prstGeom prst="rect">
            <a:avLst/>
          </a:prstGeom>
          <a:noFill/>
        </p:spPr>
        <p:txBody>
          <a:bodyPr wrap="square" anchor="t">
            <a:spAutoFit/>
          </a:bodyPr>
          <a:lstStyle/>
          <a:p>
            <a:pPr algn="ctr"/>
            <a:r>
              <a:rPr sz="750" b="1">
                <a:solidFill>
                  <a:srgbClr val="FFFFFF"/>
                </a:solidFill>
                <a:latin typeface="Aptos"/>
              </a:rPr>
              <a:t>INTERESTED</a:t>
            </a:r>
          </a:p>
        </p:txBody>
      </p:sp>
      <p:sp>
        <p:nvSpPr>
          <p:cNvPr id="52" name="Rounded Rectangle 51"/>
          <p:cNvSpPr/>
          <p:nvPr/>
        </p:nvSpPr>
        <p:spPr>
          <a:xfrm>
            <a:off x="7909560" y="3886200"/>
            <a:ext cx="3291840" cy="164592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909560" y="3886200"/>
            <a:ext cx="3291840" cy="256032"/>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019288" y="3922776"/>
            <a:ext cx="3072384" cy="164592"/>
          </a:xfrm>
          <a:prstGeom prst="rect">
            <a:avLst/>
          </a:prstGeom>
          <a:noFill/>
        </p:spPr>
        <p:txBody>
          <a:bodyPr wrap="square" anchor="t">
            <a:spAutoFit/>
          </a:bodyPr>
          <a:lstStyle/>
          <a:p>
            <a:pPr algn="l"/>
            <a:r>
              <a:rPr sz="820" b="1">
                <a:solidFill>
                  <a:srgbClr val="6A7789"/>
                </a:solidFill>
                <a:latin typeface="Aptos"/>
              </a:rPr>
              <a:t>REQUEST STATUS</a:t>
            </a:r>
          </a:p>
        </p:txBody>
      </p:sp>
      <p:sp>
        <p:nvSpPr>
          <p:cNvPr id="55" name="TextBox 54"/>
          <p:cNvSpPr txBox="1"/>
          <p:nvPr/>
        </p:nvSpPr>
        <p:spPr>
          <a:xfrm>
            <a:off x="8055864" y="4251960"/>
            <a:ext cx="2999232" cy="182880"/>
          </a:xfrm>
          <a:prstGeom prst="rect">
            <a:avLst/>
          </a:prstGeom>
          <a:noFill/>
        </p:spPr>
        <p:txBody>
          <a:bodyPr wrap="square" anchor="t">
            <a:spAutoFit/>
          </a:bodyPr>
          <a:lstStyle/>
          <a:p>
            <a:pPr algn="l"/>
            <a:r>
              <a:rPr sz="820" b="0">
                <a:solidFill>
                  <a:srgbClr val="232B35"/>
                </a:solidFill>
                <a:latin typeface="Aptos"/>
              </a:rPr>
              <a:t>Pending → Owner review</a:t>
            </a:r>
          </a:p>
        </p:txBody>
      </p:sp>
      <p:sp>
        <p:nvSpPr>
          <p:cNvPr id="56" name="TextBox 55"/>
          <p:cNvSpPr txBox="1"/>
          <p:nvPr/>
        </p:nvSpPr>
        <p:spPr>
          <a:xfrm>
            <a:off x="8055864" y="4526280"/>
            <a:ext cx="2999232" cy="182880"/>
          </a:xfrm>
          <a:prstGeom prst="rect">
            <a:avLst/>
          </a:prstGeom>
          <a:noFill/>
        </p:spPr>
        <p:txBody>
          <a:bodyPr wrap="square" anchor="t">
            <a:spAutoFit/>
          </a:bodyPr>
          <a:lstStyle/>
          <a:p>
            <a:pPr algn="l"/>
            <a:r>
              <a:rPr sz="820" b="0">
                <a:solidFill>
                  <a:srgbClr val="232B35"/>
                </a:solidFill>
                <a:latin typeface="Aptos"/>
              </a:rPr>
              <a:t>Accepted → contact visible</a:t>
            </a:r>
          </a:p>
        </p:txBody>
      </p:sp>
      <p:sp>
        <p:nvSpPr>
          <p:cNvPr id="57" name="TextBox 56"/>
          <p:cNvSpPr txBox="1"/>
          <p:nvPr/>
        </p:nvSpPr>
        <p:spPr>
          <a:xfrm>
            <a:off x="8055864" y="4800600"/>
            <a:ext cx="2999232" cy="182880"/>
          </a:xfrm>
          <a:prstGeom prst="rect">
            <a:avLst/>
          </a:prstGeom>
          <a:noFill/>
        </p:spPr>
        <p:txBody>
          <a:bodyPr wrap="square" anchor="t">
            <a:spAutoFit/>
          </a:bodyPr>
          <a:lstStyle/>
          <a:p>
            <a:pPr algn="l"/>
            <a:r>
              <a:rPr sz="820" b="0">
                <a:solidFill>
                  <a:srgbClr val="232B35"/>
                </a:solidFill>
                <a:latin typeface="Aptos"/>
              </a:rPr>
              <a:t>Rejected → request closed</a:t>
            </a:r>
          </a:p>
        </p:txBody>
      </p:sp>
      <p:sp>
        <p:nvSpPr>
          <p:cNvPr id="58" name="Rounded Rectangle 57"/>
          <p:cNvSpPr/>
          <p:nvPr/>
        </p:nvSpPr>
        <p:spPr>
          <a:xfrm>
            <a:off x="8055864" y="5138928"/>
            <a:ext cx="1143000" cy="237744"/>
          </a:xfrm>
          <a:prstGeom prst="roundRect">
            <a:avLst/>
          </a:prstGeom>
          <a:solidFill>
            <a:srgbClr val="2F5C97"/>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055864" y="5166359"/>
            <a:ext cx="1143000" cy="146304"/>
          </a:xfrm>
          <a:prstGeom prst="rect">
            <a:avLst/>
          </a:prstGeom>
          <a:noFill/>
        </p:spPr>
        <p:txBody>
          <a:bodyPr wrap="square" anchor="t">
            <a:spAutoFit/>
          </a:bodyPr>
          <a:lstStyle/>
          <a:p>
            <a:pPr algn="ctr"/>
            <a:r>
              <a:rPr sz="750" b="1">
                <a:solidFill>
                  <a:srgbClr val="FFFFFF"/>
                </a:solidFill>
                <a:latin typeface="Aptos"/>
              </a:rPr>
              <a:t>STATUS</a:t>
            </a:r>
          </a:p>
        </p:txBody>
      </p:sp>
      <p:sp>
        <p:nvSpPr>
          <p:cNvPr id="60" name="TextBox 59"/>
          <p:cNvSpPr txBox="1"/>
          <p:nvPr/>
        </p:nvSpPr>
        <p:spPr>
          <a:xfrm>
            <a:off x="502920" y="6510528"/>
            <a:ext cx="7315200" cy="164592"/>
          </a:xfrm>
          <a:prstGeom prst="rect">
            <a:avLst/>
          </a:prstGeom>
          <a:noFill/>
        </p:spPr>
        <p:txBody>
          <a:bodyPr wrap="square" anchor="t">
            <a:spAutoFit/>
          </a:bodyPr>
          <a:lstStyle/>
          <a:p>
            <a:pPr algn="l"/>
            <a:r>
              <a:rPr sz="800" b="0">
                <a:solidFill>
                  <a:srgbClr val="6A7789"/>
                </a:solidFill>
                <a:latin typeface="Aptos"/>
              </a:rPr>
              <a:t>HouseHub • Software Engineering</a:t>
            </a:r>
          </a:p>
        </p:txBody>
      </p:sp>
      <p:sp>
        <p:nvSpPr>
          <p:cNvPr id="61" name="TextBox 60"/>
          <p:cNvSpPr txBox="1"/>
          <p:nvPr/>
        </p:nvSpPr>
        <p:spPr>
          <a:xfrm>
            <a:off x="9601200" y="6510528"/>
            <a:ext cx="2057400" cy="164592"/>
          </a:xfrm>
          <a:prstGeom prst="rect">
            <a:avLst/>
          </a:prstGeom>
          <a:noFill/>
        </p:spPr>
        <p:txBody>
          <a:bodyPr wrap="square" anchor="t">
            <a:spAutoFit/>
          </a:bodyPr>
          <a:lstStyle/>
          <a:p>
            <a:pPr algn="r"/>
            <a:r>
              <a:rPr sz="800" b="0">
                <a:solidFill>
                  <a:srgbClr val="6A7789"/>
                </a:solidFill>
                <a:latin typeface="Aptos"/>
              </a:rPr>
              <a:t>Netrakona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97280" cy="246221"/>
          </a:xfrm>
          <a:prstGeom prst="rect">
            <a:avLst/>
          </a:prstGeom>
          <a:noFill/>
        </p:spPr>
        <p:txBody>
          <a:bodyPr wrap="square" anchor="t">
            <a:spAutoFit/>
          </a:bodyPr>
          <a:lstStyle/>
          <a:p>
            <a:pPr algn="l"/>
            <a:r>
              <a:rPr sz="1000" b="1" dirty="0">
                <a:solidFill>
                  <a:srgbClr val="2F5C97"/>
                </a:solidFill>
                <a:latin typeface="Aptos"/>
              </a:rPr>
              <a:t>SLIDE </a:t>
            </a:r>
            <a:r>
              <a:rPr lang="en-US" sz="1000" b="1" dirty="0" smtClean="0">
                <a:solidFill>
                  <a:srgbClr val="2F5C97"/>
                </a:solidFill>
                <a:latin typeface="Aptos"/>
              </a:rPr>
              <a:t>13</a:t>
            </a:r>
            <a:endParaRPr sz="1000" b="1" dirty="0">
              <a:solidFill>
                <a:srgbClr val="2F5C97"/>
              </a:solidFill>
              <a:latin typeface="Aptos"/>
            </a:endParaRPr>
          </a:p>
        </p:txBody>
      </p:sp>
      <p:sp>
        <p:nvSpPr>
          <p:cNvPr id="3" name="TextBox 2"/>
          <p:cNvSpPr txBox="1"/>
          <p:nvPr/>
        </p:nvSpPr>
        <p:spPr>
          <a:xfrm>
            <a:off x="502920" y="577202"/>
            <a:ext cx="11155680" cy="502920"/>
          </a:xfrm>
          <a:prstGeom prst="rect">
            <a:avLst/>
          </a:prstGeom>
          <a:noFill/>
        </p:spPr>
        <p:txBody>
          <a:bodyPr wrap="square" anchor="t">
            <a:spAutoFit/>
          </a:bodyPr>
          <a:lstStyle/>
          <a:p>
            <a:pPr algn="l"/>
            <a:r>
              <a:rPr sz="2600" b="1">
                <a:solidFill>
                  <a:srgbClr val="192B49"/>
                </a:solidFill>
                <a:latin typeface="Aptos"/>
              </a:rPr>
              <a:t>How HouseHub Satisfies Software Engineering</a:t>
            </a:r>
          </a:p>
        </p:txBody>
      </p:sp>
      <p:sp>
        <p:nvSpPr>
          <p:cNvPr id="4" name="TextBox 3"/>
          <p:cNvSpPr txBox="1"/>
          <p:nvPr/>
        </p:nvSpPr>
        <p:spPr>
          <a:xfrm>
            <a:off x="502920" y="1022997"/>
            <a:ext cx="11064240" cy="292608"/>
          </a:xfrm>
          <a:prstGeom prst="rect">
            <a:avLst/>
          </a:prstGeom>
          <a:noFill/>
        </p:spPr>
        <p:txBody>
          <a:bodyPr wrap="square" anchor="t">
            <a:spAutoFit/>
          </a:bodyPr>
          <a:lstStyle/>
          <a:p>
            <a:pPr algn="l"/>
            <a:r>
              <a:rPr sz="1100" b="0">
                <a:solidFill>
                  <a:srgbClr val="6A7789"/>
                </a:solidFill>
                <a:latin typeface="Aptos"/>
              </a:rPr>
              <a:t>Project lifecycle mapped to lecture concepts and the selected development model</a:t>
            </a:r>
          </a:p>
        </p:txBody>
      </p:sp>
      <p:sp>
        <p:nvSpPr>
          <p:cNvPr id="5" name="Rectangle 4"/>
          <p:cNvSpPr/>
          <p:nvPr/>
        </p:nvSpPr>
        <p:spPr>
          <a:xfrm>
            <a:off x="502920" y="1353312"/>
            <a:ext cx="11201400" cy="22860"/>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600200"/>
            <a:ext cx="5303520" cy="443484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600200"/>
            <a:ext cx="54864" cy="4434840"/>
          </a:xfrm>
          <a:prstGeom prst="rect">
            <a:avLst/>
          </a:prstGeom>
          <a:solidFill>
            <a:srgbClr val="2F5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46504"/>
            <a:ext cx="4983480" cy="274320"/>
          </a:xfrm>
          <a:prstGeom prst="rect">
            <a:avLst/>
          </a:prstGeom>
          <a:noFill/>
        </p:spPr>
        <p:txBody>
          <a:bodyPr wrap="square" anchor="t">
            <a:spAutoFit/>
          </a:bodyPr>
          <a:lstStyle/>
          <a:p>
            <a:pPr algn="l"/>
            <a:r>
              <a:rPr sz="1500" b="1">
                <a:solidFill>
                  <a:srgbClr val="192B49"/>
                </a:solidFill>
                <a:latin typeface="Aptos"/>
              </a:rPr>
              <a:t>Software Engineering Practices</a:t>
            </a:r>
          </a:p>
        </p:txBody>
      </p:sp>
      <p:sp>
        <p:nvSpPr>
          <p:cNvPr id="9" name="TextBox 8"/>
          <p:cNvSpPr txBox="1"/>
          <p:nvPr/>
        </p:nvSpPr>
        <p:spPr>
          <a:xfrm>
            <a:off x="704088" y="2130552"/>
            <a:ext cx="4919472" cy="438912"/>
          </a:xfrm>
          <a:prstGeom prst="rect">
            <a:avLst/>
          </a:prstGeom>
          <a:noFill/>
        </p:spPr>
        <p:txBody>
          <a:bodyPr wrap="square" anchor="t">
            <a:spAutoFit/>
          </a:bodyPr>
          <a:lstStyle/>
          <a:p>
            <a:pPr algn="l"/>
            <a:r>
              <a:rPr sz="1050" b="0">
                <a:solidFill>
                  <a:srgbClr val="232B35"/>
                </a:solidFill>
                <a:latin typeface="Aptos"/>
              </a:rPr>
              <a:t>• Requirement engineering: identify Owner, Tenant and Admin needs.</a:t>
            </a:r>
          </a:p>
        </p:txBody>
      </p:sp>
      <p:sp>
        <p:nvSpPr>
          <p:cNvPr id="10" name="TextBox 9"/>
          <p:cNvSpPr txBox="1"/>
          <p:nvPr/>
        </p:nvSpPr>
        <p:spPr>
          <a:xfrm>
            <a:off x="704088" y="2642616"/>
            <a:ext cx="4919472" cy="438912"/>
          </a:xfrm>
          <a:prstGeom prst="rect">
            <a:avLst/>
          </a:prstGeom>
          <a:noFill/>
        </p:spPr>
        <p:txBody>
          <a:bodyPr wrap="square" anchor="t">
            <a:spAutoFit/>
          </a:bodyPr>
          <a:lstStyle/>
          <a:p>
            <a:pPr algn="l"/>
            <a:r>
              <a:rPr sz="1050" b="0">
                <a:solidFill>
                  <a:srgbClr val="232B35"/>
                </a:solidFill>
                <a:latin typeface="Aptos"/>
              </a:rPr>
              <a:t>• Feasibility + analysis: define scope, roles, database and technology.</a:t>
            </a:r>
          </a:p>
        </p:txBody>
      </p:sp>
      <p:sp>
        <p:nvSpPr>
          <p:cNvPr id="11" name="TextBox 10"/>
          <p:cNvSpPr txBox="1"/>
          <p:nvPr/>
        </p:nvSpPr>
        <p:spPr>
          <a:xfrm>
            <a:off x="704088" y="3154680"/>
            <a:ext cx="4919472" cy="438912"/>
          </a:xfrm>
          <a:prstGeom prst="rect">
            <a:avLst/>
          </a:prstGeom>
          <a:noFill/>
        </p:spPr>
        <p:txBody>
          <a:bodyPr wrap="square" anchor="t">
            <a:spAutoFit/>
          </a:bodyPr>
          <a:lstStyle/>
          <a:p>
            <a:pPr algn="l"/>
            <a:r>
              <a:rPr sz="1050" b="0">
                <a:solidFill>
                  <a:srgbClr val="232B35"/>
                </a:solidFill>
                <a:latin typeface="Aptos"/>
              </a:rPr>
              <a:t>• Software design: use case model, architecture and relational database.</a:t>
            </a:r>
          </a:p>
        </p:txBody>
      </p:sp>
      <p:sp>
        <p:nvSpPr>
          <p:cNvPr id="12" name="TextBox 11"/>
          <p:cNvSpPr txBox="1"/>
          <p:nvPr/>
        </p:nvSpPr>
        <p:spPr>
          <a:xfrm>
            <a:off x="704088" y="3666744"/>
            <a:ext cx="4919472" cy="438912"/>
          </a:xfrm>
          <a:prstGeom prst="rect">
            <a:avLst/>
          </a:prstGeom>
          <a:noFill/>
        </p:spPr>
        <p:txBody>
          <a:bodyPr wrap="square" anchor="t">
            <a:spAutoFit/>
          </a:bodyPr>
          <a:lstStyle/>
          <a:p>
            <a:pPr algn="l"/>
            <a:r>
              <a:rPr sz="1050" b="0">
                <a:solidFill>
                  <a:srgbClr val="232B35"/>
                </a:solidFill>
                <a:latin typeface="Aptos"/>
              </a:rPr>
              <a:t>• Coding: modular Express/MVC backend + responsive frontend.</a:t>
            </a:r>
          </a:p>
        </p:txBody>
      </p:sp>
      <p:sp>
        <p:nvSpPr>
          <p:cNvPr id="13" name="TextBox 12"/>
          <p:cNvSpPr txBox="1"/>
          <p:nvPr/>
        </p:nvSpPr>
        <p:spPr>
          <a:xfrm>
            <a:off x="704088" y="4178808"/>
            <a:ext cx="4919472" cy="438912"/>
          </a:xfrm>
          <a:prstGeom prst="rect">
            <a:avLst/>
          </a:prstGeom>
          <a:noFill/>
        </p:spPr>
        <p:txBody>
          <a:bodyPr wrap="square" anchor="t">
            <a:spAutoFit/>
          </a:bodyPr>
          <a:lstStyle/>
          <a:p>
            <a:pPr algn="l"/>
            <a:r>
              <a:rPr sz="1050" b="0">
                <a:solidFill>
                  <a:srgbClr val="232B35"/>
                </a:solidFill>
                <a:latin typeface="Aptos"/>
              </a:rPr>
              <a:t>• Testing: API and feature-level test cases before release.</a:t>
            </a:r>
          </a:p>
        </p:txBody>
      </p:sp>
      <p:sp>
        <p:nvSpPr>
          <p:cNvPr id="14" name="TextBox 13"/>
          <p:cNvSpPr txBox="1"/>
          <p:nvPr/>
        </p:nvSpPr>
        <p:spPr>
          <a:xfrm>
            <a:off x="704088" y="4690872"/>
            <a:ext cx="4919472" cy="438912"/>
          </a:xfrm>
          <a:prstGeom prst="rect">
            <a:avLst/>
          </a:prstGeom>
          <a:noFill/>
        </p:spPr>
        <p:txBody>
          <a:bodyPr wrap="square" anchor="t">
            <a:spAutoFit/>
          </a:bodyPr>
          <a:lstStyle/>
          <a:p>
            <a:pPr algn="l"/>
            <a:r>
              <a:rPr sz="1050" b="0">
                <a:solidFill>
                  <a:srgbClr val="232B35"/>
                </a:solidFill>
                <a:latin typeface="Aptos"/>
              </a:rPr>
              <a:t>• Project management: Git/GitHub, task division, schedule and dependencies.</a:t>
            </a:r>
          </a:p>
        </p:txBody>
      </p:sp>
      <p:sp>
        <p:nvSpPr>
          <p:cNvPr id="15" name="TextBox 14"/>
          <p:cNvSpPr txBox="1"/>
          <p:nvPr/>
        </p:nvSpPr>
        <p:spPr>
          <a:xfrm>
            <a:off x="704088" y="5202936"/>
            <a:ext cx="4919472" cy="438912"/>
          </a:xfrm>
          <a:prstGeom prst="rect">
            <a:avLst/>
          </a:prstGeom>
          <a:noFill/>
        </p:spPr>
        <p:txBody>
          <a:bodyPr wrap="square" anchor="t">
            <a:spAutoFit/>
          </a:bodyPr>
          <a:lstStyle/>
          <a:p>
            <a:pPr algn="l"/>
            <a:r>
              <a:rPr sz="1050" b="0">
                <a:solidFill>
                  <a:srgbClr val="232B35"/>
                </a:solidFill>
                <a:latin typeface="Aptos"/>
              </a:rPr>
              <a:t>• Maintenance/future scope: extend the system as requirements evolve.</a:t>
            </a:r>
          </a:p>
        </p:txBody>
      </p:sp>
      <p:sp>
        <p:nvSpPr>
          <p:cNvPr id="16" name="TextBox 15"/>
          <p:cNvSpPr txBox="1"/>
          <p:nvPr/>
        </p:nvSpPr>
        <p:spPr>
          <a:xfrm>
            <a:off x="6126480" y="1627632"/>
            <a:ext cx="5303520" cy="320040"/>
          </a:xfrm>
          <a:prstGeom prst="rect">
            <a:avLst/>
          </a:prstGeom>
          <a:noFill/>
        </p:spPr>
        <p:txBody>
          <a:bodyPr wrap="square" anchor="t">
            <a:spAutoFit/>
          </a:bodyPr>
          <a:lstStyle/>
          <a:p>
            <a:pPr algn="l"/>
            <a:r>
              <a:rPr sz="1500" b="1">
                <a:solidFill>
                  <a:srgbClr val="192B49"/>
                </a:solidFill>
                <a:latin typeface="Aptos"/>
              </a:rPr>
              <a:t>Five Models in the Lecture — HouseHub Choice</a:t>
            </a:r>
          </a:p>
        </p:txBody>
      </p:sp>
      <p:sp>
        <p:nvSpPr>
          <p:cNvPr id="17" name="Rounded Rectangle 16"/>
          <p:cNvSpPr/>
          <p:nvPr/>
        </p:nvSpPr>
        <p:spPr>
          <a:xfrm>
            <a:off x="6172200" y="2057400"/>
            <a:ext cx="4983480" cy="658368"/>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2148840"/>
            <a:ext cx="1371600" cy="201168"/>
          </a:xfrm>
          <a:prstGeom prst="rect">
            <a:avLst/>
          </a:prstGeom>
          <a:noFill/>
        </p:spPr>
        <p:txBody>
          <a:bodyPr wrap="square" anchor="t">
            <a:spAutoFit/>
          </a:bodyPr>
          <a:lstStyle/>
          <a:p>
            <a:pPr algn="l"/>
            <a:r>
              <a:rPr sz="1120" b="1">
                <a:solidFill>
                  <a:srgbClr val="192B49"/>
                </a:solidFill>
                <a:latin typeface="Aptos"/>
              </a:rPr>
              <a:t>Waterfall</a:t>
            </a:r>
          </a:p>
        </p:txBody>
      </p:sp>
      <p:sp>
        <p:nvSpPr>
          <p:cNvPr id="19" name="TextBox 18"/>
          <p:cNvSpPr txBox="1"/>
          <p:nvPr/>
        </p:nvSpPr>
        <p:spPr>
          <a:xfrm>
            <a:off x="7726679" y="2148840"/>
            <a:ext cx="1600200" cy="201168"/>
          </a:xfrm>
          <a:prstGeom prst="rect">
            <a:avLst/>
          </a:prstGeom>
          <a:noFill/>
        </p:spPr>
        <p:txBody>
          <a:bodyPr wrap="square" anchor="t">
            <a:spAutoFit/>
          </a:bodyPr>
          <a:lstStyle/>
          <a:p>
            <a:pPr algn="l"/>
            <a:r>
              <a:rPr sz="920" b="0">
                <a:solidFill>
                  <a:srgbClr val="232B35"/>
                </a:solidFill>
                <a:latin typeface="Aptos"/>
              </a:rPr>
              <a:t>Sequential phases</a:t>
            </a:r>
          </a:p>
        </p:txBody>
      </p:sp>
      <p:sp>
        <p:nvSpPr>
          <p:cNvPr id="20" name="TextBox 19"/>
          <p:cNvSpPr txBox="1"/>
          <p:nvPr/>
        </p:nvSpPr>
        <p:spPr>
          <a:xfrm>
            <a:off x="9281160" y="2130552"/>
            <a:ext cx="1691640" cy="347472"/>
          </a:xfrm>
          <a:prstGeom prst="rect">
            <a:avLst/>
          </a:prstGeom>
          <a:noFill/>
        </p:spPr>
        <p:txBody>
          <a:bodyPr wrap="square" anchor="t">
            <a:spAutoFit/>
          </a:bodyPr>
          <a:lstStyle/>
          <a:p>
            <a:pPr algn="l"/>
            <a:r>
              <a:rPr sz="820" b="0">
                <a:solidFill>
                  <a:srgbClr val="6A7789"/>
                </a:solidFill>
                <a:latin typeface="Aptos"/>
              </a:rPr>
              <a:t>Rigid for changing requirements</a:t>
            </a:r>
          </a:p>
        </p:txBody>
      </p:sp>
      <p:sp>
        <p:nvSpPr>
          <p:cNvPr id="21" name="Rounded Rectangle 20"/>
          <p:cNvSpPr/>
          <p:nvPr/>
        </p:nvSpPr>
        <p:spPr>
          <a:xfrm>
            <a:off x="6172200" y="2843784"/>
            <a:ext cx="4983480" cy="658368"/>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2935224"/>
            <a:ext cx="1371600" cy="201168"/>
          </a:xfrm>
          <a:prstGeom prst="rect">
            <a:avLst/>
          </a:prstGeom>
          <a:noFill/>
        </p:spPr>
        <p:txBody>
          <a:bodyPr wrap="square" anchor="t">
            <a:spAutoFit/>
          </a:bodyPr>
          <a:lstStyle/>
          <a:p>
            <a:pPr algn="l"/>
            <a:r>
              <a:rPr sz="1120" b="1">
                <a:solidFill>
                  <a:srgbClr val="192B49"/>
                </a:solidFill>
                <a:latin typeface="Aptos"/>
              </a:rPr>
              <a:t>Spiral</a:t>
            </a:r>
          </a:p>
        </p:txBody>
      </p:sp>
      <p:sp>
        <p:nvSpPr>
          <p:cNvPr id="23" name="TextBox 22"/>
          <p:cNvSpPr txBox="1"/>
          <p:nvPr/>
        </p:nvSpPr>
        <p:spPr>
          <a:xfrm>
            <a:off x="7726679" y="2935224"/>
            <a:ext cx="1600200" cy="201168"/>
          </a:xfrm>
          <a:prstGeom prst="rect">
            <a:avLst/>
          </a:prstGeom>
          <a:noFill/>
        </p:spPr>
        <p:txBody>
          <a:bodyPr wrap="square" anchor="t">
            <a:spAutoFit/>
          </a:bodyPr>
          <a:lstStyle/>
          <a:p>
            <a:pPr algn="l"/>
            <a:r>
              <a:rPr sz="920" b="0">
                <a:solidFill>
                  <a:srgbClr val="232B35"/>
                </a:solidFill>
                <a:latin typeface="Aptos"/>
              </a:rPr>
              <a:t>Risk-driven iterations</a:t>
            </a:r>
          </a:p>
        </p:txBody>
      </p:sp>
      <p:sp>
        <p:nvSpPr>
          <p:cNvPr id="24" name="TextBox 23"/>
          <p:cNvSpPr txBox="1"/>
          <p:nvPr/>
        </p:nvSpPr>
        <p:spPr>
          <a:xfrm>
            <a:off x="9281160" y="2916936"/>
            <a:ext cx="1691640" cy="347472"/>
          </a:xfrm>
          <a:prstGeom prst="rect">
            <a:avLst/>
          </a:prstGeom>
          <a:noFill/>
        </p:spPr>
        <p:txBody>
          <a:bodyPr wrap="square" anchor="t">
            <a:spAutoFit/>
          </a:bodyPr>
          <a:lstStyle/>
          <a:p>
            <a:pPr algn="l"/>
            <a:r>
              <a:rPr sz="820" b="0">
                <a:solidFill>
                  <a:srgbClr val="6A7789"/>
                </a:solidFill>
                <a:latin typeface="Aptos"/>
              </a:rPr>
              <a:t>More complex for this project</a:t>
            </a:r>
          </a:p>
        </p:txBody>
      </p:sp>
      <p:sp>
        <p:nvSpPr>
          <p:cNvPr id="25" name="Rounded Rectangle 24"/>
          <p:cNvSpPr/>
          <p:nvPr/>
        </p:nvSpPr>
        <p:spPr>
          <a:xfrm>
            <a:off x="6172200" y="3630168"/>
            <a:ext cx="4983480" cy="658368"/>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3721607"/>
            <a:ext cx="1371600" cy="201168"/>
          </a:xfrm>
          <a:prstGeom prst="rect">
            <a:avLst/>
          </a:prstGeom>
          <a:noFill/>
        </p:spPr>
        <p:txBody>
          <a:bodyPr wrap="square" anchor="t">
            <a:spAutoFit/>
          </a:bodyPr>
          <a:lstStyle/>
          <a:p>
            <a:pPr algn="l"/>
            <a:r>
              <a:rPr sz="1120" b="1">
                <a:solidFill>
                  <a:srgbClr val="192B49"/>
                </a:solidFill>
                <a:latin typeface="Aptos"/>
              </a:rPr>
              <a:t>Prototyping</a:t>
            </a:r>
          </a:p>
        </p:txBody>
      </p:sp>
      <p:sp>
        <p:nvSpPr>
          <p:cNvPr id="27" name="TextBox 26"/>
          <p:cNvSpPr txBox="1"/>
          <p:nvPr/>
        </p:nvSpPr>
        <p:spPr>
          <a:xfrm>
            <a:off x="7726679" y="3721607"/>
            <a:ext cx="1600200" cy="201168"/>
          </a:xfrm>
          <a:prstGeom prst="rect">
            <a:avLst/>
          </a:prstGeom>
          <a:noFill/>
        </p:spPr>
        <p:txBody>
          <a:bodyPr wrap="square" anchor="t">
            <a:spAutoFit/>
          </a:bodyPr>
          <a:lstStyle/>
          <a:p>
            <a:pPr algn="l"/>
            <a:r>
              <a:rPr sz="920" b="0">
                <a:solidFill>
                  <a:srgbClr val="232B35"/>
                </a:solidFill>
                <a:latin typeface="Aptos"/>
              </a:rPr>
              <a:t>Early UI feedback</a:t>
            </a:r>
          </a:p>
        </p:txBody>
      </p:sp>
      <p:sp>
        <p:nvSpPr>
          <p:cNvPr id="28" name="TextBox 27"/>
          <p:cNvSpPr txBox="1"/>
          <p:nvPr/>
        </p:nvSpPr>
        <p:spPr>
          <a:xfrm>
            <a:off x="9281160" y="3703320"/>
            <a:ext cx="1691640" cy="347472"/>
          </a:xfrm>
          <a:prstGeom prst="rect">
            <a:avLst/>
          </a:prstGeom>
          <a:noFill/>
        </p:spPr>
        <p:txBody>
          <a:bodyPr wrap="square" anchor="t">
            <a:spAutoFit/>
          </a:bodyPr>
          <a:lstStyle/>
          <a:p>
            <a:pPr algn="l"/>
            <a:r>
              <a:rPr sz="820" b="0">
                <a:solidFill>
                  <a:srgbClr val="6A7789"/>
                </a:solidFill>
                <a:latin typeface="Aptos"/>
              </a:rPr>
              <a:t>Useful during UI understanding</a:t>
            </a:r>
          </a:p>
        </p:txBody>
      </p:sp>
      <p:sp>
        <p:nvSpPr>
          <p:cNvPr id="29" name="Rounded Rectangle 28"/>
          <p:cNvSpPr/>
          <p:nvPr/>
        </p:nvSpPr>
        <p:spPr>
          <a:xfrm>
            <a:off x="6172200" y="4416552"/>
            <a:ext cx="4983480" cy="658368"/>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55080" y="4507992"/>
            <a:ext cx="1371600" cy="201168"/>
          </a:xfrm>
          <a:prstGeom prst="rect">
            <a:avLst/>
          </a:prstGeom>
          <a:noFill/>
        </p:spPr>
        <p:txBody>
          <a:bodyPr wrap="square" anchor="t">
            <a:spAutoFit/>
          </a:bodyPr>
          <a:lstStyle/>
          <a:p>
            <a:pPr algn="l"/>
            <a:r>
              <a:rPr sz="1120" b="1">
                <a:solidFill>
                  <a:srgbClr val="192B49"/>
                </a:solidFill>
                <a:latin typeface="Aptos"/>
              </a:rPr>
              <a:t>Iterative / Incremental</a:t>
            </a:r>
          </a:p>
        </p:txBody>
      </p:sp>
      <p:sp>
        <p:nvSpPr>
          <p:cNvPr id="31" name="TextBox 30"/>
          <p:cNvSpPr txBox="1"/>
          <p:nvPr/>
        </p:nvSpPr>
        <p:spPr>
          <a:xfrm>
            <a:off x="7726679" y="4507992"/>
            <a:ext cx="1600200" cy="201168"/>
          </a:xfrm>
          <a:prstGeom prst="rect">
            <a:avLst/>
          </a:prstGeom>
          <a:noFill/>
        </p:spPr>
        <p:txBody>
          <a:bodyPr wrap="square" anchor="t">
            <a:spAutoFit/>
          </a:bodyPr>
          <a:lstStyle/>
          <a:p>
            <a:pPr algn="l"/>
            <a:r>
              <a:rPr sz="920" b="0">
                <a:solidFill>
                  <a:srgbClr val="232B35"/>
                </a:solidFill>
                <a:latin typeface="Aptos"/>
              </a:rPr>
              <a:t>Small releases</a:t>
            </a:r>
          </a:p>
        </p:txBody>
      </p:sp>
      <p:sp>
        <p:nvSpPr>
          <p:cNvPr id="32" name="TextBox 31"/>
          <p:cNvSpPr txBox="1"/>
          <p:nvPr/>
        </p:nvSpPr>
        <p:spPr>
          <a:xfrm>
            <a:off x="9281160" y="4489704"/>
            <a:ext cx="1691640" cy="347472"/>
          </a:xfrm>
          <a:prstGeom prst="rect">
            <a:avLst/>
          </a:prstGeom>
          <a:noFill/>
        </p:spPr>
        <p:txBody>
          <a:bodyPr wrap="square" anchor="t">
            <a:spAutoFit/>
          </a:bodyPr>
          <a:lstStyle/>
          <a:p>
            <a:pPr algn="l"/>
            <a:r>
              <a:rPr sz="820" b="0">
                <a:solidFill>
                  <a:srgbClr val="6A7789"/>
                </a:solidFill>
                <a:latin typeface="Aptos"/>
              </a:rPr>
              <a:t>Matches feature-by-feature work</a:t>
            </a:r>
          </a:p>
        </p:txBody>
      </p:sp>
      <p:sp>
        <p:nvSpPr>
          <p:cNvPr id="33" name="Rounded Rectangle 32"/>
          <p:cNvSpPr/>
          <p:nvPr/>
        </p:nvSpPr>
        <p:spPr>
          <a:xfrm>
            <a:off x="6172200" y="5202936"/>
            <a:ext cx="4983480" cy="658368"/>
          </a:xfrm>
          <a:prstGeom prst="roundRect">
            <a:avLst/>
          </a:prstGeom>
          <a:solidFill>
            <a:srgbClr val="E8F0F9"/>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55080" y="5294376"/>
            <a:ext cx="1371600" cy="201168"/>
          </a:xfrm>
          <a:prstGeom prst="rect">
            <a:avLst/>
          </a:prstGeom>
          <a:noFill/>
        </p:spPr>
        <p:txBody>
          <a:bodyPr wrap="square" anchor="t">
            <a:spAutoFit/>
          </a:bodyPr>
          <a:lstStyle/>
          <a:p>
            <a:pPr algn="l"/>
            <a:r>
              <a:rPr sz="1120" b="1">
                <a:solidFill>
                  <a:srgbClr val="192B49"/>
                </a:solidFill>
                <a:latin typeface="Aptos"/>
              </a:rPr>
              <a:t>Agile</a:t>
            </a:r>
          </a:p>
        </p:txBody>
      </p:sp>
      <p:sp>
        <p:nvSpPr>
          <p:cNvPr id="35" name="TextBox 34"/>
          <p:cNvSpPr txBox="1"/>
          <p:nvPr/>
        </p:nvSpPr>
        <p:spPr>
          <a:xfrm>
            <a:off x="7726679" y="5294376"/>
            <a:ext cx="1600200" cy="201168"/>
          </a:xfrm>
          <a:prstGeom prst="rect">
            <a:avLst/>
          </a:prstGeom>
          <a:noFill/>
        </p:spPr>
        <p:txBody>
          <a:bodyPr wrap="square" anchor="t">
            <a:spAutoFit/>
          </a:bodyPr>
          <a:lstStyle/>
          <a:p>
            <a:pPr algn="l"/>
            <a:r>
              <a:rPr sz="920" b="0">
                <a:solidFill>
                  <a:srgbClr val="232B35"/>
                </a:solidFill>
                <a:latin typeface="Aptos"/>
              </a:rPr>
              <a:t>Iterative + incremental + feedback</a:t>
            </a:r>
          </a:p>
        </p:txBody>
      </p:sp>
      <p:sp>
        <p:nvSpPr>
          <p:cNvPr id="36" name="TextBox 35"/>
          <p:cNvSpPr txBox="1"/>
          <p:nvPr/>
        </p:nvSpPr>
        <p:spPr>
          <a:xfrm>
            <a:off x="9281160" y="5276088"/>
            <a:ext cx="1691640" cy="347472"/>
          </a:xfrm>
          <a:prstGeom prst="rect">
            <a:avLst/>
          </a:prstGeom>
          <a:noFill/>
        </p:spPr>
        <p:txBody>
          <a:bodyPr wrap="square" anchor="t">
            <a:spAutoFit/>
          </a:bodyPr>
          <a:lstStyle/>
          <a:p>
            <a:pPr algn="l"/>
            <a:r>
              <a:rPr sz="820" b="0">
                <a:solidFill>
                  <a:srgbClr val="6A7789"/>
                </a:solidFill>
                <a:latin typeface="Aptos"/>
              </a:rPr>
              <a:t>Selected approach</a:t>
            </a:r>
          </a:p>
        </p:txBody>
      </p:sp>
      <p:sp>
        <p:nvSpPr>
          <p:cNvPr id="37" name="TextBox 36"/>
          <p:cNvSpPr txBox="1"/>
          <p:nvPr/>
        </p:nvSpPr>
        <p:spPr>
          <a:xfrm>
            <a:off x="6199632" y="6053328"/>
            <a:ext cx="4846320" cy="256032"/>
          </a:xfrm>
          <a:prstGeom prst="rect">
            <a:avLst/>
          </a:prstGeom>
          <a:noFill/>
        </p:spPr>
        <p:txBody>
          <a:bodyPr wrap="square" anchor="t">
            <a:spAutoFit/>
          </a:bodyPr>
          <a:lstStyle/>
          <a:p>
            <a:pPr algn="l"/>
            <a:r>
              <a:rPr sz="920" b="1">
                <a:solidFill>
                  <a:srgbClr val="2F5C97"/>
                </a:solidFill>
                <a:latin typeface="Aptos"/>
              </a:rPr>
              <a:t>Selected: Agile — develop small increments, review feedback, then refine the next increment.</a:t>
            </a:r>
          </a:p>
        </p:txBody>
      </p:sp>
      <p:sp>
        <p:nvSpPr>
          <p:cNvPr id="38" name="TextBox 37"/>
          <p:cNvSpPr txBox="1"/>
          <p:nvPr/>
        </p:nvSpPr>
        <p:spPr>
          <a:xfrm>
            <a:off x="502920" y="6510528"/>
            <a:ext cx="7315200" cy="164592"/>
          </a:xfrm>
          <a:prstGeom prst="rect">
            <a:avLst/>
          </a:prstGeom>
          <a:noFill/>
        </p:spPr>
        <p:txBody>
          <a:bodyPr wrap="square" anchor="t">
            <a:spAutoFit/>
          </a:bodyPr>
          <a:lstStyle/>
          <a:p>
            <a:pPr algn="l"/>
            <a:r>
              <a:rPr sz="800" b="0">
                <a:solidFill>
                  <a:srgbClr val="6A7789"/>
                </a:solidFill>
                <a:latin typeface="Aptos"/>
              </a:rPr>
              <a:t>HouseHub • Software Engineering</a:t>
            </a:r>
          </a:p>
        </p:txBody>
      </p:sp>
      <p:sp>
        <p:nvSpPr>
          <p:cNvPr id="39" name="TextBox 38"/>
          <p:cNvSpPr txBox="1"/>
          <p:nvPr/>
        </p:nvSpPr>
        <p:spPr>
          <a:xfrm>
            <a:off x="9601200" y="6510528"/>
            <a:ext cx="2057400" cy="164592"/>
          </a:xfrm>
          <a:prstGeom prst="rect">
            <a:avLst/>
          </a:prstGeom>
          <a:noFill/>
        </p:spPr>
        <p:txBody>
          <a:bodyPr wrap="square" anchor="t">
            <a:spAutoFit/>
          </a:bodyPr>
          <a:lstStyle/>
          <a:p>
            <a:pPr algn="r"/>
            <a:r>
              <a:rPr sz="800" b="0">
                <a:solidFill>
                  <a:srgbClr val="6A7789"/>
                </a:solidFill>
                <a:latin typeface="Aptos"/>
              </a:rPr>
              <a:t>Netrakona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97280" cy="246221"/>
          </a:xfrm>
          <a:prstGeom prst="rect">
            <a:avLst/>
          </a:prstGeom>
          <a:noFill/>
        </p:spPr>
        <p:txBody>
          <a:bodyPr wrap="square" anchor="t">
            <a:spAutoFit/>
          </a:bodyPr>
          <a:lstStyle/>
          <a:p>
            <a:pPr algn="l"/>
            <a:r>
              <a:rPr sz="1000" b="1" dirty="0">
                <a:solidFill>
                  <a:srgbClr val="2F5C97"/>
                </a:solidFill>
                <a:latin typeface="Aptos"/>
              </a:rPr>
              <a:t>SLIDE </a:t>
            </a:r>
            <a:r>
              <a:rPr lang="en-US" sz="1000" b="1" dirty="0" smtClean="0">
                <a:solidFill>
                  <a:srgbClr val="2F5C97"/>
                </a:solidFill>
                <a:latin typeface="Aptos"/>
              </a:rPr>
              <a:t>14</a:t>
            </a:r>
            <a:endParaRPr sz="1000" b="1" dirty="0">
              <a:solidFill>
                <a:srgbClr val="2F5C97"/>
              </a:solidFill>
              <a:latin typeface="Aptos"/>
            </a:endParaRPr>
          </a:p>
        </p:txBody>
      </p:sp>
      <p:sp>
        <p:nvSpPr>
          <p:cNvPr id="3" name="TextBox 2"/>
          <p:cNvSpPr txBox="1"/>
          <p:nvPr/>
        </p:nvSpPr>
        <p:spPr>
          <a:xfrm>
            <a:off x="502920" y="566928"/>
            <a:ext cx="11155680" cy="502920"/>
          </a:xfrm>
          <a:prstGeom prst="rect">
            <a:avLst/>
          </a:prstGeom>
          <a:noFill/>
        </p:spPr>
        <p:txBody>
          <a:bodyPr wrap="square" anchor="t">
            <a:spAutoFit/>
          </a:bodyPr>
          <a:lstStyle/>
          <a:p>
            <a:pPr algn="l"/>
            <a:r>
              <a:rPr sz="2600" b="1">
                <a:solidFill>
                  <a:srgbClr val="192B49"/>
                </a:solidFill>
                <a:latin typeface="Aptos"/>
              </a:rPr>
              <a:t>Use Case Model + Software Design</a:t>
            </a:r>
          </a:p>
        </p:txBody>
      </p:sp>
      <p:sp>
        <p:nvSpPr>
          <p:cNvPr id="4" name="TextBox 3"/>
          <p:cNvSpPr txBox="1"/>
          <p:nvPr/>
        </p:nvSpPr>
        <p:spPr>
          <a:xfrm>
            <a:off x="502920" y="1033271"/>
            <a:ext cx="11064240" cy="292608"/>
          </a:xfrm>
          <a:prstGeom prst="rect">
            <a:avLst/>
          </a:prstGeom>
          <a:noFill/>
        </p:spPr>
        <p:txBody>
          <a:bodyPr wrap="square" anchor="t">
            <a:spAutoFit/>
          </a:bodyPr>
          <a:lstStyle/>
          <a:p>
            <a:pPr algn="l"/>
            <a:r>
              <a:rPr sz="1100" b="0">
                <a:solidFill>
                  <a:srgbClr val="6A7789"/>
                </a:solidFill>
                <a:latin typeface="Aptos"/>
              </a:rPr>
              <a:t>How the main actors interact with HouseHub and how the system is structured</a:t>
            </a:r>
          </a:p>
        </p:txBody>
      </p:sp>
      <p:sp>
        <p:nvSpPr>
          <p:cNvPr id="5" name="Rectangle 4"/>
          <p:cNvSpPr/>
          <p:nvPr/>
        </p:nvSpPr>
        <p:spPr>
          <a:xfrm>
            <a:off x="502920" y="1353312"/>
            <a:ext cx="11201400" cy="22860"/>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19072" y="677957"/>
            <a:ext cx="5121919" cy="4075622"/>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719072"/>
            <a:ext cx="2011680" cy="274320"/>
          </a:xfrm>
          <a:prstGeom prst="rect">
            <a:avLst/>
          </a:prstGeom>
          <a:noFill/>
        </p:spPr>
        <p:txBody>
          <a:bodyPr wrap="square" anchor="t">
            <a:spAutoFit/>
          </a:bodyPr>
          <a:lstStyle/>
          <a:p>
            <a:pPr algn="l"/>
            <a:r>
              <a:rPr sz="1500" b="1">
                <a:solidFill>
                  <a:srgbClr val="192B49"/>
                </a:solidFill>
                <a:latin typeface="Aptos"/>
              </a:rPr>
              <a:t>Use Case Model</a:t>
            </a:r>
          </a:p>
        </p:txBody>
      </p:sp>
      <p:sp>
        <p:nvSpPr>
          <p:cNvPr id="8" name="TextBox 7"/>
          <p:cNvSpPr txBox="1"/>
          <p:nvPr/>
        </p:nvSpPr>
        <p:spPr>
          <a:xfrm>
            <a:off x="758952" y="2221992"/>
            <a:ext cx="274320" cy="228600"/>
          </a:xfrm>
          <a:prstGeom prst="rect">
            <a:avLst/>
          </a:prstGeom>
          <a:noFill/>
        </p:spPr>
        <p:txBody>
          <a:bodyPr wrap="square" anchor="t">
            <a:spAutoFit/>
          </a:bodyPr>
          <a:lstStyle/>
          <a:p>
            <a:pPr algn="ctr"/>
            <a:r>
              <a:rPr sz="1500" b="0">
                <a:solidFill>
                  <a:srgbClr val="232B35"/>
                </a:solidFill>
                <a:latin typeface="Aptos"/>
              </a:rPr>
              <a:t>○</a:t>
            </a:r>
          </a:p>
        </p:txBody>
      </p:sp>
      <p:cxnSp>
        <p:nvCxnSpPr>
          <p:cNvPr id="9" name="Connector 8"/>
          <p:cNvCxnSpPr/>
          <p:nvPr/>
        </p:nvCxnSpPr>
        <p:spPr>
          <a:xfrm>
            <a:off x="896112" y="2496312"/>
            <a:ext cx="0" cy="384048"/>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 y="2587752"/>
            <a:ext cx="164592" cy="18288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96112" y="2587752"/>
            <a:ext cx="164592" cy="18288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8952" y="2880360"/>
            <a:ext cx="137160" cy="22860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96112" y="2880360"/>
            <a:ext cx="137159" cy="22860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93191" y="3154680"/>
            <a:ext cx="1005840" cy="228600"/>
          </a:xfrm>
          <a:prstGeom prst="rect">
            <a:avLst/>
          </a:prstGeom>
          <a:noFill/>
        </p:spPr>
        <p:txBody>
          <a:bodyPr wrap="square" anchor="t">
            <a:spAutoFit/>
          </a:bodyPr>
          <a:lstStyle/>
          <a:p>
            <a:pPr algn="ctr"/>
            <a:r>
              <a:rPr sz="850" b="1">
                <a:solidFill>
                  <a:srgbClr val="192B49"/>
                </a:solidFill>
                <a:latin typeface="Aptos"/>
              </a:rPr>
              <a:t>Tenant</a:t>
            </a:r>
          </a:p>
        </p:txBody>
      </p:sp>
      <p:sp>
        <p:nvSpPr>
          <p:cNvPr id="15" name="TextBox 14"/>
          <p:cNvSpPr txBox="1"/>
          <p:nvPr/>
        </p:nvSpPr>
        <p:spPr>
          <a:xfrm>
            <a:off x="758952" y="4050792"/>
            <a:ext cx="274320" cy="228600"/>
          </a:xfrm>
          <a:prstGeom prst="rect">
            <a:avLst/>
          </a:prstGeom>
          <a:noFill/>
        </p:spPr>
        <p:txBody>
          <a:bodyPr wrap="square" anchor="t">
            <a:spAutoFit/>
          </a:bodyPr>
          <a:lstStyle/>
          <a:p>
            <a:pPr algn="ctr"/>
            <a:r>
              <a:rPr sz="1500" b="0">
                <a:solidFill>
                  <a:srgbClr val="232B35"/>
                </a:solidFill>
                <a:latin typeface="Aptos"/>
              </a:rPr>
              <a:t>○</a:t>
            </a:r>
          </a:p>
        </p:txBody>
      </p:sp>
      <p:cxnSp>
        <p:nvCxnSpPr>
          <p:cNvPr id="16" name="Connector 15"/>
          <p:cNvCxnSpPr/>
          <p:nvPr/>
        </p:nvCxnSpPr>
        <p:spPr>
          <a:xfrm>
            <a:off x="896112" y="4325112"/>
            <a:ext cx="0" cy="384048"/>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731520" y="4416552"/>
            <a:ext cx="164592" cy="18288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96112" y="4416552"/>
            <a:ext cx="164592" cy="18288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58952" y="4709160"/>
            <a:ext cx="137160" cy="22860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96112" y="4709160"/>
            <a:ext cx="137159" cy="22860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93191" y="4983480"/>
            <a:ext cx="1005840" cy="228600"/>
          </a:xfrm>
          <a:prstGeom prst="rect">
            <a:avLst/>
          </a:prstGeom>
          <a:noFill/>
        </p:spPr>
        <p:txBody>
          <a:bodyPr wrap="square" anchor="t">
            <a:spAutoFit/>
          </a:bodyPr>
          <a:lstStyle/>
          <a:p>
            <a:pPr algn="ctr"/>
            <a:r>
              <a:rPr sz="850" b="1" dirty="0">
                <a:solidFill>
                  <a:srgbClr val="192B49"/>
                </a:solidFill>
                <a:latin typeface="Aptos"/>
              </a:rPr>
              <a:t>Owner</a:t>
            </a:r>
          </a:p>
        </p:txBody>
      </p:sp>
      <p:sp>
        <p:nvSpPr>
          <p:cNvPr id="22" name="TextBox 21"/>
          <p:cNvSpPr txBox="1"/>
          <p:nvPr/>
        </p:nvSpPr>
        <p:spPr>
          <a:xfrm>
            <a:off x="6263640" y="3227832"/>
            <a:ext cx="274320" cy="228600"/>
          </a:xfrm>
          <a:prstGeom prst="rect">
            <a:avLst/>
          </a:prstGeom>
          <a:noFill/>
        </p:spPr>
        <p:txBody>
          <a:bodyPr wrap="square" anchor="t">
            <a:spAutoFit/>
          </a:bodyPr>
          <a:lstStyle/>
          <a:p>
            <a:pPr algn="ctr"/>
            <a:r>
              <a:rPr sz="1500" b="0">
                <a:solidFill>
                  <a:srgbClr val="232B35"/>
                </a:solidFill>
                <a:latin typeface="Aptos"/>
              </a:rPr>
              <a:t>○</a:t>
            </a:r>
          </a:p>
        </p:txBody>
      </p:sp>
      <p:cxnSp>
        <p:nvCxnSpPr>
          <p:cNvPr id="23" name="Connector 22"/>
          <p:cNvCxnSpPr/>
          <p:nvPr/>
        </p:nvCxnSpPr>
        <p:spPr>
          <a:xfrm>
            <a:off x="6400800" y="3502152"/>
            <a:ext cx="0" cy="384048"/>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236208" y="3593591"/>
            <a:ext cx="164592" cy="182881"/>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400800" y="3593591"/>
            <a:ext cx="164592" cy="182881"/>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263640" y="3886200"/>
            <a:ext cx="137160" cy="22860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400800" y="3886200"/>
            <a:ext cx="137160" cy="228600"/>
          </a:xfrm>
          <a:prstGeom prst="line">
            <a:avLst/>
          </a:prstGeom>
          <a:ln>
            <a:solidFill>
              <a:srgbClr val="232B3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897880" y="4160520"/>
            <a:ext cx="1005840" cy="228600"/>
          </a:xfrm>
          <a:prstGeom prst="rect">
            <a:avLst/>
          </a:prstGeom>
          <a:noFill/>
        </p:spPr>
        <p:txBody>
          <a:bodyPr wrap="square" anchor="t">
            <a:spAutoFit/>
          </a:bodyPr>
          <a:lstStyle/>
          <a:p>
            <a:pPr algn="ctr"/>
            <a:r>
              <a:rPr sz="850" b="1">
                <a:solidFill>
                  <a:srgbClr val="192B49"/>
                </a:solidFill>
                <a:latin typeface="Aptos"/>
              </a:rPr>
              <a:t>Admin</a:t>
            </a:r>
          </a:p>
        </p:txBody>
      </p:sp>
      <p:sp>
        <p:nvSpPr>
          <p:cNvPr id="29" name="Rectangle 28"/>
          <p:cNvSpPr/>
          <p:nvPr/>
        </p:nvSpPr>
        <p:spPr>
          <a:xfrm>
            <a:off x="1188688" y="2084804"/>
            <a:ext cx="4526280" cy="3657600"/>
          </a:xfrm>
          <a:prstGeom prst="rect">
            <a:avLst/>
          </a:prstGeom>
          <a:no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719072" y="2084831"/>
            <a:ext cx="1828800" cy="201168"/>
          </a:xfrm>
          <a:prstGeom prst="rect">
            <a:avLst/>
          </a:prstGeom>
          <a:noFill/>
        </p:spPr>
        <p:txBody>
          <a:bodyPr wrap="square" anchor="t">
            <a:spAutoFit/>
          </a:bodyPr>
          <a:lstStyle/>
          <a:p>
            <a:pPr algn="l"/>
            <a:r>
              <a:rPr sz="900" b="1">
                <a:solidFill>
                  <a:srgbClr val="2F5C97"/>
                </a:solidFill>
                <a:latin typeface="Aptos"/>
              </a:rPr>
              <a:t>HOUSEHUB SYSTEM</a:t>
            </a:r>
          </a:p>
        </p:txBody>
      </p:sp>
      <p:sp>
        <p:nvSpPr>
          <p:cNvPr id="31" name="Rounded Rectangle 30"/>
          <p:cNvSpPr/>
          <p:nvPr/>
        </p:nvSpPr>
        <p:spPr>
          <a:xfrm>
            <a:off x="1874519" y="2487168"/>
            <a:ext cx="1325880" cy="457200"/>
          </a:xfrm>
          <a:prstGeom prst="roundRect">
            <a:avLst/>
          </a:prstGeom>
          <a:solidFill>
            <a:srgbClr val="FFFFFF"/>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874519" y="2596896"/>
            <a:ext cx="1325880" cy="164592"/>
          </a:xfrm>
          <a:prstGeom prst="rect">
            <a:avLst/>
          </a:prstGeom>
          <a:noFill/>
        </p:spPr>
        <p:txBody>
          <a:bodyPr wrap="square" anchor="t">
            <a:spAutoFit/>
          </a:bodyPr>
          <a:lstStyle/>
          <a:p>
            <a:pPr algn="ctr"/>
            <a:r>
              <a:rPr sz="750" b="1">
                <a:solidFill>
                  <a:srgbClr val="232B35"/>
                </a:solidFill>
                <a:latin typeface="Aptos"/>
              </a:rPr>
              <a:t>Register / Login</a:t>
            </a:r>
          </a:p>
        </p:txBody>
      </p:sp>
      <p:sp>
        <p:nvSpPr>
          <p:cNvPr id="33" name="Rounded Rectangle 32"/>
          <p:cNvSpPr/>
          <p:nvPr/>
        </p:nvSpPr>
        <p:spPr>
          <a:xfrm>
            <a:off x="3401568" y="2487168"/>
            <a:ext cx="1325880" cy="457200"/>
          </a:xfrm>
          <a:prstGeom prst="roundRect">
            <a:avLst/>
          </a:prstGeom>
          <a:solidFill>
            <a:srgbClr val="FFFFFF"/>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01568" y="2596896"/>
            <a:ext cx="1325880" cy="164592"/>
          </a:xfrm>
          <a:prstGeom prst="rect">
            <a:avLst/>
          </a:prstGeom>
          <a:noFill/>
        </p:spPr>
        <p:txBody>
          <a:bodyPr wrap="square" anchor="t">
            <a:spAutoFit/>
          </a:bodyPr>
          <a:lstStyle/>
          <a:p>
            <a:pPr algn="ctr"/>
            <a:r>
              <a:rPr sz="750" b="1">
                <a:solidFill>
                  <a:srgbClr val="232B35"/>
                </a:solidFill>
                <a:latin typeface="Aptos"/>
              </a:rPr>
              <a:t>Search &amp; Filter</a:t>
            </a:r>
          </a:p>
        </p:txBody>
      </p:sp>
      <p:sp>
        <p:nvSpPr>
          <p:cNvPr id="35" name="Rounded Rectangle 34"/>
          <p:cNvSpPr/>
          <p:nvPr/>
        </p:nvSpPr>
        <p:spPr>
          <a:xfrm>
            <a:off x="1874519" y="3273552"/>
            <a:ext cx="1325880" cy="457200"/>
          </a:xfrm>
          <a:prstGeom prst="roundRect">
            <a:avLst/>
          </a:prstGeom>
          <a:solidFill>
            <a:srgbClr val="FFFFFF"/>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874519" y="3383280"/>
            <a:ext cx="1325880" cy="164592"/>
          </a:xfrm>
          <a:prstGeom prst="rect">
            <a:avLst/>
          </a:prstGeom>
          <a:noFill/>
        </p:spPr>
        <p:txBody>
          <a:bodyPr wrap="square" anchor="t">
            <a:spAutoFit/>
          </a:bodyPr>
          <a:lstStyle/>
          <a:p>
            <a:pPr algn="ctr"/>
            <a:r>
              <a:rPr sz="750" b="1">
                <a:solidFill>
                  <a:srgbClr val="232B35"/>
                </a:solidFill>
                <a:latin typeface="Aptos"/>
              </a:rPr>
              <a:t>Manage Listings</a:t>
            </a:r>
          </a:p>
        </p:txBody>
      </p:sp>
      <p:sp>
        <p:nvSpPr>
          <p:cNvPr id="37" name="Rounded Rectangle 36"/>
          <p:cNvSpPr/>
          <p:nvPr/>
        </p:nvSpPr>
        <p:spPr>
          <a:xfrm>
            <a:off x="3401568" y="3273552"/>
            <a:ext cx="1325880" cy="457200"/>
          </a:xfrm>
          <a:prstGeom prst="roundRect">
            <a:avLst/>
          </a:prstGeom>
          <a:solidFill>
            <a:srgbClr val="FFFFFF"/>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401568" y="3383280"/>
            <a:ext cx="1325880" cy="164592"/>
          </a:xfrm>
          <a:prstGeom prst="rect">
            <a:avLst/>
          </a:prstGeom>
          <a:noFill/>
        </p:spPr>
        <p:txBody>
          <a:bodyPr wrap="square" anchor="t">
            <a:spAutoFit/>
          </a:bodyPr>
          <a:lstStyle/>
          <a:p>
            <a:pPr algn="ctr"/>
            <a:r>
              <a:rPr sz="750" b="1">
                <a:solidFill>
                  <a:srgbClr val="232B35"/>
                </a:solidFill>
                <a:latin typeface="Aptos"/>
              </a:rPr>
              <a:t>Wishlist</a:t>
            </a:r>
          </a:p>
        </p:txBody>
      </p:sp>
      <p:sp>
        <p:nvSpPr>
          <p:cNvPr id="39" name="Rounded Rectangle 38"/>
          <p:cNvSpPr/>
          <p:nvPr/>
        </p:nvSpPr>
        <p:spPr>
          <a:xfrm>
            <a:off x="1874519" y="4059936"/>
            <a:ext cx="1325880" cy="457200"/>
          </a:xfrm>
          <a:prstGeom prst="roundRect">
            <a:avLst/>
          </a:prstGeom>
          <a:solidFill>
            <a:srgbClr val="FFFFFF"/>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74519" y="4169664"/>
            <a:ext cx="1325880" cy="164592"/>
          </a:xfrm>
          <a:prstGeom prst="rect">
            <a:avLst/>
          </a:prstGeom>
          <a:noFill/>
        </p:spPr>
        <p:txBody>
          <a:bodyPr wrap="square" anchor="t">
            <a:spAutoFit/>
          </a:bodyPr>
          <a:lstStyle/>
          <a:p>
            <a:pPr algn="ctr"/>
            <a:r>
              <a:rPr sz="750" b="1">
                <a:solidFill>
                  <a:srgbClr val="232B35"/>
                </a:solidFill>
                <a:latin typeface="Aptos"/>
              </a:rPr>
              <a:t>Send Interest</a:t>
            </a:r>
          </a:p>
        </p:txBody>
      </p:sp>
      <p:sp>
        <p:nvSpPr>
          <p:cNvPr id="41" name="Rounded Rectangle 40"/>
          <p:cNvSpPr/>
          <p:nvPr/>
        </p:nvSpPr>
        <p:spPr>
          <a:xfrm>
            <a:off x="3401568" y="4059936"/>
            <a:ext cx="1325880" cy="457200"/>
          </a:xfrm>
          <a:prstGeom prst="roundRect">
            <a:avLst/>
          </a:prstGeom>
          <a:solidFill>
            <a:srgbClr val="FFFFFF"/>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01568" y="4169664"/>
            <a:ext cx="1325880" cy="164592"/>
          </a:xfrm>
          <a:prstGeom prst="rect">
            <a:avLst/>
          </a:prstGeom>
          <a:noFill/>
        </p:spPr>
        <p:txBody>
          <a:bodyPr wrap="square" anchor="t">
            <a:spAutoFit/>
          </a:bodyPr>
          <a:lstStyle/>
          <a:p>
            <a:pPr algn="ctr"/>
            <a:r>
              <a:rPr sz="750" b="1">
                <a:solidFill>
                  <a:srgbClr val="232B35"/>
                </a:solidFill>
                <a:latin typeface="Aptos"/>
              </a:rPr>
              <a:t>Accept / Reject</a:t>
            </a:r>
          </a:p>
        </p:txBody>
      </p:sp>
      <p:sp>
        <p:nvSpPr>
          <p:cNvPr id="43" name="Rounded Rectangle 42"/>
          <p:cNvSpPr/>
          <p:nvPr/>
        </p:nvSpPr>
        <p:spPr>
          <a:xfrm>
            <a:off x="1874519" y="4846320"/>
            <a:ext cx="1325880" cy="457200"/>
          </a:xfrm>
          <a:prstGeom prst="roundRect">
            <a:avLst/>
          </a:prstGeom>
          <a:solidFill>
            <a:srgbClr val="FFFFFF"/>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874519" y="4956048"/>
            <a:ext cx="1325880" cy="164592"/>
          </a:xfrm>
          <a:prstGeom prst="rect">
            <a:avLst/>
          </a:prstGeom>
          <a:noFill/>
        </p:spPr>
        <p:txBody>
          <a:bodyPr wrap="square" anchor="t">
            <a:spAutoFit/>
          </a:bodyPr>
          <a:lstStyle/>
          <a:p>
            <a:pPr algn="ctr"/>
            <a:r>
              <a:rPr sz="750" b="1">
                <a:solidFill>
                  <a:srgbClr val="232B35"/>
                </a:solidFill>
                <a:latin typeface="Aptos"/>
              </a:rPr>
              <a:t>View Contact</a:t>
            </a:r>
          </a:p>
        </p:txBody>
      </p:sp>
      <p:sp>
        <p:nvSpPr>
          <p:cNvPr id="45" name="Rounded Rectangle 44"/>
          <p:cNvSpPr/>
          <p:nvPr/>
        </p:nvSpPr>
        <p:spPr>
          <a:xfrm>
            <a:off x="3401568" y="4846320"/>
            <a:ext cx="1325880" cy="457200"/>
          </a:xfrm>
          <a:prstGeom prst="roundRect">
            <a:avLst/>
          </a:prstGeom>
          <a:solidFill>
            <a:srgbClr val="FFFFFF"/>
          </a:solidFill>
          <a:ln w="12700">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401568" y="4956048"/>
            <a:ext cx="1325880" cy="164592"/>
          </a:xfrm>
          <a:prstGeom prst="rect">
            <a:avLst/>
          </a:prstGeom>
          <a:noFill/>
        </p:spPr>
        <p:txBody>
          <a:bodyPr wrap="square" anchor="t">
            <a:spAutoFit/>
          </a:bodyPr>
          <a:lstStyle/>
          <a:p>
            <a:pPr algn="ctr"/>
            <a:r>
              <a:rPr sz="750" b="1">
                <a:solidFill>
                  <a:srgbClr val="232B35"/>
                </a:solidFill>
                <a:latin typeface="Aptos"/>
              </a:rPr>
              <a:t>Admin Control</a:t>
            </a:r>
          </a:p>
        </p:txBody>
      </p:sp>
      <p:cxnSp>
        <p:nvCxnSpPr>
          <p:cNvPr id="47" name="Connector 46"/>
          <p:cNvCxnSpPr/>
          <p:nvPr/>
        </p:nvCxnSpPr>
        <p:spPr>
          <a:xfrm>
            <a:off x="1188720" y="2715768"/>
            <a:ext cx="685799" cy="0"/>
          </a:xfrm>
          <a:prstGeom prst="line">
            <a:avLst/>
          </a:prstGeom>
          <a:ln>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1581912" cy="0"/>
          </a:xfrm>
          <a:prstGeom prst="line">
            <a:avLst/>
          </a:prstGeom>
          <a:ln>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88720" y="3502152"/>
            <a:ext cx="685799" cy="0"/>
          </a:xfrm>
          <a:prstGeom prst="line">
            <a:avLst/>
          </a:prstGeom>
          <a:ln>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932098" y="3389703"/>
            <a:ext cx="1581912" cy="0"/>
          </a:xfrm>
          <a:prstGeom prst="line">
            <a:avLst/>
          </a:prstGeom>
          <a:ln>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88720" y="4288536"/>
            <a:ext cx="685799" cy="0"/>
          </a:xfrm>
          <a:prstGeom prst="line">
            <a:avLst/>
          </a:prstGeom>
          <a:ln>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4288536"/>
            <a:ext cx="1581912" cy="0"/>
          </a:xfrm>
          <a:prstGeom prst="line">
            <a:avLst/>
          </a:prstGeom>
          <a:ln>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88720" y="5074920"/>
            <a:ext cx="685799" cy="0"/>
          </a:xfrm>
          <a:prstGeom prst="line">
            <a:avLst/>
          </a:prstGeom>
          <a:ln>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727448" y="5074920"/>
            <a:ext cx="1581912" cy="0"/>
          </a:xfrm>
          <a:prstGeom prst="line">
            <a:avLst/>
          </a:prstGeom>
          <a:ln>
            <a:solidFill>
              <a:srgbClr val="6A7789"/>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7319776" y="1719062"/>
            <a:ext cx="4297680" cy="452628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571231" y="1719072"/>
            <a:ext cx="2560320" cy="274320"/>
          </a:xfrm>
          <a:prstGeom prst="rect">
            <a:avLst/>
          </a:prstGeom>
          <a:noFill/>
        </p:spPr>
        <p:txBody>
          <a:bodyPr wrap="square" anchor="t">
            <a:spAutoFit/>
          </a:bodyPr>
          <a:lstStyle/>
          <a:p>
            <a:pPr algn="l"/>
            <a:r>
              <a:rPr sz="1500" b="1">
                <a:solidFill>
                  <a:srgbClr val="192B49"/>
                </a:solidFill>
                <a:latin typeface="Aptos"/>
              </a:rPr>
              <a:t>Software Design (3 Layers)</a:t>
            </a:r>
          </a:p>
        </p:txBody>
      </p:sp>
      <p:sp>
        <p:nvSpPr>
          <p:cNvPr id="57" name="Rounded Rectangle 56"/>
          <p:cNvSpPr/>
          <p:nvPr/>
        </p:nvSpPr>
        <p:spPr>
          <a:xfrm>
            <a:off x="7726679" y="2240280"/>
            <a:ext cx="3566160" cy="82296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936992" y="2350008"/>
            <a:ext cx="1600200" cy="201168"/>
          </a:xfrm>
          <a:prstGeom prst="rect">
            <a:avLst/>
          </a:prstGeom>
          <a:noFill/>
        </p:spPr>
        <p:txBody>
          <a:bodyPr wrap="square" anchor="t">
            <a:spAutoFit/>
          </a:bodyPr>
          <a:lstStyle/>
          <a:p>
            <a:pPr algn="l"/>
            <a:r>
              <a:rPr sz="1050" b="1">
                <a:solidFill>
                  <a:srgbClr val="192B49"/>
                </a:solidFill>
                <a:latin typeface="Aptos"/>
              </a:rPr>
              <a:t>Presentation Layer</a:t>
            </a:r>
          </a:p>
        </p:txBody>
      </p:sp>
      <p:sp>
        <p:nvSpPr>
          <p:cNvPr id="59" name="TextBox 58"/>
          <p:cNvSpPr txBox="1"/>
          <p:nvPr/>
        </p:nvSpPr>
        <p:spPr>
          <a:xfrm>
            <a:off x="7936992" y="2624328"/>
            <a:ext cx="3063240" cy="228600"/>
          </a:xfrm>
          <a:prstGeom prst="rect">
            <a:avLst/>
          </a:prstGeom>
          <a:noFill/>
        </p:spPr>
        <p:txBody>
          <a:bodyPr wrap="square" anchor="t">
            <a:spAutoFit/>
          </a:bodyPr>
          <a:lstStyle/>
          <a:p>
            <a:pPr algn="l"/>
            <a:r>
              <a:rPr sz="850" b="0">
                <a:solidFill>
                  <a:srgbClr val="232B35"/>
                </a:solidFill>
                <a:latin typeface="Aptos"/>
              </a:rPr>
              <a:t>HTML • CSS • Bootstrap • JS</a:t>
            </a:r>
          </a:p>
        </p:txBody>
      </p:sp>
      <p:sp>
        <p:nvSpPr>
          <p:cNvPr id="60" name="TextBox 59"/>
          <p:cNvSpPr txBox="1"/>
          <p:nvPr/>
        </p:nvSpPr>
        <p:spPr>
          <a:xfrm>
            <a:off x="9372600" y="3072384"/>
            <a:ext cx="365760" cy="182880"/>
          </a:xfrm>
          <a:prstGeom prst="rect">
            <a:avLst/>
          </a:prstGeom>
          <a:noFill/>
        </p:spPr>
        <p:txBody>
          <a:bodyPr wrap="square" anchor="t">
            <a:spAutoFit/>
          </a:bodyPr>
          <a:lstStyle/>
          <a:p>
            <a:pPr algn="ctr"/>
            <a:r>
              <a:rPr sz="1300" b="1">
                <a:solidFill>
                  <a:srgbClr val="6A7789"/>
                </a:solidFill>
                <a:latin typeface="Aptos"/>
              </a:rPr>
              <a:t>↓</a:t>
            </a:r>
          </a:p>
        </p:txBody>
      </p:sp>
      <p:sp>
        <p:nvSpPr>
          <p:cNvPr id="61" name="Rounded Rectangle 60"/>
          <p:cNvSpPr/>
          <p:nvPr/>
        </p:nvSpPr>
        <p:spPr>
          <a:xfrm>
            <a:off x="7726679" y="3319272"/>
            <a:ext cx="3566160" cy="82296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936992" y="3429000"/>
            <a:ext cx="1600200" cy="201168"/>
          </a:xfrm>
          <a:prstGeom prst="rect">
            <a:avLst/>
          </a:prstGeom>
          <a:noFill/>
        </p:spPr>
        <p:txBody>
          <a:bodyPr wrap="square" anchor="t">
            <a:spAutoFit/>
          </a:bodyPr>
          <a:lstStyle/>
          <a:p>
            <a:pPr algn="l"/>
            <a:r>
              <a:rPr sz="1050" b="1">
                <a:solidFill>
                  <a:srgbClr val="192B49"/>
                </a:solidFill>
                <a:latin typeface="Aptos"/>
              </a:rPr>
              <a:t>Application Layer</a:t>
            </a:r>
          </a:p>
        </p:txBody>
      </p:sp>
      <p:sp>
        <p:nvSpPr>
          <p:cNvPr id="63" name="TextBox 62"/>
          <p:cNvSpPr txBox="1"/>
          <p:nvPr/>
        </p:nvSpPr>
        <p:spPr>
          <a:xfrm>
            <a:off x="7936992" y="3703320"/>
            <a:ext cx="3063240" cy="228600"/>
          </a:xfrm>
          <a:prstGeom prst="rect">
            <a:avLst/>
          </a:prstGeom>
          <a:noFill/>
        </p:spPr>
        <p:txBody>
          <a:bodyPr wrap="square" anchor="t">
            <a:spAutoFit/>
          </a:bodyPr>
          <a:lstStyle/>
          <a:p>
            <a:pPr algn="l"/>
            <a:r>
              <a:rPr sz="850" b="0">
                <a:solidFill>
                  <a:srgbClr val="232B35"/>
                </a:solidFill>
                <a:latin typeface="Aptos"/>
              </a:rPr>
              <a:t>Express routes • controllers • JWT • middleware</a:t>
            </a:r>
          </a:p>
        </p:txBody>
      </p:sp>
      <p:sp>
        <p:nvSpPr>
          <p:cNvPr id="64" name="TextBox 63"/>
          <p:cNvSpPr txBox="1"/>
          <p:nvPr/>
        </p:nvSpPr>
        <p:spPr>
          <a:xfrm>
            <a:off x="9372600" y="4151376"/>
            <a:ext cx="365760" cy="182880"/>
          </a:xfrm>
          <a:prstGeom prst="rect">
            <a:avLst/>
          </a:prstGeom>
          <a:noFill/>
        </p:spPr>
        <p:txBody>
          <a:bodyPr wrap="square" anchor="t">
            <a:spAutoFit/>
          </a:bodyPr>
          <a:lstStyle/>
          <a:p>
            <a:pPr algn="ctr"/>
            <a:r>
              <a:rPr sz="1300" b="1">
                <a:solidFill>
                  <a:srgbClr val="6A7789"/>
                </a:solidFill>
                <a:latin typeface="Aptos"/>
              </a:rPr>
              <a:t>↓</a:t>
            </a:r>
          </a:p>
        </p:txBody>
      </p:sp>
      <p:sp>
        <p:nvSpPr>
          <p:cNvPr id="65" name="Rounded Rectangle 64"/>
          <p:cNvSpPr/>
          <p:nvPr/>
        </p:nvSpPr>
        <p:spPr>
          <a:xfrm>
            <a:off x="7726679" y="4398264"/>
            <a:ext cx="3566160" cy="82296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936992" y="4507992"/>
            <a:ext cx="1600200" cy="201168"/>
          </a:xfrm>
          <a:prstGeom prst="rect">
            <a:avLst/>
          </a:prstGeom>
          <a:noFill/>
        </p:spPr>
        <p:txBody>
          <a:bodyPr wrap="square" anchor="t">
            <a:spAutoFit/>
          </a:bodyPr>
          <a:lstStyle/>
          <a:p>
            <a:pPr algn="l"/>
            <a:r>
              <a:rPr sz="1050" b="1">
                <a:solidFill>
                  <a:srgbClr val="192B49"/>
                </a:solidFill>
                <a:latin typeface="Aptos"/>
              </a:rPr>
              <a:t>Data Layer</a:t>
            </a:r>
          </a:p>
        </p:txBody>
      </p:sp>
      <p:sp>
        <p:nvSpPr>
          <p:cNvPr id="67" name="TextBox 66"/>
          <p:cNvSpPr txBox="1"/>
          <p:nvPr/>
        </p:nvSpPr>
        <p:spPr>
          <a:xfrm>
            <a:off x="7936992" y="4782312"/>
            <a:ext cx="3063240" cy="228600"/>
          </a:xfrm>
          <a:prstGeom prst="rect">
            <a:avLst/>
          </a:prstGeom>
          <a:noFill/>
        </p:spPr>
        <p:txBody>
          <a:bodyPr wrap="square" anchor="t">
            <a:spAutoFit/>
          </a:bodyPr>
          <a:lstStyle/>
          <a:p>
            <a:pPr algn="l"/>
            <a:r>
              <a:rPr sz="850" b="0">
                <a:solidFill>
                  <a:srgbClr val="232B35"/>
                </a:solidFill>
                <a:latin typeface="Aptos"/>
              </a:rPr>
              <a:t>MySQL • tables • foreign keys • queries</a:t>
            </a:r>
          </a:p>
        </p:txBody>
      </p:sp>
      <p:sp>
        <p:nvSpPr>
          <p:cNvPr id="68" name="TextBox 67"/>
          <p:cNvSpPr txBox="1"/>
          <p:nvPr/>
        </p:nvSpPr>
        <p:spPr>
          <a:xfrm>
            <a:off x="7726679" y="5532120"/>
            <a:ext cx="3566160" cy="384048"/>
          </a:xfrm>
          <a:prstGeom prst="rect">
            <a:avLst/>
          </a:prstGeom>
          <a:noFill/>
        </p:spPr>
        <p:txBody>
          <a:bodyPr wrap="square" anchor="t">
            <a:spAutoFit/>
          </a:bodyPr>
          <a:lstStyle/>
          <a:p>
            <a:pPr algn="ctr"/>
            <a:r>
              <a:rPr sz="900" b="1">
                <a:solidFill>
                  <a:srgbClr val="2F5C97"/>
                </a:solidFill>
                <a:latin typeface="Aptos"/>
              </a:rPr>
              <a:t>Frontend → REST API → Database → Response</a:t>
            </a:r>
          </a:p>
        </p:txBody>
      </p:sp>
      <p:sp>
        <p:nvSpPr>
          <p:cNvPr id="69" name="TextBox 68"/>
          <p:cNvSpPr txBox="1"/>
          <p:nvPr/>
        </p:nvSpPr>
        <p:spPr>
          <a:xfrm>
            <a:off x="502920" y="6510528"/>
            <a:ext cx="7315200" cy="164592"/>
          </a:xfrm>
          <a:prstGeom prst="rect">
            <a:avLst/>
          </a:prstGeom>
          <a:noFill/>
        </p:spPr>
        <p:txBody>
          <a:bodyPr wrap="square" anchor="t">
            <a:spAutoFit/>
          </a:bodyPr>
          <a:lstStyle/>
          <a:p>
            <a:pPr algn="l"/>
            <a:r>
              <a:rPr sz="800" b="0">
                <a:solidFill>
                  <a:srgbClr val="6A7789"/>
                </a:solidFill>
                <a:latin typeface="Aptos"/>
              </a:rPr>
              <a:t>HouseHub • Software Engineering</a:t>
            </a:r>
          </a:p>
        </p:txBody>
      </p:sp>
      <p:sp>
        <p:nvSpPr>
          <p:cNvPr id="70" name="TextBox 69"/>
          <p:cNvSpPr txBox="1"/>
          <p:nvPr/>
        </p:nvSpPr>
        <p:spPr>
          <a:xfrm>
            <a:off x="9601200" y="6510528"/>
            <a:ext cx="2057400" cy="164592"/>
          </a:xfrm>
          <a:prstGeom prst="rect">
            <a:avLst/>
          </a:prstGeom>
          <a:noFill/>
        </p:spPr>
        <p:txBody>
          <a:bodyPr wrap="square" anchor="t">
            <a:spAutoFit/>
          </a:bodyPr>
          <a:lstStyle/>
          <a:p>
            <a:pPr algn="r"/>
            <a:r>
              <a:rPr sz="800" b="0">
                <a:solidFill>
                  <a:srgbClr val="6A7789"/>
                </a:solidFill>
                <a:latin typeface="Aptos"/>
              </a:rPr>
              <a:t>Netrakona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97280" cy="246221"/>
          </a:xfrm>
          <a:prstGeom prst="rect">
            <a:avLst/>
          </a:prstGeom>
          <a:noFill/>
        </p:spPr>
        <p:txBody>
          <a:bodyPr wrap="square" anchor="t">
            <a:spAutoFit/>
          </a:bodyPr>
          <a:lstStyle/>
          <a:p>
            <a:pPr algn="l"/>
            <a:r>
              <a:rPr sz="1000" b="1" dirty="0">
                <a:solidFill>
                  <a:srgbClr val="2F5C97"/>
                </a:solidFill>
                <a:latin typeface="Aptos"/>
              </a:rPr>
              <a:t>SLIDE </a:t>
            </a:r>
            <a:r>
              <a:rPr sz="1000" b="1" dirty="0" smtClean="0">
                <a:solidFill>
                  <a:srgbClr val="2F5C97"/>
                </a:solidFill>
                <a:latin typeface="Aptos"/>
              </a:rPr>
              <a:t>1</a:t>
            </a:r>
            <a:r>
              <a:rPr lang="en-US" sz="1000" b="1" dirty="0" smtClean="0">
                <a:solidFill>
                  <a:srgbClr val="2F5C97"/>
                </a:solidFill>
                <a:latin typeface="Aptos"/>
              </a:rPr>
              <a:t>5</a:t>
            </a:r>
            <a:endParaRPr sz="1000" b="1" dirty="0">
              <a:solidFill>
                <a:srgbClr val="2F5C97"/>
              </a:solidFill>
              <a:latin typeface="Aptos"/>
            </a:endParaRPr>
          </a:p>
        </p:txBody>
      </p:sp>
      <p:sp>
        <p:nvSpPr>
          <p:cNvPr id="3" name="TextBox 2"/>
          <p:cNvSpPr txBox="1"/>
          <p:nvPr/>
        </p:nvSpPr>
        <p:spPr>
          <a:xfrm>
            <a:off x="502920" y="566928"/>
            <a:ext cx="11155680" cy="502920"/>
          </a:xfrm>
          <a:prstGeom prst="rect">
            <a:avLst/>
          </a:prstGeom>
          <a:noFill/>
        </p:spPr>
        <p:txBody>
          <a:bodyPr wrap="square" anchor="t">
            <a:spAutoFit/>
          </a:bodyPr>
          <a:lstStyle/>
          <a:p>
            <a:pPr algn="l"/>
            <a:r>
              <a:rPr sz="2600" b="1" dirty="0">
                <a:solidFill>
                  <a:srgbClr val="192B49"/>
                </a:solidFill>
                <a:latin typeface="Aptos"/>
              </a:rPr>
              <a:t>Software Project Management — Schedule &amp; Dependencies</a:t>
            </a:r>
          </a:p>
        </p:txBody>
      </p:sp>
      <p:sp>
        <p:nvSpPr>
          <p:cNvPr id="4" name="TextBox 3"/>
          <p:cNvSpPr txBox="1"/>
          <p:nvPr/>
        </p:nvSpPr>
        <p:spPr>
          <a:xfrm>
            <a:off x="502920" y="1033271"/>
            <a:ext cx="11064240" cy="292608"/>
          </a:xfrm>
          <a:prstGeom prst="rect">
            <a:avLst/>
          </a:prstGeom>
          <a:noFill/>
        </p:spPr>
        <p:txBody>
          <a:bodyPr wrap="square" anchor="t">
            <a:spAutoFit/>
          </a:bodyPr>
          <a:lstStyle/>
          <a:p>
            <a:pPr algn="l"/>
            <a:r>
              <a:rPr sz="1100" b="0">
                <a:solidFill>
                  <a:srgbClr val="6A7789"/>
                </a:solidFill>
                <a:latin typeface="Aptos"/>
              </a:rPr>
              <a:t>A compact project plan using the lecture's Gantt and PERT concepts</a:t>
            </a:r>
          </a:p>
        </p:txBody>
      </p:sp>
      <p:sp>
        <p:nvSpPr>
          <p:cNvPr id="5" name="Rectangle 4"/>
          <p:cNvSpPr/>
          <p:nvPr/>
        </p:nvSpPr>
        <p:spPr>
          <a:xfrm>
            <a:off x="502920" y="1353312"/>
            <a:ext cx="11201400" cy="22860"/>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600200"/>
            <a:ext cx="6629400" cy="452628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755648"/>
            <a:ext cx="2468880" cy="274320"/>
          </a:xfrm>
          <a:prstGeom prst="rect">
            <a:avLst/>
          </a:prstGeom>
          <a:noFill/>
        </p:spPr>
        <p:txBody>
          <a:bodyPr wrap="square" anchor="t">
            <a:spAutoFit/>
          </a:bodyPr>
          <a:lstStyle/>
          <a:p>
            <a:pPr algn="l"/>
            <a:r>
              <a:rPr sz="1500" b="1">
                <a:solidFill>
                  <a:srgbClr val="192B49"/>
                </a:solidFill>
                <a:latin typeface="Aptos"/>
              </a:rPr>
              <a:t>Gantt / Bar Chart</a:t>
            </a:r>
          </a:p>
        </p:txBody>
      </p:sp>
      <p:sp>
        <p:nvSpPr>
          <p:cNvPr id="8" name="TextBox 7"/>
          <p:cNvSpPr txBox="1"/>
          <p:nvPr/>
        </p:nvSpPr>
        <p:spPr>
          <a:xfrm>
            <a:off x="2423160" y="2103120"/>
            <a:ext cx="502920" cy="201168"/>
          </a:xfrm>
          <a:prstGeom prst="rect">
            <a:avLst/>
          </a:prstGeom>
          <a:noFill/>
        </p:spPr>
        <p:txBody>
          <a:bodyPr wrap="square" anchor="t">
            <a:spAutoFit/>
          </a:bodyPr>
          <a:lstStyle/>
          <a:p>
            <a:pPr algn="ctr"/>
            <a:r>
              <a:rPr sz="750" b="1">
                <a:solidFill>
                  <a:srgbClr val="6A7789"/>
                </a:solidFill>
                <a:latin typeface="Aptos"/>
              </a:rPr>
              <a:t>1</a:t>
            </a:r>
          </a:p>
        </p:txBody>
      </p:sp>
      <p:sp>
        <p:nvSpPr>
          <p:cNvPr id="9" name="TextBox 8"/>
          <p:cNvSpPr txBox="1"/>
          <p:nvPr/>
        </p:nvSpPr>
        <p:spPr>
          <a:xfrm>
            <a:off x="2926080" y="2103120"/>
            <a:ext cx="502920" cy="201168"/>
          </a:xfrm>
          <a:prstGeom prst="rect">
            <a:avLst/>
          </a:prstGeom>
          <a:noFill/>
        </p:spPr>
        <p:txBody>
          <a:bodyPr wrap="square" anchor="t">
            <a:spAutoFit/>
          </a:bodyPr>
          <a:lstStyle/>
          <a:p>
            <a:pPr algn="ctr"/>
            <a:r>
              <a:rPr sz="750" b="1">
                <a:solidFill>
                  <a:srgbClr val="6A7789"/>
                </a:solidFill>
                <a:latin typeface="Aptos"/>
              </a:rPr>
              <a:t>2</a:t>
            </a:r>
          </a:p>
        </p:txBody>
      </p:sp>
      <p:sp>
        <p:nvSpPr>
          <p:cNvPr id="10" name="TextBox 9"/>
          <p:cNvSpPr txBox="1"/>
          <p:nvPr/>
        </p:nvSpPr>
        <p:spPr>
          <a:xfrm>
            <a:off x="3429000" y="2103120"/>
            <a:ext cx="502920" cy="201168"/>
          </a:xfrm>
          <a:prstGeom prst="rect">
            <a:avLst/>
          </a:prstGeom>
          <a:noFill/>
        </p:spPr>
        <p:txBody>
          <a:bodyPr wrap="square" anchor="t">
            <a:spAutoFit/>
          </a:bodyPr>
          <a:lstStyle/>
          <a:p>
            <a:pPr algn="ctr"/>
            <a:r>
              <a:rPr sz="750" b="1">
                <a:solidFill>
                  <a:srgbClr val="6A7789"/>
                </a:solidFill>
                <a:latin typeface="Aptos"/>
              </a:rPr>
              <a:t>3</a:t>
            </a:r>
          </a:p>
        </p:txBody>
      </p:sp>
      <p:sp>
        <p:nvSpPr>
          <p:cNvPr id="11" name="TextBox 10"/>
          <p:cNvSpPr txBox="1"/>
          <p:nvPr/>
        </p:nvSpPr>
        <p:spPr>
          <a:xfrm>
            <a:off x="3931920" y="2103120"/>
            <a:ext cx="502920" cy="201168"/>
          </a:xfrm>
          <a:prstGeom prst="rect">
            <a:avLst/>
          </a:prstGeom>
          <a:noFill/>
        </p:spPr>
        <p:txBody>
          <a:bodyPr wrap="square" anchor="t">
            <a:spAutoFit/>
          </a:bodyPr>
          <a:lstStyle/>
          <a:p>
            <a:pPr algn="ctr"/>
            <a:r>
              <a:rPr sz="750" b="1">
                <a:solidFill>
                  <a:srgbClr val="6A7789"/>
                </a:solidFill>
                <a:latin typeface="Aptos"/>
              </a:rPr>
              <a:t>4</a:t>
            </a:r>
          </a:p>
        </p:txBody>
      </p:sp>
      <p:sp>
        <p:nvSpPr>
          <p:cNvPr id="12" name="TextBox 11"/>
          <p:cNvSpPr txBox="1"/>
          <p:nvPr/>
        </p:nvSpPr>
        <p:spPr>
          <a:xfrm>
            <a:off x="4434840" y="2103120"/>
            <a:ext cx="502920" cy="201168"/>
          </a:xfrm>
          <a:prstGeom prst="rect">
            <a:avLst/>
          </a:prstGeom>
          <a:noFill/>
        </p:spPr>
        <p:txBody>
          <a:bodyPr wrap="square" anchor="t">
            <a:spAutoFit/>
          </a:bodyPr>
          <a:lstStyle/>
          <a:p>
            <a:pPr algn="ctr"/>
            <a:r>
              <a:rPr sz="750" b="1">
                <a:solidFill>
                  <a:srgbClr val="6A7789"/>
                </a:solidFill>
                <a:latin typeface="Aptos"/>
              </a:rPr>
              <a:t>5</a:t>
            </a:r>
          </a:p>
        </p:txBody>
      </p:sp>
      <p:sp>
        <p:nvSpPr>
          <p:cNvPr id="13" name="TextBox 12"/>
          <p:cNvSpPr txBox="1"/>
          <p:nvPr/>
        </p:nvSpPr>
        <p:spPr>
          <a:xfrm>
            <a:off x="4937760" y="2103120"/>
            <a:ext cx="502920" cy="201168"/>
          </a:xfrm>
          <a:prstGeom prst="rect">
            <a:avLst/>
          </a:prstGeom>
          <a:noFill/>
        </p:spPr>
        <p:txBody>
          <a:bodyPr wrap="square" anchor="t">
            <a:spAutoFit/>
          </a:bodyPr>
          <a:lstStyle/>
          <a:p>
            <a:pPr algn="ctr"/>
            <a:r>
              <a:rPr sz="750" b="1">
                <a:solidFill>
                  <a:srgbClr val="6A7789"/>
                </a:solidFill>
                <a:latin typeface="Aptos"/>
              </a:rPr>
              <a:t>6</a:t>
            </a:r>
          </a:p>
        </p:txBody>
      </p:sp>
      <p:sp>
        <p:nvSpPr>
          <p:cNvPr id="14" name="TextBox 13"/>
          <p:cNvSpPr txBox="1"/>
          <p:nvPr/>
        </p:nvSpPr>
        <p:spPr>
          <a:xfrm>
            <a:off x="5440680" y="2103120"/>
            <a:ext cx="502920" cy="201168"/>
          </a:xfrm>
          <a:prstGeom prst="rect">
            <a:avLst/>
          </a:prstGeom>
          <a:noFill/>
        </p:spPr>
        <p:txBody>
          <a:bodyPr wrap="square" anchor="t">
            <a:spAutoFit/>
          </a:bodyPr>
          <a:lstStyle/>
          <a:p>
            <a:pPr algn="ctr"/>
            <a:r>
              <a:rPr sz="750" b="1">
                <a:solidFill>
                  <a:srgbClr val="6A7789"/>
                </a:solidFill>
                <a:latin typeface="Aptos"/>
              </a:rPr>
              <a:t>7</a:t>
            </a:r>
          </a:p>
        </p:txBody>
      </p:sp>
      <p:sp>
        <p:nvSpPr>
          <p:cNvPr id="15" name="TextBox 14"/>
          <p:cNvSpPr txBox="1"/>
          <p:nvPr/>
        </p:nvSpPr>
        <p:spPr>
          <a:xfrm>
            <a:off x="5943600" y="2103120"/>
            <a:ext cx="502920" cy="201168"/>
          </a:xfrm>
          <a:prstGeom prst="rect">
            <a:avLst/>
          </a:prstGeom>
          <a:noFill/>
        </p:spPr>
        <p:txBody>
          <a:bodyPr wrap="square" anchor="t">
            <a:spAutoFit/>
          </a:bodyPr>
          <a:lstStyle/>
          <a:p>
            <a:pPr algn="ctr"/>
            <a:r>
              <a:rPr sz="750" b="1">
                <a:solidFill>
                  <a:srgbClr val="6A7789"/>
                </a:solidFill>
                <a:latin typeface="Aptos"/>
              </a:rPr>
              <a:t>8</a:t>
            </a:r>
          </a:p>
        </p:txBody>
      </p:sp>
      <p:sp>
        <p:nvSpPr>
          <p:cNvPr id="16" name="TextBox 15"/>
          <p:cNvSpPr txBox="1"/>
          <p:nvPr/>
        </p:nvSpPr>
        <p:spPr>
          <a:xfrm>
            <a:off x="6446520" y="2103120"/>
            <a:ext cx="502920" cy="201168"/>
          </a:xfrm>
          <a:prstGeom prst="rect">
            <a:avLst/>
          </a:prstGeom>
          <a:noFill/>
        </p:spPr>
        <p:txBody>
          <a:bodyPr wrap="square" anchor="t">
            <a:spAutoFit/>
          </a:bodyPr>
          <a:lstStyle/>
          <a:p>
            <a:pPr algn="ctr"/>
            <a:r>
              <a:rPr sz="750" b="1">
                <a:solidFill>
                  <a:srgbClr val="6A7789"/>
                </a:solidFill>
                <a:latin typeface="Aptos"/>
              </a:rPr>
              <a:t>9</a:t>
            </a:r>
          </a:p>
        </p:txBody>
      </p:sp>
      <p:sp>
        <p:nvSpPr>
          <p:cNvPr id="17" name="TextBox 16"/>
          <p:cNvSpPr txBox="1"/>
          <p:nvPr/>
        </p:nvSpPr>
        <p:spPr>
          <a:xfrm>
            <a:off x="6949440" y="2103120"/>
            <a:ext cx="502920" cy="201168"/>
          </a:xfrm>
          <a:prstGeom prst="rect">
            <a:avLst/>
          </a:prstGeom>
          <a:noFill/>
        </p:spPr>
        <p:txBody>
          <a:bodyPr wrap="square" anchor="t">
            <a:spAutoFit/>
          </a:bodyPr>
          <a:lstStyle/>
          <a:p>
            <a:pPr algn="ctr"/>
            <a:r>
              <a:rPr sz="750" b="1">
                <a:solidFill>
                  <a:srgbClr val="6A7789"/>
                </a:solidFill>
                <a:latin typeface="Aptos"/>
              </a:rPr>
              <a:t>10</a:t>
            </a:r>
          </a:p>
        </p:txBody>
      </p:sp>
      <p:sp>
        <p:nvSpPr>
          <p:cNvPr id="18" name="TextBox 17"/>
          <p:cNvSpPr txBox="1"/>
          <p:nvPr/>
        </p:nvSpPr>
        <p:spPr>
          <a:xfrm>
            <a:off x="749808" y="2487168"/>
            <a:ext cx="1600200" cy="201168"/>
          </a:xfrm>
          <a:prstGeom prst="rect">
            <a:avLst/>
          </a:prstGeom>
          <a:noFill/>
        </p:spPr>
        <p:txBody>
          <a:bodyPr wrap="square" anchor="t">
            <a:spAutoFit/>
          </a:bodyPr>
          <a:lstStyle/>
          <a:p>
            <a:pPr algn="l"/>
            <a:r>
              <a:rPr sz="830">
                <a:solidFill>
                  <a:srgbClr val="232B35"/>
                </a:solidFill>
                <a:latin typeface="Aptos"/>
              </a:rPr>
              <a:t>Requirements (2d)</a:t>
            </a:r>
          </a:p>
        </p:txBody>
      </p:sp>
      <p:sp>
        <p:nvSpPr>
          <p:cNvPr id="19" name="Rectangle 18"/>
          <p:cNvSpPr/>
          <p:nvPr/>
        </p:nvSpPr>
        <p:spPr>
          <a:xfrm>
            <a:off x="242316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92608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42900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93192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93776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4068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94360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4652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949440" y="2487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423160" y="24871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926080" y="24871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9808" y="2944368"/>
            <a:ext cx="1600200" cy="201168"/>
          </a:xfrm>
          <a:prstGeom prst="rect">
            <a:avLst/>
          </a:prstGeom>
          <a:noFill/>
        </p:spPr>
        <p:txBody>
          <a:bodyPr wrap="square" anchor="t">
            <a:spAutoFit/>
          </a:bodyPr>
          <a:lstStyle/>
          <a:p>
            <a:pPr algn="l"/>
            <a:r>
              <a:rPr sz="830">
                <a:solidFill>
                  <a:srgbClr val="232B35"/>
                </a:solidFill>
                <a:latin typeface="Aptos"/>
              </a:rPr>
              <a:t>UI + Prototype (2d)</a:t>
            </a:r>
          </a:p>
        </p:txBody>
      </p:sp>
      <p:sp>
        <p:nvSpPr>
          <p:cNvPr id="32" name="Rectangle 31"/>
          <p:cNvSpPr/>
          <p:nvPr/>
        </p:nvSpPr>
        <p:spPr>
          <a:xfrm>
            <a:off x="242316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92608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42900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93192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43484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93776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44068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94360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44652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49440" y="2944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926080" y="29443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429000" y="29443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9808" y="3401568"/>
            <a:ext cx="1600200" cy="201168"/>
          </a:xfrm>
          <a:prstGeom prst="rect">
            <a:avLst/>
          </a:prstGeom>
          <a:noFill/>
        </p:spPr>
        <p:txBody>
          <a:bodyPr wrap="square" anchor="t">
            <a:spAutoFit/>
          </a:bodyPr>
          <a:lstStyle/>
          <a:p>
            <a:pPr algn="l"/>
            <a:r>
              <a:rPr sz="830">
                <a:solidFill>
                  <a:srgbClr val="232B35"/>
                </a:solidFill>
                <a:latin typeface="Aptos"/>
              </a:rPr>
              <a:t>Database Design (2d)</a:t>
            </a:r>
          </a:p>
        </p:txBody>
      </p:sp>
      <p:sp>
        <p:nvSpPr>
          <p:cNvPr id="45" name="Rectangle 44"/>
          <p:cNvSpPr/>
          <p:nvPr/>
        </p:nvSpPr>
        <p:spPr>
          <a:xfrm>
            <a:off x="242316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92608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42900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393192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43484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93776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544068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94360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44652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949440" y="34015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3429000" y="34015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3931920" y="34015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49808" y="3858768"/>
            <a:ext cx="1600200" cy="201168"/>
          </a:xfrm>
          <a:prstGeom prst="rect">
            <a:avLst/>
          </a:prstGeom>
          <a:noFill/>
        </p:spPr>
        <p:txBody>
          <a:bodyPr wrap="square" anchor="t">
            <a:spAutoFit/>
          </a:bodyPr>
          <a:lstStyle/>
          <a:p>
            <a:pPr algn="l"/>
            <a:r>
              <a:rPr sz="830">
                <a:solidFill>
                  <a:srgbClr val="232B35"/>
                </a:solidFill>
                <a:latin typeface="Aptos"/>
              </a:rPr>
              <a:t>Backend APIs (3d)</a:t>
            </a:r>
          </a:p>
        </p:txBody>
      </p:sp>
      <p:sp>
        <p:nvSpPr>
          <p:cNvPr id="58" name="Rectangle 57"/>
          <p:cNvSpPr/>
          <p:nvPr/>
        </p:nvSpPr>
        <p:spPr>
          <a:xfrm>
            <a:off x="242316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292608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342900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393192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43484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493776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544068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94360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44652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949440" y="38587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931920" y="38587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434840" y="38587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4937760" y="38587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49808" y="4315968"/>
            <a:ext cx="1600200" cy="201168"/>
          </a:xfrm>
          <a:prstGeom prst="rect">
            <a:avLst/>
          </a:prstGeom>
          <a:noFill/>
        </p:spPr>
        <p:txBody>
          <a:bodyPr wrap="square" anchor="t">
            <a:spAutoFit/>
          </a:bodyPr>
          <a:lstStyle/>
          <a:p>
            <a:pPr algn="l"/>
            <a:r>
              <a:rPr sz="830">
                <a:solidFill>
                  <a:srgbClr val="232B35"/>
                </a:solidFill>
                <a:latin typeface="Aptos"/>
              </a:rPr>
              <a:t>Frontend Integration (2d)</a:t>
            </a:r>
          </a:p>
        </p:txBody>
      </p:sp>
      <p:sp>
        <p:nvSpPr>
          <p:cNvPr id="72" name="Rectangle 71"/>
          <p:cNvSpPr/>
          <p:nvPr/>
        </p:nvSpPr>
        <p:spPr>
          <a:xfrm>
            <a:off x="242316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292608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342900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393192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443484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93776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544068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594360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644652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6949440" y="43159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4937760" y="43159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5440680" y="43159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749808" y="4773168"/>
            <a:ext cx="1600200" cy="201168"/>
          </a:xfrm>
          <a:prstGeom prst="rect">
            <a:avLst/>
          </a:prstGeom>
          <a:noFill/>
        </p:spPr>
        <p:txBody>
          <a:bodyPr wrap="square" anchor="t">
            <a:spAutoFit/>
          </a:bodyPr>
          <a:lstStyle/>
          <a:p>
            <a:pPr algn="l"/>
            <a:r>
              <a:rPr sz="830">
                <a:solidFill>
                  <a:srgbClr val="232B35"/>
                </a:solidFill>
                <a:latin typeface="Aptos"/>
              </a:rPr>
              <a:t>Testing (2d)</a:t>
            </a:r>
          </a:p>
        </p:txBody>
      </p:sp>
      <p:sp>
        <p:nvSpPr>
          <p:cNvPr id="85" name="Rectangle 84"/>
          <p:cNvSpPr/>
          <p:nvPr/>
        </p:nvSpPr>
        <p:spPr>
          <a:xfrm>
            <a:off x="242316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292608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342900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393192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443484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493776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544068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594360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644652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6949440" y="47731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5943600" y="47731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6446520" y="47731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749808" y="5230368"/>
            <a:ext cx="1600200" cy="201168"/>
          </a:xfrm>
          <a:prstGeom prst="rect">
            <a:avLst/>
          </a:prstGeom>
          <a:noFill/>
        </p:spPr>
        <p:txBody>
          <a:bodyPr wrap="square" anchor="t">
            <a:spAutoFit/>
          </a:bodyPr>
          <a:lstStyle/>
          <a:p>
            <a:pPr algn="l"/>
            <a:r>
              <a:rPr sz="830">
                <a:solidFill>
                  <a:srgbClr val="232B35"/>
                </a:solidFill>
                <a:latin typeface="Aptos"/>
              </a:rPr>
              <a:t>GitHub + Final (2d)</a:t>
            </a:r>
          </a:p>
        </p:txBody>
      </p:sp>
      <p:sp>
        <p:nvSpPr>
          <p:cNvPr id="98" name="Rectangle 97"/>
          <p:cNvSpPr/>
          <p:nvPr/>
        </p:nvSpPr>
        <p:spPr>
          <a:xfrm>
            <a:off x="242316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292608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342900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393192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443484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493776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544068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594360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644652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6949440" y="5230368"/>
            <a:ext cx="475488" cy="228600"/>
          </a:xfrm>
          <a:prstGeom prst="rect">
            <a:avLst/>
          </a:prstGeom>
          <a:solidFill>
            <a:srgbClr val="F7F9FC"/>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6446520" y="52303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6949440" y="5230368"/>
            <a:ext cx="475488" cy="228600"/>
          </a:xfrm>
          <a:prstGeom prst="rect">
            <a:avLst/>
          </a:prstGeom>
          <a:solidFill>
            <a:srgbClr val="2F5C97"/>
          </a:solidFill>
          <a:ln>
            <a:solidFill>
              <a:srgbClr val="2F5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2423160" y="5715000"/>
            <a:ext cx="4572000" cy="228600"/>
          </a:xfrm>
          <a:prstGeom prst="rect">
            <a:avLst/>
          </a:prstGeom>
          <a:noFill/>
        </p:spPr>
        <p:txBody>
          <a:bodyPr wrap="square" anchor="t">
            <a:spAutoFit/>
          </a:bodyPr>
          <a:lstStyle/>
          <a:p>
            <a:pPr algn="l"/>
            <a:r>
              <a:rPr sz="850" b="0">
                <a:solidFill>
                  <a:srgbClr val="6A7789"/>
                </a:solidFill>
                <a:latin typeface="Aptos"/>
              </a:rPr>
              <a:t>Illustrative planning periods; dependency order is the key idea.</a:t>
            </a:r>
          </a:p>
        </p:txBody>
      </p:sp>
      <p:sp>
        <p:nvSpPr>
          <p:cNvPr id="111" name="Rounded Rectangle 110"/>
          <p:cNvSpPr/>
          <p:nvPr/>
        </p:nvSpPr>
        <p:spPr>
          <a:xfrm>
            <a:off x="7360920" y="1600200"/>
            <a:ext cx="4297680" cy="452628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7571231" y="1755648"/>
            <a:ext cx="2834640" cy="274320"/>
          </a:xfrm>
          <a:prstGeom prst="rect">
            <a:avLst/>
          </a:prstGeom>
          <a:noFill/>
        </p:spPr>
        <p:txBody>
          <a:bodyPr wrap="square" anchor="t">
            <a:spAutoFit/>
          </a:bodyPr>
          <a:lstStyle/>
          <a:p>
            <a:pPr algn="l"/>
            <a:r>
              <a:rPr sz="1500" b="1">
                <a:solidFill>
                  <a:srgbClr val="192B49"/>
                </a:solidFill>
                <a:latin typeface="Aptos"/>
              </a:rPr>
              <a:t>Activity Network / Predecessor</a:t>
            </a:r>
          </a:p>
        </p:txBody>
      </p:sp>
      <p:sp>
        <p:nvSpPr>
          <p:cNvPr id="113" name="Rounded Rectangle 112"/>
          <p:cNvSpPr/>
          <p:nvPr/>
        </p:nvSpPr>
        <p:spPr>
          <a:xfrm>
            <a:off x="7589520" y="2331720"/>
            <a:ext cx="1417320" cy="59436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7662672" y="2395727"/>
            <a:ext cx="1280160" cy="164592"/>
          </a:xfrm>
          <a:prstGeom prst="rect">
            <a:avLst/>
          </a:prstGeom>
          <a:noFill/>
        </p:spPr>
        <p:txBody>
          <a:bodyPr wrap="square" anchor="t">
            <a:spAutoFit/>
          </a:bodyPr>
          <a:lstStyle/>
          <a:p>
            <a:pPr algn="ctr"/>
            <a:r>
              <a:rPr sz="770" b="1">
                <a:solidFill>
                  <a:srgbClr val="192B49"/>
                </a:solidFill>
                <a:latin typeface="Aptos"/>
              </a:rPr>
              <a:t>A: Requirements  • 2d</a:t>
            </a:r>
          </a:p>
        </p:txBody>
      </p:sp>
      <p:sp>
        <p:nvSpPr>
          <p:cNvPr id="115" name="TextBox 114"/>
          <p:cNvSpPr txBox="1"/>
          <p:nvPr/>
        </p:nvSpPr>
        <p:spPr>
          <a:xfrm>
            <a:off x="7662672" y="2642615"/>
            <a:ext cx="1280160" cy="155448"/>
          </a:xfrm>
          <a:prstGeom prst="rect">
            <a:avLst/>
          </a:prstGeom>
          <a:noFill/>
        </p:spPr>
        <p:txBody>
          <a:bodyPr wrap="square" anchor="t">
            <a:spAutoFit/>
          </a:bodyPr>
          <a:lstStyle/>
          <a:p>
            <a:pPr algn="ctr"/>
            <a:r>
              <a:rPr sz="720" b="0">
                <a:solidFill>
                  <a:srgbClr val="6A7789"/>
                </a:solidFill>
                <a:latin typeface="Aptos"/>
              </a:rPr>
              <a:t>Pred: —</a:t>
            </a:r>
          </a:p>
        </p:txBody>
      </p:sp>
      <p:sp>
        <p:nvSpPr>
          <p:cNvPr id="116" name="Rounded Rectangle 115"/>
          <p:cNvSpPr/>
          <p:nvPr/>
        </p:nvSpPr>
        <p:spPr>
          <a:xfrm>
            <a:off x="9372600" y="2331720"/>
            <a:ext cx="1417320" cy="59436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9445752" y="2395727"/>
            <a:ext cx="1280160" cy="164592"/>
          </a:xfrm>
          <a:prstGeom prst="rect">
            <a:avLst/>
          </a:prstGeom>
          <a:noFill/>
        </p:spPr>
        <p:txBody>
          <a:bodyPr wrap="square" anchor="t">
            <a:spAutoFit/>
          </a:bodyPr>
          <a:lstStyle/>
          <a:p>
            <a:pPr algn="ctr"/>
            <a:r>
              <a:rPr sz="770" b="1">
                <a:solidFill>
                  <a:srgbClr val="192B49"/>
                </a:solidFill>
                <a:latin typeface="Aptos"/>
              </a:rPr>
              <a:t>B: UI + Prototype  • 2d</a:t>
            </a:r>
          </a:p>
        </p:txBody>
      </p:sp>
      <p:sp>
        <p:nvSpPr>
          <p:cNvPr id="118" name="TextBox 117"/>
          <p:cNvSpPr txBox="1"/>
          <p:nvPr/>
        </p:nvSpPr>
        <p:spPr>
          <a:xfrm>
            <a:off x="9445752" y="2642615"/>
            <a:ext cx="1280160" cy="155448"/>
          </a:xfrm>
          <a:prstGeom prst="rect">
            <a:avLst/>
          </a:prstGeom>
          <a:noFill/>
        </p:spPr>
        <p:txBody>
          <a:bodyPr wrap="square" anchor="t">
            <a:spAutoFit/>
          </a:bodyPr>
          <a:lstStyle/>
          <a:p>
            <a:pPr algn="ctr"/>
            <a:r>
              <a:rPr sz="720" b="0">
                <a:solidFill>
                  <a:srgbClr val="6A7789"/>
                </a:solidFill>
                <a:latin typeface="Aptos"/>
              </a:rPr>
              <a:t>Pred: A</a:t>
            </a:r>
          </a:p>
        </p:txBody>
      </p:sp>
      <p:sp>
        <p:nvSpPr>
          <p:cNvPr id="119" name="Rounded Rectangle 118"/>
          <p:cNvSpPr/>
          <p:nvPr/>
        </p:nvSpPr>
        <p:spPr>
          <a:xfrm>
            <a:off x="7589520" y="3246120"/>
            <a:ext cx="1417320" cy="59436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7662672" y="3310127"/>
            <a:ext cx="1280160" cy="164592"/>
          </a:xfrm>
          <a:prstGeom prst="rect">
            <a:avLst/>
          </a:prstGeom>
          <a:noFill/>
        </p:spPr>
        <p:txBody>
          <a:bodyPr wrap="square" anchor="t">
            <a:spAutoFit/>
          </a:bodyPr>
          <a:lstStyle/>
          <a:p>
            <a:pPr algn="ctr"/>
            <a:r>
              <a:rPr sz="770" b="1">
                <a:solidFill>
                  <a:srgbClr val="192B49"/>
                </a:solidFill>
                <a:latin typeface="Aptos"/>
              </a:rPr>
              <a:t>C: Database  • 2d</a:t>
            </a:r>
          </a:p>
        </p:txBody>
      </p:sp>
      <p:sp>
        <p:nvSpPr>
          <p:cNvPr id="121" name="TextBox 120"/>
          <p:cNvSpPr txBox="1"/>
          <p:nvPr/>
        </p:nvSpPr>
        <p:spPr>
          <a:xfrm>
            <a:off x="7662672" y="3557015"/>
            <a:ext cx="1280160" cy="155448"/>
          </a:xfrm>
          <a:prstGeom prst="rect">
            <a:avLst/>
          </a:prstGeom>
          <a:noFill/>
        </p:spPr>
        <p:txBody>
          <a:bodyPr wrap="square" anchor="t">
            <a:spAutoFit/>
          </a:bodyPr>
          <a:lstStyle/>
          <a:p>
            <a:pPr algn="ctr"/>
            <a:r>
              <a:rPr sz="720" b="0">
                <a:solidFill>
                  <a:srgbClr val="6A7789"/>
                </a:solidFill>
                <a:latin typeface="Aptos"/>
              </a:rPr>
              <a:t>Pred: A</a:t>
            </a:r>
          </a:p>
        </p:txBody>
      </p:sp>
      <p:sp>
        <p:nvSpPr>
          <p:cNvPr id="122" name="Rounded Rectangle 121"/>
          <p:cNvSpPr/>
          <p:nvPr/>
        </p:nvSpPr>
        <p:spPr>
          <a:xfrm>
            <a:off x="9372600" y="3246120"/>
            <a:ext cx="1417320" cy="59436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9445752" y="3310127"/>
            <a:ext cx="1280160" cy="164592"/>
          </a:xfrm>
          <a:prstGeom prst="rect">
            <a:avLst/>
          </a:prstGeom>
          <a:noFill/>
        </p:spPr>
        <p:txBody>
          <a:bodyPr wrap="square" anchor="t">
            <a:spAutoFit/>
          </a:bodyPr>
          <a:lstStyle/>
          <a:p>
            <a:pPr algn="ctr"/>
            <a:r>
              <a:rPr sz="770" b="1">
                <a:solidFill>
                  <a:srgbClr val="192B49"/>
                </a:solidFill>
                <a:latin typeface="Aptos"/>
              </a:rPr>
              <a:t>D: Backend APIs  • 3d</a:t>
            </a:r>
          </a:p>
        </p:txBody>
      </p:sp>
      <p:sp>
        <p:nvSpPr>
          <p:cNvPr id="124" name="TextBox 123"/>
          <p:cNvSpPr txBox="1"/>
          <p:nvPr/>
        </p:nvSpPr>
        <p:spPr>
          <a:xfrm>
            <a:off x="9445752" y="3557015"/>
            <a:ext cx="1280160" cy="155448"/>
          </a:xfrm>
          <a:prstGeom prst="rect">
            <a:avLst/>
          </a:prstGeom>
          <a:noFill/>
        </p:spPr>
        <p:txBody>
          <a:bodyPr wrap="square" anchor="t">
            <a:spAutoFit/>
          </a:bodyPr>
          <a:lstStyle/>
          <a:p>
            <a:pPr algn="ctr"/>
            <a:r>
              <a:rPr sz="720" b="0">
                <a:solidFill>
                  <a:srgbClr val="6A7789"/>
                </a:solidFill>
                <a:latin typeface="Aptos"/>
              </a:rPr>
              <a:t>Pred: C</a:t>
            </a:r>
          </a:p>
        </p:txBody>
      </p:sp>
      <p:sp>
        <p:nvSpPr>
          <p:cNvPr id="125" name="Rounded Rectangle 124"/>
          <p:cNvSpPr/>
          <p:nvPr/>
        </p:nvSpPr>
        <p:spPr>
          <a:xfrm>
            <a:off x="8458200" y="4160520"/>
            <a:ext cx="1417320" cy="59436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8531352" y="4224528"/>
            <a:ext cx="1280160" cy="164592"/>
          </a:xfrm>
          <a:prstGeom prst="rect">
            <a:avLst/>
          </a:prstGeom>
          <a:noFill/>
        </p:spPr>
        <p:txBody>
          <a:bodyPr wrap="square" anchor="t">
            <a:spAutoFit/>
          </a:bodyPr>
          <a:lstStyle/>
          <a:p>
            <a:pPr algn="ctr"/>
            <a:r>
              <a:rPr sz="770" b="1">
                <a:solidFill>
                  <a:srgbClr val="192B49"/>
                </a:solidFill>
                <a:latin typeface="Aptos"/>
              </a:rPr>
              <a:t>E: Integration  • 2d</a:t>
            </a:r>
          </a:p>
        </p:txBody>
      </p:sp>
      <p:sp>
        <p:nvSpPr>
          <p:cNvPr id="127" name="TextBox 126"/>
          <p:cNvSpPr txBox="1"/>
          <p:nvPr/>
        </p:nvSpPr>
        <p:spPr>
          <a:xfrm>
            <a:off x="8531352" y="4471416"/>
            <a:ext cx="1280160" cy="155448"/>
          </a:xfrm>
          <a:prstGeom prst="rect">
            <a:avLst/>
          </a:prstGeom>
          <a:noFill/>
        </p:spPr>
        <p:txBody>
          <a:bodyPr wrap="square" anchor="t">
            <a:spAutoFit/>
          </a:bodyPr>
          <a:lstStyle/>
          <a:p>
            <a:pPr algn="ctr"/>
            <a:r>
              <a:rPr sz="720" b="0">
                <a:solidFill>
                  <a:srgbClr val="6A7789"/>
                </a:solidFill>
                <a:latin typeface="Aptos"/>
              </a:rPr>
              <a:t>Pred: B,D</a:t>
            </a:r>
          </a:p>
        </p:txBody>
      </p:sp>
      <p:sp>
        <p:nvSpPr>
          <p:cNvPr id="128" name="Rounded Rectangle 127"/>
          <p:cNvSpPr/>
          <p:nvPr/>
        </p:nvSpPr>
        <p:spPr>
          <a:xfrm>
            <a:off x="8458200" y="5074920"/>
            <a:ext cx="1417320" cy="594360"/>
          </a:xfrm>
          <a:prstGeom prst="roundRect">
            <a:avLst/>
          </a:prstGeom>
          <a:solidFill>
            <a:srgbClr val="F3F6FA"/>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8531352" y="5138928"/>
            <a:ext cx="1280160" cy="164592"/>
          </a:xfrm>
          <a:prstGeom prst="rect">
            <a:avLst/>
          </a:prstGeom>
          <a:noFill/>
        </p:spPr>
        <p:txBody>
          <a:bodyPr wrap="square" anchor="t">
            <a:spAutoFit/>
          </a:bodyPr>
          <a:lstStyle/>
          <a:p>
            <a:pPr algn="ctr"/>
            <a:r>
              <a:rPr sz="770" b="1">
                <a:solidFill>
                  <a:srgbClr val="192B49"/>
                </a:solidFill>
                <a:latin typeface="Aptos"/>
              </a:rPr>
              <a:t>F: Testing  • 2d</a:t>
            </a:r>
          </a:p>
        </p:txBody>
      </p:sp>
      <p:sp>
        <p:nvSpPr>
          <p:cNvPr id="130" name="TextBox 129"/>
          <p:cNvSpPr txBox="1"/>
          <p:nvPr/>
        </p:nvSpPr>
        <p:spPr>
          <a:xfrm>
            <a:off x="8531352" y="5385816"/>
            <a:ext cx="1280160" cy="155448"/>
          </a:xfrm>
          <a:prstGeom prst="rect">
            <a:avLst/>
          </a:prstGeom>
          <a:noFill/>
        </p:spPr>
        <p:txBody>
          <a:bodyPr wrap="square" anchor="t">
            <a:spAutoFit/>
          </a:bodyPr>
          <a:lstStyle/>
          <a:p>
            <a:pPr algn="ctr"/>
            <a:r>
              <a:rPr sz="720" b="0">
                <a:solidFill>
                  <a:srgbClr val="6A7789"/>
                </a:solidFill>
                <a:latin typeface="Aptos"/>
              </a:rPr>
              <a:t>Pred: E</a:t>
            </a:r>
          </a:p>
        </p:txBody>
      </p:sp>
      <p:cxnSp>
        <p:nvCxnSpPr>
          <p:cNvPr id="131" name="Connector 130"/>
          <p:cNvCxnSpPr/>
          <p:nvPr/>
        </p:nvCxnSpPr>
        <p:spPr>
          <a:xfrm>
            <a:off x="9006840" y="2633472"/>
            <a:ext cx="365760" cy="0"/>
          </a:xfrm>
          <a:prstGeom prst="line">
            <a:avLst/>
          </a:prstGeom>
          <a:ln w="15240">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8302752" y="3547872"/>
            <a:ext cx="1069848" cy="0"/>
          </a:xfrm>
          <a:prstGeom prst="line">
            <a:avLst/>
          </a:prstGeom>
          <a:ln w="15240">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a:off x="9171432" y="2926080"/>
            <a:ext cx="905256" cy="1234440"/>
          </a:xfrm>
          <a:prstGeom prst="line">
            <a:avLst/>
          </a:prstGeom>
          <a:ln w="15240">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a:off x="9171432" y="3547872"/>
            <a:ext cx="905256" cy="612648"/>
          </a:xfrm>
          <a:prstGeom prst="line">
            <a:avLst/>
          </a:prstGeom>
          <a:ln w="15240">
            <a:solidFill>
              <a:srgbClr val="6A7789"/>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a:off x="9171432" y="4754880"/>
            <a:ext cx="704088" cy="320040"/>
          </a:xfrm>
          <a:prstGeom prst="line">
            <a:avLst/>
          </a:prstGeom>
          <a:ln w="15240">
            <a:solidFill>
              <a:srgbClr val="6A7789"/>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7635240" y="5715000"/>
            <a:ext cx="3749039" cy="228600"/>
          </a:xfrm>
          <a:prstGeom prst="rect">
            <a:avLst/>
          </a:prstGeom>
          <a:noFill/>
        </p:spPr>
        <p:txBody>
          <a:bodyPr wrap="square" anchor="t">
            <a:spAutoFit/>
          </a:bodyPr>
          <a:lstStyle/>
          <a:p>
            <a:pPr algn="l"/>
            <a:r>
              <a:rPr sz="830" b="0">
                <a:solidFill>
                  <a:srgbClr val="6A7789"/>
                </a:solidFill>
                <a:latin typeface="Aptos"/>
              </a:rPr>
              <a:t>Example: Integration waits for both UI and Backend.</a:t>
            </a:r>
          </a:p>
        </p:txBody>
      </p:sp>
      <p:sp>
        <p:nvSpPr>
          <p:cNvPr id="137" name="TextBox 136"/>
          <p:cNvSpPr txBox="1"/>
          <p:nvPr/>
        </p:nvSpPr>
        <p:spPr>
          <a:xfrm>
            <a:off x="502920" y="6510528"/>
            <a:ext cx="7315200" cy="164592"/>
          </a:xfrm>
          <a:prstGeom prst="rect">
            <a:avLst/>
          </a:prstGeom>
          <a:noFill/>
        </p:spPr>
        <p:txBody>
          <a:bodyPr wrap="square" anchor="t">
            <a:spAutoFit/>
          </a:bodyPr>
          <a:lstStyle/>
          <a:p>
            <a:pPr algn="l"/>
            <a:r>
              <a:rPr sz="800" b="0">
                <a:solidFill>
                  <a:srgbClr val="6A7789"/>
                </a:solidFill>
                <a:latin typeface="Aptos"/>
              </a:rPr>
              <a:t>HouseHub • Software Engineering</a:t>
            </a:r>
          </a:p>
        </p:txBody>
      </p:sp>
      <p:sp>
        <p:nvSpPr>
          <p:cNvPr id="138" name="TextBox 137"/>
          <p:cNvSpPr txBox="1"/>
          <p:nvPr/>
        </p:nvSpPr>
        <p:spPr>
          <a:xfrm>
            <a:off x="9601200" y="6510528"/>
            <a:ext cx="2057400" cy="164592"/>
          </a:xfrm>
          <a:prstGeom prst="rect">
            <a:avLst/>
          </a:prstGeom>
          <a:noFill/>
        </p:spPr>
        <p:txBody>
          <a:bodyPr wrap="square" anchor="t">
            <a:spAutoFit/>
          </a:bodyPr>
          <a:lstStyle/>
          <a:p>
            <a:pPr algn="r"/>
            <a:r>
              <a:rPr sz="800" b="0">
                <a:solidFill>
                  <a:srgbClr val="6A7789"/>
                </a:solidFill>
                <a:latin typeface="Aptos"/>
              </a:rPr>
              <a:t>Netrakona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97280" cy="246221"/>
          </a:xfrm>
          <a:prstGeom prst="rect">
            <a:avLst/>
          </a:prstGeom>
          <a:noFill/>
        </p:spPr>
        <p:txBody>
          <a:bodyPr wrap="square" anchor="t">
            <a:spAutoFit/>
          </a:bodyPr>
          <a:lstStyle/>
          <a:p>
            <a:pPr algn="l"/>
            <a:r>
              <a:rPr sz="1000" b="1" dirty="0">
                <a:solidFill>
                  <a:srgbClr val="2F5C97"/>
                </a:solidFill>
                <a:latin typeface="Aptos"/>
              </a:rPr>
              <a:t>SLIDE </a:t>
            </a:r>
            <a:r>
              <a:rPr sz="1000" b="1" dirty="0" smtClean="0">
                <a:solidFill>
                  <a:srgbClr val="2F5C97"/>
                </a:solidFill>
                <a:latin typeface="Aptos"/>
              </a:rPr>
              <a:t>1</a:t>
            </a:r>
            <a:r>
              <a:rPr lang="en-US" sz="1000" b="1" dirty="0" smtClean="0">
                <a:solidFill>
                  <a:srgbClr val="2F5C97"/>
                </a:solidFill>
                <a:latin typeface="Aptos"/>
              </a:rPr>
              <a:t>6</a:t>
            </a:r>
            <a:endParaRPr sz="1000" b="1" dirty="0">
              <a:solidFill>
                <a:srgbClr val="2F5C97"/>
              </a:solidFill>
              <a:latin typeface="Aptos"/>
            </a:endParaRPr>
          </a:p>
        </p:txBody>
      </p:sp>
      <p:sp>
        <p:nvSpPr>
          <p:cNvPr id="3" name="TextBox 2"/>
          <p:cNvSpPr txBox="1"/>
          <p:nvPr/>
        </p:nvSpPr>
        <p:spPr>
          <a:xfrm>
            <a:off x="502920" y="566928"/>
            <a:ext cx="11155680" cy="502920"/>
          </a:xfrm>
          <a:prstGeom prst="rect">
            <a:avLst/>
          </a:prstGeom>
          <a:noFill/>
        </p:spPr>
        <p:txBody>
          <a:bodyPr wrap="square" anchor="t">
            <a:spAutoFit/>
          </a:bodyPr>
          <a:lstStyle/>
          <a:p>
            <a:pPr algn="l"/>
            <a:r>
              <a:rPr sz="2600" b="1">
                <a:solidFill>
                  <a:srgbClr val="192B49"/>
                </a:solidFill>
                <a:latin typeface="Aptos"/>
              </a:rPr>
              <a:t>Testing — Simple Test Case View</a:t>
            </a:r>
          </a:p>
        </p:txBody>
      </p:sp>
      <p:sp>
        <p:nvSpPr>
          <p:cNvPr id="4" name="TextBox 3"/>
          <p:cNvSpPr txBox="1"/>
          <p:nvPr/>
        </p:nvSpPr>
        <p:spPr>
          <a:xfrm>
            <a:off x="502920" y="1033271"/>
            <a:ext cx="11064240" cy="292608"/>
          </a:xfrm>
          <a:prstGeom prst="rect">
            <a:avLst/>
          </a:prstGeom>
          <a:noFill/>
        </p:spPr>
        <p:txBody>
          <a:bodyPr wrap="square" anchor="t">
            <a:spAutoFit/>
          </a:bodyPr>
          <a:lstStyle/>
          <a:p>
            <a:pPr algn="l"/>
            <a:r>
              <a:rPr sz="1100" b="0">
                <a:solidFill>
                  <a:srgbClr val="6A7789"/>
                </a:solidFill>
                <a:latin typeface="Aptos"/>
              </a:rPr>
              <a:t>Test cases connect requirements to observable results before the final release</a:t>
            </a:r>
          </a:p>
        </p:txBody>
      </p:sp>
      <p:sp>
        <p:nvSpPr>
          <p:cNvPr id="5" name="Rectangle 4"/>
          <p:cNvSpPr/>
          <p:nvPr/>
        </p:nvSpPr>
        <p:spPr>
          <a:xfrm>
            <a:off x="502920" y="1353312"/>
            <a:ext cx="11201400" cy="22860"/>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600200"/>
            <a:ext cx="11155680" cy="4480560"/>
          </a:xfrm>
          <a:prstGeom prst="roundRect">
            <a:avLst/>
          </a:prstGeom>
          <a:solidFill>
            <a:srgbClr val="FFFFFF"/>
          </a:solidFill>
          <a:ln w="12700">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13232" y="1938528"/>
            <a:ext cx="914400" cy="411480"/>
          </a:xfrm>
          <a:prstGeom prst="rect">
            <a:avLst/>
          </a:prstGeom>
          <a:solidFill>
            <a:srgbClr val="192B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2048256"/>
            <a:ext cx="914400" cy="164592"/>
          </a:xfrm>
          <a:prstGeom prst="rect">
            <a:avLst/>
          </a:prstGeom>
          <a:noFill/>
        </p:spPr>
        <p:txBody>
          <a:bodyPr wrap="square" anchor="t">
            <a:spAutoFit/>
          </a:bodyPr>
          <a:lstStyle/>
          <a:p>
            <a:pPr algn="ctr"/>
            <a:r>
              <a:rPr sz="900" b="1">
                <a:solidFill>
                  <a:srgbClr val="FFFFFF"/>
                </a:solidFill>
                <a:latin typeface="Aptos"/>
              </a:rPr>
              <a:t>TC ID</a:t>
            </a:r>
          </a:p>
        </p:txBody>
      </p:sp>
      <p:sp>
        <p:nvSpPr>
          <p:cNvPr id="9" name="Rectangle 8"/>
          <p:cNvSpPr/>
          <p:nvPr/>
        </p:nvSpPr>
        <p:spPr>
          <a:xfrm>
            <a:off x="1627632" y="1938528"/>
            <a:ext cx="3017520" cy="411480"/>
          </a:xfrm>
          <a:prstGeom prst="rect">
            <a:avLst/>
          </a:prstGeom>
          <a:solidFill>
            <a:srgbClr val="192B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27632" y="2048256"/>
            <a:ext cx="3017520" cy="164592"/>
          </a:xfrm>
          <a:prstGeom prst="rect">
            <a:avLst/>
          </a:prstGeom>
          <a:noFill/>
        </p:spPr>
        <p:txBody>
          <a:bodyPr wrap="square" anchor="t">
            <a:spAutoFit/>
          </a:bodyPr>
          <a:lstStyle/>
          <a:p>
            <a:pPr algn="ctr"/>
            <a:r>
              <a:rPr sz="900" b="1">
                <a:solidFill>
                  <a:srgbClr val="FFFFFF"/>
                </a:solidFill>
                <a:latin typeface="Aptos"/>
              </a:rPr>
              <a:t>Feature / Input</a:t>
            </a:r>
          </a:p>
        </p:txBody>
      </p:sp>
      <p:sp>
        <p:nvSpPr>
          <p:cNvPr id="11" name="Rectangle 10"/>
          <p:cNvSpPr/>
          <p:nvPr/>
        </p:nvSpPr>
        <p:spPr>
          <a:xfrm>
            <a:off x="4645152" y="1938528"/>
            <a:ext cx="5394960" cy="411480"/>
          </a:xfrm>
          <a:prstGeom prst="rect">
            <a:avLst/>
          </a:prstGeom>
          <a:solidFill>
            <a:srgbClr val="192B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45152" y="2048256"/>
            <a:ext cx="5394960" cy="164592"/>
          </a:xfrm>
          <a:prstGeom prst="rect">
            <a:avLst/>
          </a:prstGeom>
          <a:noFill/>
        </p:spPr>
        <p:txBody>
          <a:bodyPr wrap="square" anchor="t">
            <a:spAutoFit/>
          </a:bodyPr>
          <a:lstStyle/>
          <a:p>
            <a:pPr algn="ctr"/>
            <a:r>
              <a:rPr sz="900" b="1">
                <a:solidFill>
                  <a:srgbClr val="FFFFFF"/>
                </a:solidFill>
                <a:latin typeface="Aptos"/>
              </a:rPr>
              <a:t>Expected Result</a:t>
            </a:r>
          </a:p>
        </p:txBody>
      </p:sp>
      <p:sp>
        <p:nvSpPr>
          <p:cNvPr id="13" name="Rectangle 12"/>
          <p:cNvSpPr/>
          <p:nvPr/>
        </p:nvSpPr>
        <p:spPr>
          <a:xfrm>
            <a:off x="10040112" y="1938528"/>
            <a:ext cx="1097280" cy="411480"/>
          </a:xfrm>
          <a:prstGeom prst="rect">
            <a:avLst/>
          </a:prstGeom>
          <a:solidFill>
            <a:srgbClr val="192B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40112" y="2048256"/>
            <a:ext cx="1097280" cy="164592"/>
          </a:xfrm>
          <a:prstGeom prst="rect">
            <a:avLst/>
          </a:prstGeom>
          <a:noFill/>
        </p:spPr>
        <p:txBody>
          <a:bodyPr wrap="square" anchor="t">
            <a:spAutoFit/>
          </a:bodyPr>
          <a:lstStyle/>
          <a:p>
            <a:pPr algn="ctr"/>
            <a:r>
              <a:rPr sz="900" b="1">
                <a:solidFill>
                  <a:srgbClr val="FFFFFF"/>
                </a:solidFill>
                <a:latin typeface="Aptos"/>
              </a:rPr>
              <a:t>Status</a:t>
            </a:r>
          </a:p>
        </p:txBody>
      </p:sp>
      <p:sp>
        <p:nvSpPr>
          <p:cNvPr id="15" name="Rectangle 14"/>
          <p:cNvSpPr/>
          <p:nvPr/>
        </p:nvSpPr>
        <p:spPr>
          <a:xfrm>
            <a:off x="713232" y="2350008"/>
            <a:ext cx="91440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 y="2441448"/>
            <a:ext cx="822960" cy="310896"/>
          </a:xfrm>
          <a:prstGeom prst="rect">
            <a:avLst/>
          </a:prstGeom>
          <a:noFill/>
        </p:spPr>
        <p:txBody>
          <a:bodyPr wrap="square" anchor="t">
            <a:spAutoFit/>
          </a:bodyPr>
          <a:lstStyle/>
          <a:p>
            <a:pPr algn="ctr"/>
            <a:r>
              <a:rPr sz="820" b="1">
                <a:solidFill>
                  <a:srgbClr val="232B35"/>
                </a:solidFill>
                <a:latin typeface="Aptos"/>
              </a:rPr>
              <a:t>TC-01</a:t>
            </a:r>
          </a:p>
        </p:txBody>
      </p:sp>
      <p:sp>
        <p:nvSpPr>
          <p:cNvPr id="17" name="Rectangle 16"/>
          <p:cNvSpPr/>
          <p:nvPr/>
        </p:nvSpPr>
        <p:spPr>
          <a:xfrm>
            <a:off x="1627632" y="2350008"/>
            <a:ext cx="301752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73352" y="2441448"/>
            <a:ext cx="2926079" cy="310896"/>
          </a:xfrm>
          <a:prstGeom prst="rect">
            <a:avLst/>
          </a:prstGeom>
          <a:noFill/>
        </p:spPr>
        <p:txBody>
          <a:bodyPr wrap="square" anchor="t">
            <a:spAutoFit/>
          </a:bodyPr>
          <a:lstStyle/>
          <a:p>
            <a:pPr algn="l"/>
            <a:r>
              <a:rPr sz="820" b="0">
                <a:solidFill>
                  <a:srgbClr val="232B35"/>
                </a:solidFill>
                <a:latin typeface="Aptos"/>
              </a:rPr>
              <a:t>Login with valid email/password</a:t>
            </a:r>
          </a:p>
        </p:txBody>
      </p:sp>
      <p:sp>
        <p:nvSpPr>
          <p:cNvPr id="19" name="Rectangle 18"/>
          <p:cNvSpPr/>
          <p:nvPr/>
        </p:nvSpPr>
        <p:spPr>
          <a:xfrm>
            <a:off x="4645152" y="2350008"/>
            <a:ext cx="539496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90872" y="2441448"/>
            <a:ext cx="5303520" cy="310896"/>
          </a:xfrm>
          <a:prstGeom prst="rect">
            <a:avLst/>
          </a:prstGeom>
          <a:noFill/>
        </p:spPr>
        <p:txBody>
          <a:bodyPr wrap="square" anchor="t">
            <a:spAutoFit/>
          </a:bodyPr>
          <a:lstStyle/>
          <a:p>
            <a:pPr algn="l"/>
            <a:r>
              <a:rPr sz="820" b="0">
                <a:solidFill>
                  <a:srgbClr val="232B35"/>
                </a:solidFill>
                <a:latin typeface="Aptos"/>
              </a:rPr>
              <a:t>JWT is issued and user reaches the correct role dashboard.</a:t>
            </a:r>
          </a:p>
        </p:txBody>
      </p:sp>
      <p:sp>
        <p:nvSpPr>
          <p:cNvPr id="21" name="Rectangle 20"/>
          <p:cNvSpPr/>
          <p:nvPr/>
        </p:nvSpPr>
        <p:spPr>
          <a:xfrm>
            <a:off x="10040112" y="2350008"/>
            <a:ext cx="109728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85832" y="2441448"/>
            <a:ext cx="1005839" cy="310896"/>
          </a:xfrm>
          <a:prstGeom prst="rect">
            <a:avLst/>
          </a:prstGeom>
          <a:noFill/>
        </p:spPr>
        <p:txBody>
          <a:bodyPr wrap="square" anchor="t">
            <a:spAutoFit/>
          </a:bodyPr>
          <a:lstStyle/>
          <a:p>
            <a:pPr algn="ctr"/>
            <a:r>
              <a:rPr sz="820" b="0">
                <a:solidFill>
                  <a:srgbClr val="347859"/>
                </a:solidFill>
                <a:latin typeface="Aptos"/>
              </a:rPr>
              <a:t>Pass</a:t>
            </a:r>
          </a:p>
        </p:txBody>
      </p:sp>
      <p:sp>
        <p:nvSpPr>
          <p:cNvPr id="23" name="Rectangle 22"/>
          <p:cNvSpPr/>
          <p:nvPr/>
        </p:nvSpPr>
        <p:spPr>
          <a:xfrm>
            <a:off x="713232" y="2880360"/>
            <a:ext cx="91440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8952" y="2971800"/>
            <a:ext cx="822960" cy="310896"/>
          </a:xfrm>
          <a:prstGeom prst="rect">
            <a:avLst/>
          </a:prstGeom>
          <a:noFill/>
        </p:spPr>
        <p:txBody>
          <a:bodyPr wrap="square" anchor="t">
            <a:spAutoFit/>
          </a:bodyPr>
          <a:lstStyle/>
          <a:p>
            <a:pPr algn="ctr"/>
            <a:r>
              <a:rPr sz="820" b="1">
                <a:solidFill>
                  <a:srgbClr val="232B35"/>
                </a:solidFill>
                <a:latin typeface="Aptos"/>
              </a:rPr>
              <a:t>TC-02</a:t>
            </a:r>
          </a:p>
        </p:txBody>
      </p:sp>
      <p:sp>
        <p:nvSpPr>
          <p:cNvPr id="25" name="Rectangle 24"/>
          <p:cNvSpPr/>
          <p:nvPr/>
        </p:nvSpPr>
        <p:spPr>
          <a:xfrm>
            <a:off x="1627632" y="2880360"/>
            <a:ext cx="301752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73352" y="2971800"/>
            <a:ext cx="2926079" cy="310896"/>
          </a:xfrm>
          <a:prstGeom prst="rect">
            <a:avLst/>
          </a:prstGeom>
          <a:noFill/>
        </p:spPr>
        <p:txBody>
          <a:bodyPr wrap="square" anchor="t">
            <a:spAutoFit/>
          </a:bodyPr>
          <a:lstStyle/>
          <a:p>
            <a:pPr algn="l"/>
            <a:r>
              <a:rPr sz="820" b="0">
                <a:solidFill>
                  <a:srgbClr val="232B35"/>
                </a:solidFill>
                <a:latin typeface="Aptos"/>
              </a:rPr>
              <a:t>Search by location + price range</a:t>
            </a:r>
          </a:p>
        </p:txBody>
      </p:sp>
      <p:sp>
        <p:nvSpPr>
          <p:cNvPr id="27" name="Rectangle 26"/>
          <p:cNvSpPr/>
          <p:nvPr/>
        </p:nvSpPr>
        <p:spPr>
          <a:xfrm>
            <a:off x="4645152" y="2880360"/>
            <a:ext cx="539496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90872" y="2971800"/>
            <a:ext cx="5303520" cy="310896"/>
          </a:xfrm>
          <a:prstGeom prst="rect">
            <a:avLst/>
          </a:prstGeom>
          <a:noFill/>
        </p:spPr>
        <p:txBody>
          <a:bodyPr wrap="square" anchor="t">
            <a:spAutoFit/>
          </a:bodyPr>
          <a:lstStyle/>
          <a:p>
            <a:pPr algn="l"/>
            <a:r>
              <a:rPr sz="820" b="0">
                <a:solidFill>
                  <a:srgbClr val="232B35"/>
                </a:solidFill>
                <a:latin typeface="Aptos"/>
              </a:rPr>
              <a:t>Only matching available listings are returned.</a:t>
            </a:r>
          </a:p>
        </p:txBody>
      </p:sp>
      <p:sp>
        <p:nvSpPr>
          <p:cNvPr id="29" name="Rectangle 28"/>
          <p:cNvSpPr/>
          <p:nvPr/>
        </p:nvSpPr>
        <p:spPr>
          <a:xfrm>
            <a:off x="10040112" y="2880360"/>
            <a:ext cx="109728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85832" y="2971800"/>
            <a:ext cx="1005839" cy="310896"/>
          </a:xfrm>
          <a:prstGeom prst="rect">
            <a:avLst/>
          </a:prstGeom>
          <a:noFill/>
        </p:spPr>
        <p:txBody>
          <a:bodyPr wrap="square" anchor="t">
            <a:spAutoFit/>
          </a:bodyPr>
          <a:lstStyle/>
          <a:p>
            <a:pPr algn="ctr"/>
            <a:r>
              <a:rPr sz="820" b="0">
                <a:solidFill>
                  <a:srgbClr val="347859"/>
                </a:solidFill>
                <a:latin typeface="Aptos"/>
              </a:rPr>
              <a:t>Pass</a:t>
            </a:r>
          </a:p>
        </p:txBody>
      </p:sp>
      <p:sp>
        <p:nvSpPr>
          <p:cNvPr id="31" name="Rectangle 30"/>
          <p:cNvSpPr/>
          <p:nvPr/>
        </p:nvSpPr>
        <p:spPr>
          <a:xfrm>
            <a:off x="713232" y="3410712"/>
            <a:ext cx="91440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2" y="3502152"/>
            <a:ext cx="822960" cy="310896"/>
          </a:xfrm>
          <a:prstGeom prst="rect">
            <a:avLst/>
          </a:prstGeom>
          <a:noFill/>
        </p:spPr>
        <p:txBody>
          <a:bodyPr wrap="square" anchor="t">
            <a:spAutoFit/>
          </a:bodyPr>
          <a:lstStyle/>
          <a:p>
            <a:pPr algn="ctr"/>
            <a:r>
              <a:rPr sz="820" b="1">
                <a:solidFill>
                  <a:srgbClr val="232B35"/>
                </a:solidFill>
                <a:latin typeface="Aptos"/>
              </a:rPr>
              <a:t>TC-03</a:t>
            </a:r>
          </a:p>
        </p:txBody>
      </p:sp>
      <p:sp>
        <p:nvSpPr>
          <p:cNvPr id="33" name="Rectangle 32"/>
          <p:cNvSpPr/>
          <p:nvPr/>
        </p:nvSpPr>
        <p:spPr>
          <a:xfrm>
            <a:off x="1627632" y="3410712"/>
            <a:ext cx="301752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673352" y="3502152"/>
            <a:ext cx="2926079" cy="310896"/>
          </a:xfrm>
          <a:prstGeom prst="rect">
            <a:avLst/>
          </a:prstGeom>
          <a:noFill/>
        </p:spPr>
        <p:txBody>
          <a:bodyPr wrap="square" anchor="t">
            <a:spAutoFit/>
          </a:bodyPr>
          <a:lstStyle/>
          <a:p>
            <a:pPr algn="l"/>
            <a:r>
              <a:rPr sz="820" b="0">
                <a:solidFill>
                  <a:srgbClr val="232B35"/>
                </a:solidFill>
                <a:latin typeface="Aptos"/>
              </a:rPr>
              <a:t>Tenant sends interest request</a:t>
            </a:r>
          </a:p>
        </p:txBody>
      </p:sp>
      <p:sp>
        <p:nvSpPr>
          <p:cNvPr id="35" name="Rectangle 34"/>
          <p:cNvSpPr/>
          <p:nvPr/>
        </p:nvSpPr>
        <p:spPr>
          <a:xfrm>
            <a:off x="4645152" y="3410712"/>
            <a:ext cx="539496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90872" y="3502152"/>
            <a:ext cx="5303520" cy="310896"/>
          </a:xfrm>
          <a:prstGeom prst="rect">
            <a:avLst/>
          </a:prstGeom>
          <a:noFill/>
        </p:spPr>
        <p:txBody>
          <a:bodyPr wrap="square" anchor="t">
            <a:spAutoFit/>
          </a:bodyPr>
          <a:lstStyle/>
          <a:p>
            <a:pPr algn="l"/>
            <a:r>
              <a:rPr sz="820" b="0">
                <a:solidFill>
                  <a:srgbClr val="232B35"/>
                </a:solidFill>
                <a:latin typeface="Aptos"/>
              </a:rPr>
              <a:t>Request is created with Pending status.</a:t>
            </a:r>
          </a:p>
        </p:txBody>
      </p:sp>
      <p:sp>
        <p:nvSpPr>
          <p:cNvPr id="37" name="Rectangle 36"/>
          <p:cNvSpPr/>
          <p:nvPr/>
        </p:nvSpPr>
        <p:spPr>
          <a:xfrm>
            <a:off x="10040112" y="3410712"/>
            <a:ext cx="109728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85832" y="3502152"/>
            <a:ext cx="1005839" cy="310896"/>
          </a:xfrm>
          <a:prstGeom prst="rect">
            <a:avLst/>
          </a:prstGeom>
          <a:noFill/>
        </p:spPr>
        <p:txBody>
          <a:bodyPr wrap="square" anchor="t">
            <a:spAutoFit/>
          </a:bodyPr>
          <a:lstStyle/>
          <a:p>
            <a:pPr algn="ctr"/>
            <a:r>
              <a:rPr sz="820" b="0">
                <a:solidFill>
                  <a:srgbClr val="347859"/>
                </a:solidFill>
                <a:latin typeface="Aptos"/>
              </a:rPr>
              <a:t>Pass</a:t>
            </a:r>
          </a:p>
        </p:txBody>
      </p:sp>
      <p:sp>
        <p:nvSpPr>
          <p:cNvPr id="39" name="Rectangle 38"/>
          <p:cNvSpPr/>
          <p:nvPr/>
        </p:nvSpPr>
        <p:spPr>
          <a:xfrm>
            <a:off x="713232" y="3941063"/>
            <a:ext cx="91440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58952" y="4032503"/>
            <a:ext cx="822960" cy="310896"/>
          </a:xfrm>
          <a:prstGeom prst="rect">
            <a:avLst/>
          </a:prstGeom>
          <a:noFill/>
        </p:spPr>
        <p:txBody>
          <a:bodyPr wrap="square" anchor="t">
            <a:spAutoFit/>
          </a:bodyPr>
          <a:lstStyle/>
          <a:p>
            <a:pPr algn="ctr"/>
            <a:r>
              <a:rPr sz="820" b="1">
                <a:solidFill>
                  <a:srgbClr val="232B35"/>
                </a:solidFill>
                <a:latin typeface="Aptos"/>
              </a:rPr>
              <a:t>TC-04</a:t>
            </a:r>
          </a:p>
        </p:txBody>
      </p:sp>
      <p:sp>
        <p:nvSpPr>
          <p:cNvPr id="41" name="Rectangle 40"/>
          <p:cNvSpPr/>
          <p:nvPr/>
        </p:nvSpPr>
        <p:spPr>
          <a:xfrm>
            <a:off x="1627632" y="3941063"/>
            <a:ext cx="301752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673352" y="4032503"/>
            <a:ext cx="2926079" cy="310896"/>
          </a:xfrm>
          <a:prstGeom prst="rect">
            <a:avLst/>
          </a:prstGeom>
          <a:noFill/>
        </p:spPr>
        <p:txBody>
          <a:bodyPr wrap="square" anchor="t">
            <a:spAutoFit/>
          </a:bodyPr>
          <a:lstStyle/>
          <a:p>
            <a:pPr algn="l"/>
            <a:r>
              <a:rPr sz="820" b="0">
                <a:solidFill>
                  <a:srgbClr val="232B35"/>
                </a:solidFill>
                <a:latin typeface="Aptos"/>
              </a:rPr>
              <a:t>Owner accepts a request</a:t>
            </a:r>
          </a:p>
        </p:txBody>
      </p:sp>
      <p:sp>
        <p:nvSpPr>
          <p:cNvPr id="43" name="Rectangle 42"/>
          <p:cNvSpPr/>
          <p:nvPr/>
        </p:nvSpPr>
        <p:spPr>
          <a:xfrm>
            <a:off x="4645152" y="3941063"/>
            <a:ext cx="539496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690872" y="4032503"/>
            <a:ext cx="5303520" cy="310896"/>
          </a:xfrm>
          <a:prstGeom prst="rect">
            <a:avLst/>
          </a:prstGeom>
          <a:noFill/>
        </p:spPr>
        <p:txBody>
          <a:bodyPr wrap="square" anchor="t">
            <a:spAutoFit/>
          </a:bodyPr>
          <a:lstStyle/>
          <a:p>
            <a:pPr algn="l"/>
            <a:r>
              <a:rPr sz="820" b="0">
                <a:solidFill>
                  <a:srgbClr val="232B35"/>
                </a:solidFill>
                <a:latin typeface="Aptos"/>
              </a:rPr>
              <a:t>Request becomes Accepted; tenant can see owner contact.</a:t>
            </a:r>
          </a:p>
        </p:txBody>
      </p:sp>
      <p:sp>
        <p:nvSpPr>
          <p:cNvPr id="45" name="Rectangle 44"/>
          <p:cNvSpPr/>
          <p:nvPr/>
        </p:nvSpPr>
        <p:spPr>
          <a:xfrm>
            <a:off x="10040112" y="3941063"/>
            <a:ext cx="109728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085832" y="4032503"/>
            <a:ext cx="1005839" cy="310896"/>
          </a:xfrm>
          <a:prstGeom prst="rect">
            <a:avLst/>
          </a:prstGeom>
          <a:noFill/>
        </p:spPr>
        <p:txBody>
          <a:bodyPr wrap="square" anchor="t">
            <a:spAutoFit/>
          </a:bodyPr>
          <a:lstStyle/>
          <a:p>
            <a:pPr algn="ctr"/>
            <a:r>
              <a:rPr sz="820" b="0">
                <a:solidFill>
                  <a:srgbClr val="347859"/>
                </a:solidFill>
                <a:latin typeface="Aptos"/>
              </a:rPr>
              <a:t>Pass</a:t>
            </a:r>
          </a:p>
        </p:txBody>
      </p:sp>
      <p:sp>
        <p:nvSpPr>
          <p:cNvPr id="47" name="Rectangle 46"/>
          <p:cNvSpPr/>
          <p:nvPr/>
        </p:nvSpPr>
        <p:spPr>
          <a:xfrm>
            <a:off x="713232" y="4471416"/>
            <a:ext cx="91440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58952" y="4562855"/>
            <a:ext cx="822960" cy="310896"/>
          </a:xfrm>
          <a:prstGeom prst="rect">
            <a:avLst/>
          </a:prstGeom>
          <a:noFill/>
        </p:spPr>
        <p:txBody>
          <a:bodyPr wrap="square" anchor="t">
            <a:spAutoFit/>
          </a:bodyPr>
          <a:lstStyle/>
          <a:p>
            <a:pPr algn="ctr"/>
            <a:r>
              <a:rPr sz="820" b="1">
                <a:solidFill>
                  <a:srgbClr val="232B35"/>
                </a:solidFill>
                <a:latin typeface="Aptos"/>
              </a:rPr>
              <a:t>TC-05</a:t>
            </a:r>
          </a:p>
        </p:txBody>
      </p:sp>
      <p:sp>
        <p:nvSpPr>
          <p:cNvPr id="49" name="Rectangle 48"/>
          <p:cNvSpPr/>
          <p:nvPr/>
        </p:nvSpPr>
        <p:spPr>
          <a:xfrm>
            <a:off x="1627632" y="4471416"/>
            <a:ext cx="301752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673352" y="4562855"/>
            <a:ext cx="2926079" cy="310896"/>
          </a:xfrm>
          <a:prstGeom prst="rect">
            <a:avLst/>
          </a:prstGeom>
          <a:noFill/>
        </p:spPr>
        <p:txBody>
          <a:bodyPr wrap="square" anchor="t">
            <a:spAutoFit/>
          </a:bodyPr>
          <a:lstStyle/>
          <a:p>
            <a:pPr algn="l"/>
            <a:r>
              <a:rPr sz="820" b="0">
                <a:solidFill>
                  <a:srgbClr val="232B35"/>
                </a:solidFill>
                <a:latin typeface="Aptos"/>
              </a:rPr>
              <a:t>Tenant toggles wishlist</a:t>
            </a:r>
          </a:p>
        </p:txBody>
      </p:sp>
      <p:sp>
        <p:nvSpPr>
          <p:cNvPr id="51" name="Rectangle 50"/>
          <p:cNvSpPr/>
          <p:nvPr/>
        </p:nvSpPr>
        <p:spPr>
          <a:xfrm>
            <a:off x="4645152" y="4471416"/>
            <a:ext cx="539496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690872" y="4562855"/>
            <a:ext cx="5303520" cy="310896"/>
          </a:xfrm>
          <a:prstGeom prst="rect">
            <a:avLst/>
          </a:prstGeom>
          <a:noFill/>
        </p:spPr>
        <p:txBody>
          <a:bodyPr wrap="square" anchor="t">
            <a:spAutoFit/>
          </a:bodyPr>
          <a:lstStyle/>
          <a:p>
            <a:pPr algn="l"/>
            <a:r>
              <a:rPr sz="820" b="0">
                <a:solidFill>
                  <a:srgbClr val="232B35"/>
                </a:solidFill>
                <a:latin typeface="Aptos"/>
              </a:rPr>
              <a:t>Listing is saved once and removed when toggled again.</a:t>
            </a:r>
          </a:p>
        </p:txBody>
      </p:sp>
      <p:sp>
        <p:nvSpPr>
          <p:cNvPr id="53" name="Rectangle 52"/>
          <p:cNvSpPr/>
          <p:nvPr/>
        </p:nvSpPr>
        <p:spPr>
          <a:xfrm>
            <a:off x="10040112" y="4471416"/>
            <a:ext cx="1097280" cy="530352"/>
          </a:xfrm>
          <a:prstGeom prst="rect">
            <a:avLst/>
          </a:prstGeom>
          <a:solidFill>
            <a:srgbClr val="FFFFFF"/>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085832" y="4562855"/>
            <a:ext cx="1005839" cy="310896"/>
          </a:xfrm>
          <a:prstGeom prst="rect">
            <a:avLst/>
          </a:prstGeom>
          <a:noFill/>
        </p:spPr>
        <p:txBody>
          <a:bodyPr wrap="square" anchor="t">
            <a:spAutoFit/>
          </a:bodyPr>
          <a:lstStyle/>
          <a:p>
            <a:pPr algn="ctr"/>
            <a:r>
              <a:rPr sz="820" b="0">
                <a:solidFill>
                  <a:srgbClr val="347859"/>
                </a:solidFill>
                <a:latin typeface="Aptos"/>
              </a:rPr>
              <a:t>Pass</a:t>
            </a:r>
          </a:p>
        </p:txBody>
      </p:sp>
      <p:sp>
        <p:nvSpPr>
          <p:cNvPr id="55" name="Rectangle 54"/>
          <p:cNvSpPr/>
          <p:nvPr/>
        </p:nvSpPr>
        <p:spPr>
          <a:xfrm>
            <a:off x="713232" y="5001768"/>
            <a:ext cx="91440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58952" y="5093207"/>
            <a:ext cx="822960" cy="310896"/>
          </a:xfrm>
          <a:prstGeom prst="rect">
            <a:avLst/>
          </a:prstGeom>
          <a:noFill/>
        </p:spPr>
        <p:txBody>
          <a:bodyPr wrap="square" anchor="t">
            <a:spAutoFit/>
          </a:bodyPr>
          <a:lstStyle/>
          <a:p>
            <a:pPr algn="ctr"/>
            <a:r>
              <a:rPr sz="820" b="1">
                <a:solidFill>
                  <a:srgbClr val="232B35"/>
                </a:solidFill>
                <a:latin typeface="Aptos"/>
              </a:rPr>
              <a:t>TC-06</a:t>
            </a:r>
          </a:p>
        </p:txBody>
      </p:sp>
      <p:sp>
        <p:nvSpPr>
          <p:cNvPr id="57" name="Rectangle 56"/>
          <p:cNvSpPr/>
          <p:nvPr/>
        </p:nvSpPr>
        <p:spPr>
          <a:xfrm>
            <a:off x="1627632" y="5001768"/>
            <a:ext cx="301752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673352" y="5093207"/>
            <a:ext cx="2926079" cy="310896"/>
          </a:xfrm>
          <a:prstGeom prst="rect">
            <a:avLst/>
          </a:prstGeom>
          <a:noFill/>
        </p:spPr>
        <p:txBody>
          <a:bodyPr wrap="square" anchor="t">
            <a:spAutoFit/>
          </a:bodyPr>
          <a:lstStyle/>
          <a:p>
            <a:pPr algn="l"/>
            <a:r>
              <a:rPr sz="820" b="0">
                <a:solidFill>
                  <a:srgbClr val="232B35"/>
                </a:solidFill>
                <a:latin typeface="Aptos"/>
              </a:rPr>
              <a:t>Non-owner edits another listing</a:t>
            </a:r>
          </a:p>
        </p:txBody>
      </p:sp>
      <p:sp>
        <p:nvSpPr>
          <p:cNvPr id="59" name="Rectangle 58"/>
          <p:cNvSpPr/>
          <p:nvPr/>
        </p:nvSpPr>
        <p:spPr>
          <a:xfrm>
            <a:off x="4645152" y="5001768"/>
            <a:ext cx="539496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690872" y="5093207"/>
            <a:ext cx="5303520" cy="310896"/>
          </a:xfrm>
          <a:prstGeom prst="rect">
            <a:avLst/>
          </a:prstGeom>
          <a:noFill/>
        </p:spPr>
        <p:txBody>
          <a:bodyPr wrap="square" anchor="t">
            <a:spAutoFit/>
          </a:bodyPr>
          <a:lstStyle/>
          <a:p>
            <a:pPr algn="l"/>
            <a:r>
              <a:rPr sz="820" b="0">
                <a:solidFill>
                  <a:srgbClr val="232B35"/>
                </a:solidFill>
                <a:latin typeface="Aptos"/>
              </a:rPr>
              <a:t>API rejects unauthorized update.</a:t>
            </a:r>
          </a:p>
        </p:txBody>
      </p:sp>
      <p:sp>
        <p:nvSpPr>
          <p:cNvPr id="61" name="Rectangle 60"/>
          <p:cNvSpPr/>
          <p:nvPr/>
        </p:nvSpPr>
        <p:spPr>
          <a:xfrm>
            <a:off x="10040112" y="5001768"/>
            <a:ext cx="1097280" cy="530352"/>
          </a:xfrm>
          <a:prstGeom prst="rect">
            <a:avLst/>
          </a:prstGeom>
          <a:solidFill>
            <a:srgbClr val="F3F6FA"/>
          </a:solidFill>
          <a:ln>
            <a:solidFill>
              <a:srgbClr val="D5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085832" y="5093207"/>
            <a:ext cx="1005839" cy="310896"/>
          </a:xfrm>
          <a:prstGeom prst="rect">
            <a:avLst/>
          </a:prstGeom>
          <a:noFill/>
        </p:spPr>
        <p:txBody>
          <a:bodyPr wrap="square" anchor="t">
            <a:spAutoFit/>
          </a:bodyPr>
          <a:lstStyle/>
          <a:p>
            <a:pPr algn="ctr"/>
            <a:r>
              <a:rPr sz="820" b="0">
                <a:solidFill>
                  <a:srgbClr val="347859"/>
                </a:solidFill>
                <a:latin typeface="Aptos"/>
              </a:rPr>
              <a:t>Pass</a:t>
            </a:r>
          </a:p>
        </p:txBody>
      </p:sp>
      <p:sp>
        <p:nvSpPr>
          <p:cNvPr id="63" name="TextBox 62"/>
          <p:cNvSpPr txBox="1"/>
          <p:nvPr/>
        </p:nvSpPr>
        <p:spPr>
          <a:xfrm>
            <a:off x="713232" y="5669280"/>
            <a:ext cx="10698480" cy="274320"/>
          </a:xfrm>
          <a:prstGeom prst="rect">
            <a:avLst/>
          </a:prstGeom>
          <a:noFill/>
        </p:spPr>
        <p:txBody>
          <a:bodyPr wrap="square" anchor="t">
            <a:spAutoFit/>
          </a:bodyPr>
          <a:lstStyle/>
          <a:p>
            <a:pPr algn="l"/>
            <a:r>
              <a:rPr sz="900" b="0">
                <a:solidFill>
                  <a:srgbClr val="6A7789"/>
                </a:solidFill>
                <a:latin typeface="Aptos"/>
              </a:rPr>
              <a:t>Core scenarios: authentication, search, request flow, wishlist and authorization.</a:t>
            </a:r>
          </a:p>
        </p:txBody>
      </p:sp>
      <p:sp>
        <p:nvSpPr>
          <p:cNvPr id="64" name="TextBox 63"/>
          <p:cNvSpPr txBox="1"/>
          <p:nvPr/>
        </p:nvSpPr>
        <p:spPr>
          <a:xfrm>
            <a:off x="502920" y="6510528"/>
            <a:ext cx="7315200" cy="164592"/>
          </a:xfrm>
          <a:prstGeom prst="rect">
            <a:avLst/>
          </a:prstGeom>
          <a:noFill/>
        </p:spPr>
        <p:txBody>
          <a:bodyPr wrap="square" anchor="t">
            <a:spAutoFit/>
          </a:bodyPr>
          <a:lstStyle/>
          <a:p>
            <a:pPr algn="l"/>
            <a:r>
              <a:rPr sz="800" b="0">
                <a:solidFill>
                  <a:srgbClr val="6A7789"/>
                </a:solidFill>
                <a:latin typeface="Aptos"/>
              </a:rPr>
              <a:t>HouseHub • Software Engineering</a:t>
            </a:r>
          </a:p>
        </p:txBody>
      </p:sp>
      <p:sp>
        <p:nvSpPr>
          <p:cNvPr id="65" name="TextBox 64"/>
          <p:cNvSpPr txBox="1"/>
          <p:nvPr/>
        </p:nvSpPr>
        <p:spPr>
          <a:xfrm>
            <a:off x="9601200" y="6510528"/>
            <a:ext cx="2057400" cy="164592"/>
          </a:xfrm>
          <a:prstGeom prst="rect">
            <a:avLst/>
          </a:prstGeom>
          <a:noFill/>
        </p:spPr>
        <p:txBody>
          <a:bodyPr wrap="square" anchor="t">
            <a:spAutoFit/>
          </a:bodyPr>
          <a:lstStyle/>
          <a:p>
            <a:pPr algn="r"/>
            <a:r>
              <a:rPr sz="800" b="0">
                <a:solidFill>
                  <a:srgbClr val="6A7789"/>
                </a:solidFill>
                <a:latin typeface="Aptos"/>
              </a:rPr>
              <a:t>Netrakona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dirty="0">
                <a:solidFill>
                  <a:srgbClr val="2F5C97"/>
                </a:solidFill>
                <a:latin typeface="Aptos"/>
              </a:rPr>
              <a:t>SLIDE </a:t>
            </a:r>
            <a:r>
              <a:rPr sz="1000" b="1" dirty="0" smtClean="0">
                <a:solidFill>
                  <a:srgbClr val="2F5C97"/>
                </a:solidFill>
                <a:latin typeface="Aptos"/>
              </a:rPr>
              <a:t>1</a:t>
            </a:r>
            <a:r>
              <a:rPr lang="en-US" sz="1000" b="1" dirty="0" smtClean="0">
                <a:solidFill>
                  <a:srgbClr val="2F5C97"/>
                </a:solidFill>
                <a:latin typeface="Aptos"/>
              </a:rPr>
              <a:t>7</a:t>
            </a:r>
            <a:r>
              <a:rPr sz="1000" b="1" dirty="0" smtClean="0">
                <a:solidFill>
                  <a:srgbClr val="2F5C97"/>
                </a:solidFill>
                <a:latin typeface="Aptos"/>
              </a:rPr>
              <a:t>  </a:t>
            </a:r>
            <a:r>
              <a:rPr sz="1000" b="1" dirty="0">
                <a:solidFill>
                  <a:srgbClr val="2F5C97"/>
                </a:solidFill>
                <a:latin typeface="Aptos"/>
              </a:rPr>
              <a:t>|  FEATURES</a:t>
            </a:r>
            <a:endParaRPr lang="en-US" sz="1050" dirty="0"/>
          </a:p>
        </p:txBody>
      </p:sp>
      <p:sp>
        <p:nvSpPr>
          <p:cNvPr id="4" name="Text 2"/>
          <p:cNvSpPr txBox="1"/>
          <p:nvPr/>
        </p:nvSpPr>
        <p:spPr>
          <a:xfrm>
            <a:off x="411480" y="502920"/>
            <a:ext cx="8321040" cy="749808"/>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All System Features at a Glance</a:t>
            </a:r>
            <a:endParaRPr lang="en-US" sz="3000" dirty="0"/>
          </a:p>
        </p:txBody>
      </p:sp>
      <p:sp>
        <p:nvSpPr>
          <p:cNvPr id="5" name="Shape 3"/>
          <p:cNvSpPr/>
          <p:nvPr/>
        </p:nvSpPr>
        <p:spPr>
          <a:xfrm>
            <a:off x="411480" y="120700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71600"/>
            <a:ext cx="4206240" cy="804672"/>
          </a:xfrm>
          <a:prstGeom prst="rect">
            <a:avLst/>
          </a:prstGeom>
          <a:solidFill>
            <a:srgbClr val="DBEAFE"/>
          </a:solidFill>
        </p:spPr>
        <p:txBody>
          <a:bodyPr/>
          <a:lstStyle/>
          <a:p>
            <a:endParaRPr/>
          </a:p>
        </p:txBody>
      </p:sp>
      <p:sp>
        <p:nvSpPr>
          <p:cNvPr id="7" name="Text 5"/>
          <p:cNvSpPr txBox="1"/>
          <p:nvPr/>
        </p:nvSpPr>
        <p:spPr>
          <a:xfrm>
            <a:off x="438912" y="1463040"/>
            <a:ext cx="2743200" cy="329184"/>
          </a:xfrm>
          <a:prstGeom prst="rect">
            <a:avLst/>
          </a:prstGeom>
          <a:noFill/>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Register &amp; Login</a:t>
            </a:r>
            <a:endParaRPr lang="en-US" sz="1350" dirty="0"/>
          </a:p>
        </p:txBody>
      </p:sp>
      <p:sp>
        <p:nvSpPr>
          <p:cNvPr id="8" name="Text 6"/>
          <p:cNvSpPr txBox="1"/>
          <p:nvPr/>
        </p:nvSpPr>
        <p:spPr>
          <a:xfrm>
            <a:off x="438912" y="1828800"/>
            <a:ext cx="2926080" cy="2743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Sign-up, JWT, role selection</a:t>
            </a:r>
            <a:endParaRPr lang="en-US" sz="1150" dirty="0"/>
          </a:p>
        </p:txBody>
      </p:sp>
      <p:sp>
        <p:nvSpPr>
          <p:cNvPr id="9" name="Shape 7"/>
          <p:cNvSpPr/>
          <p:nvPr/>
        </p:nvSpPr>
        <p:spPr>
          <a:xfrm>
            <a:off x="3429000" y="1481328"/>
            <a:ext cx="868680" cy="256032"/>
          </a:xfrm>
          <a:prstGeom prst="rect">
            <a:avLst/>
          </a:prstGeom>
          <a:solidFill>
            <a:srgbClr val="2563EB"/>
          </a:solidFill>
        </p:spPr>
        <p:txBody>
          <a:bodyPr/>
          <a:lstStyle/>
          <a:p>
            <a:endParaRPr/>
          </a:p>
        </p:txBody>
      </p:sp>
      <p:sp>
        <p:nvSpPr>
          <p:cNvPr id="10" name="Text 8"/>
          <p:cNvSpPr txBox="1"/>
          <p:nvPr/>
        </p:nvSpPr>
        <p:spPr>
          <a:xfrm>
            <a:off x="3429000" y="1481328"/>
            <a:ext cx="86868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M-1</a:t>
            </a:r>
            <a:endParaRPr lang="en-US" sz="1000" dirty="0"/>
          </a:p>
        </p:txBody>
      </p:sp>
      <p:sp>
        <p:nvSpPr>
          <p:cNvPr id="11" name="Shape 9"/>
          <p:cNvSpPr/>
          <p:nvPr/>
        </p:nvSpPr>
        <p:spPr>
          <a:xfrm>
            <a:off x="4663440" y="1371600"/>
            <a:ext cx="4206240" cy="804672"/>
          </a:xfrm>
          <a:prstGeom prst="rect">
            <a:avLst/>
          </a:prstGeom>
          <a:solidFill>
            <a:srgbClr val="DCFCE7"/>
          </a:solidFill>
        </p:spPr>
        <p:txBody>
          <a:bodyPr/>
          <a:lstStyle/>
          <a:p>
            <a:endParaRPr/>
          </a:p>
        </p:txBody>
      </p:sp>
      <p:sp>
        <p:nvSpPr>
          <p:cNvPr id="12" name="Text 10"/>
          <p:cNvSpPr txBox="1"/>
          <p:nvPr/>
        </p:nvSpPr>
        <p:spPr>
          <a:xfrm>
            <a:off x="4828032" y="1463040"/>
            <a:ext cx="2743200" cy="329184"/>
          </a:xfrm>
          <a:prstGeom prst="rect">
            <a:avLst/>
          </a:prstGeom>
          <a:noFill/>
        </p:spPr>
        <p:txBody>
          <a:bodyPr wrap="square" lIns="0" tIns="0" rIns="0" bIns="0" rtlCol="0" anchor="ctr"/>
          <a:lstStyle/>
          <a:p>
            <a:pPr marL="0" indent="0">
              <a:buNone/>
            </a:pPr>
            <a:r>
              <a:rPr lang="en-US" sz="1350" b="1" dirty="0">
                <a:solidFill>
                  <a:srgbClr val="15803D"/>
                </a:solidFill>
                <a:latin typeface="Calibri" pitchFamily="34" charset="0"/>
                <a:ea typeface="Calibri" pitchFamily="34" charset="-122"/>
                <a:cs typeface="Calibri" pitchFamily="34" charset="-120"/>
              </a:rPr>
              <a:t>Post Listings</a:t>
            </a:r>
            <a:endParaRPr lang="en-US" sz="1350" dirty="0"/>
          </a:p>
        </p:txBody>
      </p:sp>
      <p:sp>
        <p:nvSpPr>
          <p:cNvPr id="13" name="Text 11"/>
          <p:cNvSpPr txBox="1"/>
          <p:nvPr/>
        </p:nvSpPr>
        <p:spPr>
          <a:xfrm>
            <a:off x="4828032" y="1828800"/>
            <a:ext cx="2926080" cy="2743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Title, photos, price, room type</a:t>
            </a:r>
            <a:endParaRPr lang="en-US" sz="1150" dirty="0"/>
          </a:p>
        </p:txBody>
      </p:sp>
      <p:sp>
        <p:nvSpPr>
          <p:cNvPr id="14" name="Shape 12"/>
          <p:cNvSpPr/>
          <p:nvPr/>
        </p:nvSpPr>
        <p:spPr>
          <a:xfrm>
            <a:off x="7818120" y="1481328"/>
            <a:ext cx="868680" cy="256032"/>
          </a:xfrm>
          <a:prstGeom prst="rect">
            <a:avLst/>
          </a:prstGeom>
          <a:solidFill>
            <a:srgbClr val="15803D"/>
          </a:solidFill>
        </p:spPr>
        <p:txBody>
          <a:bodyPr/>
          <a:lstStyle/>
          <a:p>
            <a:endParaRPr/>
          </a:p>
        </p:txBody>
      </p:sp>
      <p:sp>
        <p:nvSpPr>
          <p:cNvPr id="15" name="Text 13"/>
          <p:cNvSpPr txBox="1"/>
          <p:nvPr/>
        </p:nvSpPr>
        <p:spPr>
          <a:xfrm>
            <a:off x="7818120" y="1481328"/>
            <a:ext cx="86868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M-2</a:t>
            </a:r>
            <a:endParaRPr lang="en-US" sz="1000" dirty="0"/>
          </a:p>
        </p:txBody>
      </p:sp>
      <p:sp>
        <p:nvSpPr>
          <p:cNvPr id="16" name="Shape 14"/>
          <p:cNvSpPr/>
          <p:nvPr/>
        </p:nvSpPr>
        <p:spPr>
          <a:xfrm>
            <a:off x="274320" y="2276856"/>
            <a:ext cx="4206240" cy="804672"/>
          </a:xfrm>
          <a:prstGeom prst="rect">
            <a:avLst/>
          </a:prstGeom>
          <a:solidFill>
            <a:srgbClr val="EDE9FE"/>
          </a:solidFill>
        </p:spPr>
        <p:txBody>
          <a:bodyPr/>
          <a:lstStyle/>
          <a:p>
            <a:endParaRPr/>
          </a:p>
        </p:txBody>
      </p:sp>
      <p:sp>
        <p:nvSpPr>
          <p:cNvPr id="17" name="Text 15"/>
          <p:cNvSpPr txBox="1"/>
          <p:nvPr/>
        </p:nvSpPr>
        <p:spPr>
          <a:xfrm>
            <a:off x="438912" y="2368296"/>
            <a:ext cx="2743200" cy="329184"/>
          </a:xfrm>
          <a:prstGeom prst="rect">
            <a:avLst/>
          </a:prstGeom>
          <a:noFill/>
        </p:spPr>
        <p:txBody>
          <a:bodyPr wrap="square" lIns="0" tIns="0" rIns="0" bIns="0" rtlCol="0" anchor="ctr"/>
          <a:lstStyle/>
          <a:p>
            <a:pPr marL="0" indent="0">
              <a:buNone/>
            </a:pPr>
            <a:r>
              <a:rPr lang="en-US" sz="1350" b="1" dirty="0">
                <a:solidFill>
                  <a:srgbClr val="6D28D9"/>
                </a:solidFill>
                <a:latin typeface="Calibri" pitchFamily="34" charset="0"/>
                <a:ea typeface="Calibri" pitchFamily="34" charset="-122"/>
                <a:cs typeface="Calibri" pitchFamily="34" charset="-120"/>
              </a:rPr>
              <a:t>Search &amp; Filter</a:t>
            </a:r>
            <a:endParaRPr lang="en-US" sz="1350" dirty="0"/>
          </a:p>
        </p:txBody>
      </p:sp>
      <p:sp>
        <p:nvSpPr>
          <p:cNvPr id="18" name="Text 16"/>
          <p:cNvSpPr txBox="1"/>
          <p:nvPr/>
        </p:nvSpPr>
        <p:spPr>
          <a:xfrm>
            <a:off x="438912" y="2734056"/>
            <a:ext cx="2926080" cy="2743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Location, price, type, keyword</a:t>
            </a:r>
            <a:endParaRPr lang="en-US" sz="1150" dirty="0"/>
          </a:p>
        </p:txBody>
      </p:sp>
      <p:sp>
        <p:nvSpPr>
          <p:cNvPr id="19" name="Shape 17"/>
          <p:cNvSpPr/>
          <p:nvPr/>
        </p:nvSpPr>
        <p:spPr>
          <a:xfrm>
            <a:off x="3429000" y="2386584"/>
            <a:ext cx="868680" cy="256032"/>
          </a:xfrm>
          <a:prstGeom prst="rect">
            <a:avLst/>
          </a:prstGeom>
          <a:solidFill>
            <a:srgbClr val="6D28D9"/>
          </a:solidFill>
        </p:spPr>
        <p:txBody>
          <a:bodyPr/>
          <a:lstStyle/>
          <a:p>
            <a:endParaRPr/>
          </a:p>
        </p:txBody>
      </p:sp>
      <p:sp>
        <p:nvSpPr>
          <p:cNvPr id="20" name="Text 18"/>
          <p:cNvSpPr txBox="1"/>
          <p:nvPr/>
        </p:nvSpPr>
        <p:spPr>
          <a:xfrm>
            <a:off x="3429000" y="2386584"/>
            <a:ext cx="86868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M-3</a:t>
            </a:r>
            <a:endParaRPr lang="en-US" sz="1000" dirty="0"/>
          </a:p>
        </p:txBody>
      </p:sp>
      <p:sp>
        <p:nvSpPr>
          <p:cNvPr id="21" name="Shape 19"/>
          <p:cNvSpPr/>
          <p:nvPr/>
        </p:nvSpPr>
        <p:spPr>
          <a:xfrm>
            <a:off x="4663440" y="2276856"/>
            <a:ext cx="4206240" cy="804672"/>
          </a:xfrm>
          <a:prstGeom prst="rect">
            <a:avLst/>
          </a:prstGeom>
          <a:solidFill>
            <a:srgbClr val="DCFCE7"/>
          </a:solidFill>
        </p:spPr>
        <p:txBody>
          <a:bodyPr/>
          <a:lstStyle/>
          <a:p>
            <a:endParaRPr/>
          </a:p>
        </p:txBody>
      </p:sp>
      <p:sp>
        <p:nvSpPr>
          <p:cNvPr id="22" name="Text 20"/>
          <p:cNvSpPr txBox="1"/>
          <p:nvPr/>
        </p:nvSpPr>
        <p:spPr>
          <a:xfrm>
            <a:off x="4828032" y="2368296"/>
            <a:ext cx="2743200" cy="329184"/>
          </a:xfrm>
          <a:prstGeom prst="rect">
            <a:avLst/>
          </a:prstGeom>
          <a:noFill/>
        </p:spPr>
        <p:txBody>
          <a:bodyPr wrap="square" lIns="0" tIns="0" rIns="0" bIns="0" rtlCol="0" anchor="ctr"/>
          <a:lstStyle/>
          <a:p>
            <a:pPr marL="0" indent="0">
              <a:buNone/>
            </a:pPr>
            <a:r>
              <a:rPr lang="en-US" sz="1350" b="1" dirty="0">
                <a:solidFill>
                  <a:srgbClr val="15803D"/>
                </a:solidFill>
                <a:latin typeface="Calibri" pitchFamily="34" charset="0"/>
                <a:ea typeface="Calibri" pitchFamily="34" charset="-122"/>
                <a:cs typeface="Calibri" pitchFamily="34" charset="-120"/>
              </a:rPr>
              <a:t>Listing Details</a:t>
            </a:r>
            <a:endParaRPr lang="en-US" sz="1350" dirty="0"/>
          </a:p>
        </p:txBody>
      </p:sp>
      <p:sp>
        <p:nvSpPr>
          <p:cNvPr id="23" name="Text 21"/>
          <p:cNvSpPr txBox="1"/>
          <p:nvPr/>
        </p:nvSpPr>
        <p:spPr>
          <a:xfrm>
            <a:off x="4828032" y="2734056"/>
            <a:ext cx="2926080" cy="2743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Gallery, info, contact on approval</a:t>
            </a:r>
            <a:endParaRPr lang="en-US" sz="1150" dirty="0"/>
          </a:p>
        </p:txBody>
      </p:sp>
      <p:sp>
        <p:nvSpPr>
          <p:cNvPr id="24" name="Shape 22"/>
          <p:cNvSpPr/>
          <p:nvPr/>
        </p:nvSpPr>
        <p:spPr>
          <a:xfrm>
            <a:off x="7818120" y="2386584"/>
            <a:ext cx="868680" cy="256032"/>
          </a:xfrm>
          <a:prstGeom prst="rect">
            <a:avLst/>
          </a:prstGeom>
          <a:solidFill>
            <a:srgbClr val="15803D"/>
          </a:solidFill>
        </p:spPr>
        <p:txBody>
          <a:bodyPr/>
          <a:lstStyle/>
          <a:p>
            <a:endParaRPr/>
          </a:p>
        </p:txBody>
      </p:sp>
      <p:sp>
        <p:nvSpPr>
          <p:cNvPr id="25" name="Text 23"/>
          <p:cNvSpPr txBox="1"/>
          <p:nvPr/>
        </p:nvSpPr>
        <p:spPr>
          <a:xfrm>
            <a:off x="7818120" y="2386584"/>
            <a:ext cx="86868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M-2</a:t>
            </a:r>
            <a:endParaRPr lang="en-US" sz="1000" dirty="0"/>
          </a:p>
        </p:txBody>
      </p:sp>
      <p:sp>
        <p:nvSpPr>
          <p:cNvPr id="26" name="Shape 24"/>
          <p:cNvSpPr/>
          <p:nvPr/>
        </p:nvSpPr>
        <p:spPr>
          <a:xfrm>
            <a:off x="274320" y="3182112"/>
            <a:ext cx="4206240" cy="804672"/>
          </a:xfrm>
          <a:prstGeom prst="rect">
            <a:avLst/>
          </a:prstGeom>
          <a:solidFill>
            <a:srgbClr val="EDE9FE"/>
          </a:solidFill>
        </p:spPr>
        <p:txBody>
          <a:bodyPr/>
          <a:lstStyle/>
          <a:p>
            <a:endParaRPr/>
          </a:p>
        </p:txBody>
      </p:sp>
      <p:sp>
        <p:nvSpPr>
          <p:cNvPr id="27" name="Text 25"/>
          <p:cNvSpPr txBox="1"/>
          <p:nvPr/>
        </p:nvSpPr>
        <p:spPr>
          <a:xfrm>
            <a:off x="438912" y="3273552"/>
            <a:ext cx="2743200" cy="329184"/>
          </a:xfrm>
          <a:prstGeom prst="rect">
            <a:avLst/>
          </a:prstGeom>
          <a:noFill/>
        </p:spPr>
        <p:txBody>
          <a:bodyPr wrap="square" lIns="0" tIns="0" rIns="0" bIns="0" rtlCol="0" anchor="ctr"/>
          <a:lstStyle/>
          <a:p>
            <a:pPr marL="0" indent="0">
              <a:buNone/>
            </a:pPr>
            <a:r>
              <a:rPr lang="en-US" sz="1350" b="1" dirty="0">
                <a:solidFill>
                  <a:srgbClr val="6D28D9"/>
                </a:solidFill>
                <a:latin typeface="Calibri" pitchFamily="34" charset="0"/>
                <a:ea typeface="Calibri" pitchFamily="34" charset="-122"/>
                <a:cs typeface="Calibri" pitchFamily="34" charset="-120"/>
              </a:rPr>
              <a:t>Interest Request</a:t>
            </a:r>
            <a:endParaRPr lang="en-US" sz="1350" dirty="0"/>
          </a:p>
        </p:txBody>
      </p:sp>
      <p:sp>
        <p:nvSpPr>
          <p:cNvPr id="28" name="Text 26"/>
          <p:cNvSpPr txBox="1"/>
          <p:nvPr/>
        </p:nvSpPr>
        <p:spPr>
          <a:xfrm>
            <a:off x="438912" y="3639312"/>
            <a:ext cx="2926080" cy="2743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Send, accept, reject, cancel</a:t>
            </a:r>
            <a:endParaRPr lang="en-US" sz="1150" dirty="0"/>
          </a:p>
        </p:txBody>
      </p:sp>
      <p:sp>
        <p:nvSpPr>
          <p:cNvPr id="29" name="Shape 27"/>
          <p:cNvSpPr/>
          <p:nvPr/>
        </p:nvSpPr>
        <p:spPr>
          <a:xfrm>
            <a:off x="3429000" y="3291840"/>
            <a:ext cx="868680" cy="256032"/>
          </a:xfrm>
          <a:prstGeom prst="rect">
            <a:avLst/>
          </a:prstGeom>
          <a:solidFill>
            <a:srgbClr val="6D28D9"/>
          </a:solidFill>
        </p:spPr>
        <p:txBody>
          <a:bodyPr/>
          <a:lstStyle/>
          <a:p>
            <a:endParaRPr/>
          </a:p>
        </p:txBody>
      </p:sp>
      <p:sp>
        <p:nvSpPr>
          <p:cNvPr id="30" name="Text 28"/>
          <p:cNvSpPr txBox="1"/>
          <p:nvPr/>
        </p:nvSpPr>
        <p:spPr>
          <a:xfrm>
            <a:off x="3429000" y="3291840"/>
            <a:ext cx="86868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M-3</a:t>
            </a:r>
            <a:endParaRPr lang="en-US" sz="1000" dirty="0"/>
          </a:p>
        </p:txBody>
      </p:sp>
      <p:sp>
        <p:nvSpPr>
          <p:cNvPr id="31" name="Shape 29"/>
          <p:cNvSpPr/>
          <p:nvPr/>
        </p:nvSpPr>
        <p:spPr>
          <a:xfrm>
            <a:off x="4663440" y="3182112"/>
            <a:ext cx="4206240" cy="804672"/>
          </a:xfrm>
          <a:prstGeom prst="rect">
            <a:avLst/>
          </a:prstGeom>
          <a:solidFill>
            <a:srgbClr val="EDE9FE"/>
          </a:solidFill>
        </p:spPr>
        <p:txBody>
          <a:bodyPr/>
          <a:lstStyle/>
          <a:p>
            <a:endParaRPr/>
          </a:p>
        </p:txBody>
      </p:sp>
      <p:sp>
        <p:nvSpPr>
          <p:cNvPr id="32" name="Text 30"/>
          <p:cNvSpPr txBox="1"/>
          <p:nvPr/>
        </p:nvSpPr>
        <p:spPr>
          <a:xfrm>
            <a:off x="4828032" y="3273552"/>
            <a:ext cx="2743200" cy="329184"/>
          </a:xfrm>
          <a:prstGeom prst="rect">
            <a:avLst/>
          </a:prstGeom>
          <a:noFill/>
        </p:spPr>
        <p:txBody>
          <a:bodyPr wrap="square" lIns="0" tIns="0" rIns="0" bIns="0" rtlCol="0" anchor="ctr"/>
          <a:lstStyle/>
          <a:p>
            <a:pPr marL="0" indent="0">
              <a:buNone/>
            </a:pPr>
            <a:r>
              <a:rPr lang="en-US" sz="1350" b="1" dirty="0">
                <a:solidFill>
                  <a:srgbClr val="6D28D9"/>
                </a:solidFill>
                <a:latin typeface="Calibri" pitchFamily="34" charset="0"/>
                <a:ea typeface="Calibri" pitchFamily="34" charset="-122"/>
                <a:cs typeface="Calibri" pitchFamily="34" charset="-120"/>
              </a:rPr>
              <a:t>Wishlist</a:t>
            </a:r>
            <a:endParaRPr lang="en-US" sz="1350" dirty="0"/>
          </a:p>
        </p:txBody>
      </p:sp>
      <p:sp>
        <p:nvSpPr>
          <p:cNvPr id="33" name="Text 31"/>
          <p:cNvSpPr txBox="1"/>
          <p:nvPr/>
        </p:nvSpPr>
        <p:spPr>
          <a:xfrm>
            <a:off x="4828032" y="3639312"/>
            <a:ext cx="2926080" cy="2743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Save, remove, view saved listings</a:t>
            </a:r>
            <a:endParaRPr lang="en-US" sz="1150" dirty="0"/>
          </a:p>
        </p:txBody>
      </p:sp>
      <p:sp>
        <p:nvSpPr>
          <p:cNvPr id="34" name="Shape 32"/>
          <p:cNvSpPr/>
          <p:nvPr/>
        </p:nvSpPr>
        <p:spPr>
          <a:xfrm>
            <a:off x="7818120" y="3291840"/>
            <a:ext cx="868680" cy="256032"/>
          </a:xfrm>
          <a:prstGeom prst="rect">
            <a:avLst/>
          </a:prstGeom>
          <a:solidFill>
            <a:srgbClr val="6D28D9"/>
          </a:solidFill>
        </p:spPr>
        <p:txBody>
          <a:bodyPr/>
          <a:lstStyle/>
          <a:p>
            <a:endParaRPr/>
          </a:p>
        </p:txBody>
      </p:sp>
      <p:sp>
        <p:nvSpPr>
          <p:cNvPr id="35" name="Text 33"/>
          <p:cNvSpPr txBox="1"/>
          <p:nvPr/>
        </p:nvSpPr>
        <p:spPr>
          <a:xfrm>
            <a:off x="7818120" y="3291840"/>
            <a:ext cx="86868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M-3</a:t>
            </a:r>
            <a:endParaRPr lang="en-US" sz="1000" dirty="0"/>
          </a:p>
        </p:txBody>
      </p:sp>
      <p:sp>
        <p:nvSpPr>
          <p:cNvPr id="36" name="Shape 34"/>
          <p:cNvSpPr/>
          <p:nvPr/>
        </p:nvSpPr>
        <p:spPr>
          <a:xfrm>
            <a:off x="274320" y="4087368"/>
            <a:ext cx="4206240" cy="804672"/>
          </a:xfrm>
          <a:prstGeom prst="rect">
            <a:avLst/>
          </a:prstGeom>
          <a:solidFill>
            <a:srgbClr val="DBEAFE"/>
          </a:solidFill>
        </p:spPr>
        <p:txBody>
          <a:bodyPr/>
          <a:lstStyle/>
          <a:p>
            <a:endParaRPr/>
          </a:p>
        </p:txBody>
      </p:sp>
      <p:sp>
        <p:nvSpPr>
          <p:cNvPr id="37" name="Text 35"/>
          <p:cNvSpPr txBox="1"/>
          <p:nvPr/>
        </p:nvSpPr>
        <p:spPr>
          <a:xfrm>
            <a:off x="438912" y="4178808"/>
            <a:ext cx="2743200" cy="329184"/>
          </a:xfrm>
          <a:prstGeom prst="rect">
            <a:avLst/>
          </a:prstGeom>
          <a:noFill/>
        </p:spPr>
        <p:txBody>
          <a:bodyPr wrap="square" lIns="0" tIns="0" rIns="0" bIns="0" rtlCol="0" anchor="ctr"/>
          <a:lstStyle/>
          <a:p>
            <a:pPr marL="0" indent="0">
              <a:buNone/>
            </a:pPr>
            <a:r>
              <a:rPr lang="en-US" sz="1350" b="1" dirty="0">
                <a:solidFill>
                  <a:srgbClr val="2563EB"/>
                </a:solidFill>
                <a:latin typeface="Calibri" pitchFamily="34" charset="0"/>
                <a:ea typeface="Calibri" pitchFamily="34" charset="-122"/>
                <a:cs typeface="Calibri" pitchFamily="34" charset="-120"/>
              </a:rPr>
              <a:t>Admin Panel</a:t>
            </a:r>
            <a:endParaRPr lang="en-US" sz="1350" dirty="0"/>
          </a:p>
        </p:txBody>
      </p:sp>
      <p:sp>
        <p:nvSpPr>
          <p:cNvPr id="38" name="Text 36"/>
          <p:cNvSpPr txBox="1"/>
          <p:nvPr/>
        </p:nvSpPr>
        <p:spPr>
          <a:xfrm>
            <a:off x="438912" y="4544568"/>
            <a:ext cx="2926080" cy="2743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Users, listings, block, remove</a:t>
            </a:r>
            <a:endParaRPr lang="en-US" sz="1150" dirty="0"/>
          </a:p>
        </p:txBody>
      </p:sp>
      <p:sp>
        <p:nvSpPr>
          <p:cNvPr id="39" name="Shape 37"/>
          <p:cNvSpPr/>
          <p:nvPr/>
        </p:nvSpPr>
        <p:spPr>
          <a:xfrm>
            <a:off x="3429000" y="4197096"/>
            <a:ext cx="868680" cy="256032"/>
          </a:xfrm>
          <a:prstGeom prst="rect">
            <a:avLst/>
          </a:prstGeom>
          <a:solidFill>
            <a:srgbClr val="2563EB"/>
          </a:solidFill>
        </p:spPr>
        <p:txBody>
          <a:bodyPr/>
          <a:lstStyle/>
          <a:p>
            <a:endParaRPr/>
          </a:p>
        </p:txBody>
      </p:sp>
      <p:sp>
        <p:nvSpPr>
          <p:cNvPr id="40" name="Text 38"/>
          <p:cNvSpPr txBox="1"/>
          <p:nvPr/>
        </p:nvSpPr>
        <p:spPr>
          <a:xfrm>
            <a:off x="3429000" y="4197096"/>
            <a:ext cx="86868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M-1</a:t>
            </a:r>
            <a:endParaRPr lang="en-US" sz="1000" dirty="0"/>
          </a:p>
        </p:txBody>
      </p:sp>
      <p:sp>
        <p:nvSpPr>
          <p:cNvPr id="41" name="Shape 39"/>
          <p:cNvSpPr/>
          <p:nvPr/>
        </p:nvSpPr>
        <p:spPr>
          <a:xfrm>
            <a:off x="4663440" y="4087368"/>
            <a:ext cx="4206240" cy="804672"/>
          </a:xfrm>
          <a:prstGeom prst="rect">
            <a:avLst/>
          </a:prstGeom>
          <a:solidFill>
            <a:srgbClr val="FFEDD5"/>
          </a:solidFill>
        </p:spPr>
        <p:txBody>
          <a:bodyPr/>
          <a:lstStyle/>
          <a:p>
            <a:endParaRPr/>
          </a:p>
        </p:txBody>
      </p:sp>
      <p:sp>
        <p:nvSpPr>
          <p:cNvPr id="42" name="Text 40"/>
          <p:cNvSpPr txBox="1"/>
          <p:nvPr/>
        </p:nvSpPr>
        <p:spPr>
          <a:xfrm>
            <a:off x="4828032" y="4178808"/>
            <a:ext cx="2743200" cy="329184"/>
          </a:xfrm>
          <a:prstGeom prst="rect">
            <a:avLst/>
          </a:prstGeom>
          <a:noFill/>
        </p:spPr>
        <p:txBody>
          <a:bodyPr wrap="square" lIns="0" tIns="0" rIns="0" bIns="0" rtlCol="0" anchor="ctr"/>
          <a:lstStyle/>
          <a:p>
            <a:pPr marL="0" indent="0">
              <a:buNone/>
            </a:pPr>
            <a:r>
              <a:rPr lang="en-US" sz="1350" b="1" dirty="0">
                <a:solidFill>
                  <a:srgbClr val="C2410C"/>
                </a:solidFill>
                <a:latin typeface="Calibri" pitchFamily="34" charset="0"/>
                <a:ea typeface="Calibri" pitchFamily="34" charset="-122"/>
                <a:cs typeface="Calibri" pitchFamily="34" charset="-120"/>
              </a:rPr>
              <a:t>Review &amp; Rating</a:t>
            </a:r>
            <a:endParaRPr lang="en-US" sz="1350" dirty="0"/>
          </a:p>
        </p:txBody>
      </p:sp>
      <p:sp>
        <p:nvSpPr>
          <p:cNvPr id="43" name="Text 41"/>
          <p:cNvSpPr txBox="1"/>
          <p:nvPr/>
        </p:nvSpPr>
        <p:spPr>
          <a:xfrm>
            <a:off x="4828032" y="4544568"/>
            <a:ext cx="2926080" cy="274320"/>
          </a:xfrm>
          <a:prstGeom prst="rect">
            <a:avLst/>
          </a:prstGeom>
          <a:noFill/>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Star rating after confirmed rental</a:t>
            </a:r>
            <a:endParaRPr lang="en-US" sz="1150" dirty="0"/>
          </a:p>
        </p:txBody>
      </p:sp>
      <p:sp>
        <p:nvSpPr>
          <p:cNvPr id="44" name="Shape 42"/>
          <p:cNvSpPr/>
          <p:nvPr/>
        </p:nvSpPr>
        <p:spPr>
          <a:xfrm>
            <a:off x="7818120" y="4197096"/>
            <a:ext cx="868680" cy="256032"/>
          </a:xfrm>
          <a:prstGeom prst="rect">
            <a:avLst/>
          </a:prstGeom>
          <a:solidFill>
            <a:srgbClr val="C2410C"/>
          </a:solidFill>
        </p:spPr>
        <p:txBody>
          <a:bodyPr/>
          <a:lstStyle/>
          <a:p>
            <a:endParaRPr/>
          </a:p>
        </p:txBody>
      </p:sp>
      <p:sp>
        <p:nvSpPr>
          <p:cNvPr id="45" name="Text 43"/>
          <p:cNvSpPr txBox="1"/>
          <p:nvPr/>
        </p:nvSpPr>
        <p:spPr>
          <a:xfrm>
            <a:off x="7818120" y="4197096"/>
            <a:ext cx="86868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M-All</a:t>
            </a:r>
            <a:endParaRPr lang="en-US" sz="1000" dirty="0"/>
          </a:p>
        </p:txBody>
      </p:sp>
      <p:sp>
        <p:nvSpPr>
          <p:cNvPr id="46" name="Text 44"/>
          <p:cNvSpPr txBox="1"/>
          <p:nvPr/>
        </p:nvSpPr>
        <p:spPr>
          <a:xfrm>
            <a:off x="274320" y="4846320"/>
            <a:ext cx="8595360" cy="237744"/>
          </a:xfrm>
          <a:prstGeom prst="rect">
            <a:avLst/>
          </a:prstGeom>
          <a:noFill/>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M-1 = Member 1  |  M-2 = Member 2  |  M-3 = Member 3  |  M-All = All Members collaborate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8FAFC"/>
          </a:solidFill>
        </p:spPr>
        <p:txBody>
          <a:bodyPr/>
          <a:lstStyle/>
          <a:p>
            <a:endParaRPr/>
          </a:p>
        </p:txBody>
      </p:sp>
      <p:sp>
        <p:nvSpPr>
          <p:cNvPr id="3" name="Text 1"/>
          <p:cNvSpPr txBox="1"/>
          <p:nvPr/>
        </p:nvSpPr>
        <p:spPr>
          <a:xfrm>
            <a:off x="411480" y="256032"/>
            <a:ext cx="8321040" cy="274320"/>
          </a:xfrm>
          <a:prstGeom prst="rect">
            <a:avLst/>
          </a:prstGeom>
          <a:noFill/>
        </p:spPr>
        <p:txBody>
          <a:bodyPr wrap="square" lIns="0" tIns="0" rIns="0" bIns="0" rtlCol="0" anchor="ctr"/>
          <a:lstStyle/>
          <a:p>
            <a:pPr marL="0" indent="0">
              <a:buNone/>
            </a:pPr>
            <a:r>
              <a:rPr sz="1000" b="1" dirty="0">
                <a:solidFill>
                  <a:srgbClr val="2F5C97"/>
                </a:solidFill>
                <a:latin typeface="Aptos"/>
              </a:rPr>
              <a:t>SLIDE </a:t>
            </a:r>
            <a:r>
              <a:rPr lang="en-US" sz="1000" b="1" dirty="0" smtClean="0">
                <a:solidFill>
                  <a:srgbClr val="2F5C97"/>
                </a:solidFill>
                <a:latin typeface="Aptos"/>
              </a:rPr>
              <a:t> 18</a:t>
            </a:r>
            <a:r>
              <a:rPr sz="1000" b="1" dirty="0" smtClean="0">
                <a:solidFill>
                  <a:srgbClr val="2F5C97"/>
                </a:solidFill>
                <a:latin typeface="Aptos"/>
              </a:rPr>
              <a:t> </a:t>
            </a:r>
            <a:r>
              <a:rPr sz="1000" b="1" dirty="0">
                <a:solidFill>
                  <a:srgbClr val="2F5C97"/>
                </a:solidFill>
                <a:latin typeface="Aptos"/>
              </a:rPr>
              <a:t>|  CLOSING</a:t>
            </a:r>
            <a:endParaRPr lang="en-US" sz="1050" dirty="0"/>
          </a:p>
        </p:txBody>
      </p:sp>
      <p:sp>
        <p:nvSpPr>
          <p:cNvPr id="4" name="Text 2"/>
          <p:cNvSpPr txBox="1"/>
          <p:nvPr/>
        </p:nvSpPr>
        <p:spPr>
          <a:xfrm>
            <a:off x="411480" y="502920"/>
            <a:ext cx="8321040" cy="685800"/>
          </a:xfrm>
          <a:prstGeom prst="rect">
            <a:avLst/>
          </a:prstGeom>
          <a:noFill/>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Future Scope &amp; Conclusion</a:t>
            </a:r>
            <a:endParaRPr lang="en-US" sz="3000" dirty="0"/>
          </a:p>
        </p:txBody>
      </p:sp>
      <p:sp>
        <p:nvSpPr>
          <p:cNvPr id="5" name="Shape 3"/>
          <p:cNvSpPr/>
          <p:nvPr/>
        </p:nvSpPr>
        <p:spPr>
          <a:xfrm>
            <a:off x="411480" y="1161288"/>
            <a:ext cx="8321040" cy="0"/>
          </a:xfrm>
          <a:prstGeom prst="rect">
            <a:avLst/>
          </a:prstGeom>
          <a:noFill/>
          <a:ln w="15240">
            <a:solidFill>
              <a:srgbClr val="E2E8F0"/>
            </a:solidFill>
            <a:prstDash val="solid"/>
          </a:ln>
        </p:spPr>
        <p:txBody>
          <a:bodyPr/>
          <a:lstStyle/>
          <a:p>
            <a:endParaRPr/>
          </a:p>
        </p:txBody>
      </p:sp>
      <p:sp>
        <p:nvSpPr>
          <p:cNvPr id="6" name="Shape 4"/>
          <p:cNvSpPr/>
          <p:nvPr/>
        </p:nvSpPr>
        <p:spPr>
          <a:xfrm>
            <a:off x="274320" y="1325880"/>
            <a:ext cx="2084832" cy="1554480"/>
          </a:xfrm>
          <a:prstGeom prst="rect">
            <a:avLst/>
          </a:prstGeom>
          <a:solidFill>
            <a:srgbClr val="DBEAFE"/>
          </a:solidFill>
        </p:spPr>
        <p:txBody>
          <a:bodyPr/>
          <a:lstStyle/>
          <a:p>
            <a:endParaRPr/>
          </a:p>
        </p:txBody>
      </p:sp>
      <p:sp>
        <p:nvSpPr>
          <p:cNvPr id="7" name="Text 5"/>
          <p:cNvSpPr txBox="1"/>
          <p:nvPr/>
        </p:nvSpPr>
        <p:spPr>
          <a:xfrm>
            <a:off x="420624" y="1444752"/>
            <a:ext cx="1792224" cy="329184"/>
          </a:xfrm>
          <a:prstGeom prst="rect">
            <a:avLst/>
          </a:prstGeom>
          <a:noFill/>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Google Maps</a:t>
            </a:r>
            <a:endParaRPr lang="en-US" sz="1250" dirty="0"/>
          </a:p>
        </p:txBody>
      </p:sp>
      <p:sp>
        <p:nvSpPr>
          <p:cNvPr id="8" name="Text 6"/>
          <p:cNvSpPr txBox="1"/>
          <p:nvPr/>
        </p:nvSpPr>
        <p:spPr>
          <a:xfrm>
            <a:off x="420624" y="1792224"/>
            <a:ext cx="1792224" cy="1005840"/>
          </a:xfrm>
          <a:prstGeom prst="rect">
            <a:avLst/>
          </a:prstGeom>
          <a:noFill/>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Show listing location on an interactive map so tenants can judge distance and neighbourhood.</a:t>
            </a:r>
            <a:endParaRPr lang="en-US" sz="1050" dirty="0"/>
          </a:p>
        </p:txBody>
      </p:sp>
      <p:sp>
        <p:nvSpPr>
          <p:cNvPr id="9" name="Shape 7"/>
          <p:cNvSpPr/>
          <p:nvPr/>
        </p:nvSpPr>
        <p:spPr>
          <a:xfrm>
            <a:off x="2487168" y="1325880"/>
            <a:ext cx="2084832" cy="1554480"/>
          </a:xfrm>
          <a:prstGeom prst="rect">
            <a:avLst/>
          </a:prstGeom>
          <a:solidFill>
            <a:srgbClr val="DCFCE7"/>
          </a:solidFill>
        </p:spPr>
        <p:txBody>
          <a:bodyPr/>
          <a:lstStyle/>
          <a:p>
            <a:endParaRPr/>
          </a:p>
        </p:txBody>
      </p:sp>
      <p:sp>
        <p:nvSpPr>
          <p:cNvPr id="10" name="Text 8"/>
          <p:cNvSpPr txBox="1"/>
          <p:nvPr/>
        </p:nvSpPr>
        <p:spPr>
          <a:xfrm>
            <a:off x="2633472" y="1444752"/>
            <a:ext cx="1792224" cy="329184"/>
          </a:xfrm>
          <a:prstGeom prst="rect">
            <a:avLst/>
          </a:prstGeom>
          <a:noFill/>
        </p:spPr>
        <p:txBody>
          <a:bodyPr wrap="square" lIns="0" tIns="0" rIns="0" bIns="0" rtlCol="0" anchor="ctr"/>
          <a:lstStyle/>
          <a:p>
            <a:pPr marL="0" indent="0">
              <a:buNone/>
            </a:pPr>
            <a:r>
              <a:rPr lang="en-US" sz="1250" b="1" dirty="0">
                <a:solidFill>
                  <a:srgbClr val="15803D"/>
                </a:solidFill>
                <a:latin typeface="Calibri" pitchFamily="34" charset="0"/>
                <a:ea typeface="Calibri" pitchFamily="34" charset="-122"/>
                <a:cs typeface="Calibri" pitchFamily="34" charset="-120"/>
              </a:rPr>
              <a:t>Real-time Chat</a:t>
            </a:r>
            <a:endParaRPr lang="en-US" sz="1250" dirty="0"/>
          </a:p>
        </p:txBody>
      </p:sp>
      <p:sp>
        <p:nvSpPr>
          <p:cNvPr id="11" name="Text 9"/>
          <p:cNvSpPr txBox="1"/>
          <p:nvPr/>
        </p:nvSpPr>
        <p:spPr>
          <a:xfrm>
            <a:off x="2633472" y="1792224"/>
            <a:ext cx="1792224" cy="1005840"/>
          </a:xfrm>
          <a:prstGeom prst="rect">
            <a:avLst/>
          </a:prstGeom>
          <a:noFill/>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Owner and tenant can message each other directly using Socket.IO after a request is accepted.</a:t>
            </a:r>
            <a:endParaRPr lang="en-US" sz="1050" dirty="0"/>
          </a:p>
        </p:txBody>
      </p:sp>
      <p:sp>
        <p:nvSpPr>
          <p:cNvPr id="12" name="Shape 10"/>
          <p:cNvSpPr/>
          <p:nvPr/>
        </p:nvSpPr>
        <p:spPr>
          <a:xfrm>
            <a:off x="4700016" y="1325880"/>
            <a:ext cx="2084832" cy="1554480"/>
          </a:xfrm>
          <a:prstGeom prst="rect">
            <a:avLst/>
          </a:prstGeom>
          <a:solidFill>
            <a:srgbClr val="FFEDD5"/>
          </a:solidFill>
        </p:spPr>
        <p:txBody>
          <a:bodyPr/>
          <a:lstStyle/>
          <a:p>
            <a:endParaRPr/>
          </a:p>
        </p:txBody>
      </p:sp>
      <p:sp>
        <p:nvSpPr>
          <p:cNvPr id="13" name="Text 11"/>
          <p:cNvSpPr txBox="1"/>
          <p:nvPr/>
        </p:nvSpPr>
        <p:spPr>
          <a:xfrm>
            <a:off x="4846320" y="1444752"/>
            <a:ext cx="1792224" cy="329184"/>
          </a:xfrm>
          <a:prstGeom prst="rect">
            <a:avLst/>
          </a:prstGeom>
          <a:noFill/>
        </p:spPr>
        <p:txBody>
          <a:bodyPr wrap="square" lIns="0" tIns="0" rIns="0" bIns="0" rtlCol="0" anchor="ctr"/>
          <a:lstStyle/>
          <a:p>
            <a:pPr marL="0" indent="0">
              <a:buNone/>
            </a:pPr>
            <a:r>
              <a:rPr lang="en-US" sz="1250" b="1" dirty="0">
                <a:solidFill>
                  <a:srgbClr val="C2410C"/>
                </a:solidFill>
                <a:latin typeface="Calibri" pitchFamily="34" charset="0"/>
                <a:ea typeface="Calibri" pitchFamily="34" charset="-122"/>
                <a:cs typeface="Calibri" pitchFamily="34" charset="-120"/>
              </a:rPr>
              <a:t>Online Payment</a:t>
            </a:r>
            <a:endParaRPr lang="en-US" sz="1250" dirty="0"/>
          </a:p>
        </p:txBody>
      </p:sp>
      <p:sp>
        <p:nvSpPr>
          <p:cNvPr id="14" name="Text 12"/>
          <p:cNvSpPr txBox="1"/>
          <p:nvPr/>
        </p:nvSpPr>
        <p:spPr>
          <a:xfrm>
            <a:off x="4846320" y="1792224"/>
            <a:ext cx="1792224" cy="1005840"/>
          </a:xfrm>
          <a:prstGeom prst="rect">
            <a:avLst/>
          </a:prstGeom>
          <a:noFill/>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Advance booking via bKash or SSLCommerz so tenants can confirm a room without meeting first.</a:t>
            </a:r>
            <a:endParaRPr lang="en-US" sz="1050" dirty="0"/>
          </a:p>
        </p:txBody>
      </p:sp>
      <p:sp>
        <p:nvSpPr>
          <p:cNvPr id="15" name="Shape 13"/>
          <p:cNvSpPr/>
          <p:nvPr/>
        </p:nvSpPr>
        <p:spPr>
          <a:xfrm>
            <a:off x="6912864" y="1325880"/>
            <a:ext cx="2084832" cy="1554480"/>
          </a:xfrm>
          <a:prstGeom prst="rect">
            <a:avLst/>
          </a:prstGeom>
          <a:solidFill>
            <a:srgbClr val="EDE9FE"/>
          </a:solidFill>
        </p:spPr>
        <p:txBody>
          <a:bodyPr/>
          <a:lstStyle/>
          <a:p>
            <a:endParaRPr/>
          </a:p>
        </p:txBody>
      </p:sp>
      <p:sp>
        <p:nvSpPr>
          <p:cNvPr id="16" name="Text 14"/>
          <p:cNvSpPr txBox="1"/>
          <p:nvPr/>
        </p:nvSpPr>
        <p:spPr>
          <a:xfrm>
            <a:off x="7059168" y="1444752"/>
            <a:ext cx="1792224" cy="329184"/>
          </a:xfrm>
          <a:prstGeom prst="rect">
            <a:avLst/>
          </a:prstGeom>
          <a:noFill/>
        </p:spPr>
        <p:txBody>
          <a:bodyPr wrap="square" lIns="0" tIns="0" rIns="0" bIns="0" rtlCol="0" anchor="ctr"/>
          <a:lstStyle/>
          <a:p>
            <a:pPr marL="0" indent="0">
              <a:buNone/>
            </a:pPr>
            <a:r>
              <a:rPr lang="en-US" sz="1250" b="1" dirty="0">
                <a:solidFill>
                  <a:srgbClr val="6D28D9"/>
                </a:solidFill>
                <a:latin typeface="Calibri" pitchFamily="34" charset="0"/>
                <a:ea typeface="Calibri" pitchFamily="34" charset="-122"/>
                <a:cs typeface="Calibri" pitchFamily="34" charset="-120"/>
              </a:rPr>
              <a:t>Verified Badge</a:t>
            </a:r>
            <a:endParaRPr lang="en-US" sz="1250" dirty="0"/>
          </a:p>
        </p:txBody>
      </p:sp>
      <p:sp>
        <p:nvSpPr>
          <p:cNvPr id="17" name="Text 15"/>
          <p:cNvSpPr txBox="1"/>
          <p:nvPr/>
        </p:nvSpPr>
        <p:spPr>
          <a:xfrm>
            <a:off x="7059168" y="1792224"/>
            <a:ext cx="1792224" cy="1005840"/>
          </a:xfrm>
          <a:prstGeom prst="rect">
            <a:avLst/>
          </a:prstGeom>
          <a:noFill/>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NID verification for owners gives tenants confidence that the listing is legitimate and safe.</a:t>
            </a:r>
            <a:endParaRPr lang="en-US" sz="1050" dirty="0"/>
          </a:p>
        </p:txBody>
      </p:sp>
      <p:sp>
        <p:nvSpPr>
          <p:cNvPr id="18" name="Shape 16"/>
          <p:cNvSpPr/>
          <p:nvPr/>
        </p:nvSpPr>
        <p:spPr>
          <a:xfrm>
            <a:off x="274320" y="3035808"/>
            <a:ext cx="8595360" cy="1536192"/>
          </a:xfrm>
          <a:prstGeom prst="rect">
            <a:avLst/>
          </a:prstGeom>
          <a:solidFill>
            <a:srgbClr val="1A2C45"/>
          </a:solidFill>
        </p:spPr>
        <p:txBody>
          <a:bodyPr/>
          <a:lstStyle/>
          <a:p>
            <a:endParaRPr/>
          </a:p>
        </p:txBody>
      </p:sp>
      <p:sp>
        <p:nvSpPr>
          <p:cNvPr id="19" name="Text 17"/>
          <p:cNvSpPr txBox="1"/>
          <p:nvPr/>
        </p:nvSpPr>
        <p:spPr>
          <a:xfrm>
            <a:off x="502920" y="3145536"/>
            <a:ext cx="8046720" cy="347472"/>
          </a:xfrm>
          <a:prstGeom prst="rect">
            <a:avLst/>
          </a:prstGeom>
          <a:noFill/>
        </p:spPr>
        <p:txBody>
          <a:bodyPr wrap="square" lIns="0" tIns="0" rIns="0" bIns="0" rtlCol="0" anchor="ctr"/>
          <a:lstStyle/>
          <a:p>
            <a:pPr marL="0" indent="0">
              <a:buNone/>
            </a:pPr>
            <a:r>
              <a:rPr lang="en-US" sz="1500" b="1" dirty="0">
                <a:solidFill>
                  <a:srgbClr val="7EC8E3"/>
                </a:solidFill>
                <a:latin typeface="Calibri" pitchFamily="34" charset="0"/>
                <a:ea typeface="Calibri" pitchFamily="34" charset="-122"/>
                <a:cs typeface="Calibri" pitchFamily="34" charset="-120"/>
              </a:rPr>
              <a:t>Conclusion</a:t>
            </a:r>
            <a:endParaRPr lang="en-US" sz="1500" dirty="0"/>
          </a:p>
        </p:txBody>
      </p:sp>
      <p:sp>
        <p:nvSpPr>
          <p:cNvPr id="20" name="Text 18"/>
          <p:cNvSpPr txBox="1"/>
          <p:nvPr/>
        </p:nvSpPr>
        <p:spPr>
          <a:xfrm>
            <a:off x="502920" y="3511296"/>
            <a:ext cx="8046720" cy="987552"/>
          </a:xfrm>
          <a:prstGeom prst="rect">
            <a:avLst/>
          </a:prstGeom>
          <a:noFill/>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HouseHub demonstrates the complete software engineering lifecycle — from requirements gathering and SRS documentation through database design, MVC backend development, frontend implementation, API testing and collaborative GitHub-based version control. The three-module division gives each member clear ownership, and the JWT security layer, role-based access, and relational database design reflect industry-level practices. The platform is ready for cloud deployment and can be extended with the future features described above.</a:t>
            </a:r>
            <a:endParaRPr lang="en-US" sz="1150" dirty="0"/>
          </a:p>
        </p:txBody>
      </p:sp>
      <p:sp>
        <p:nvSpPr>
          <p:cNvPr id="21" name="Text 19"/>
          <p:cNvSpPr txBox="1"/>
          <p:nvPr/>
        </p:nvSpPr>
        <p:spPr>
          <a:xfrm>
            <a:off x="274320" y="4846320"/>
            <a:ext cx="8595360" cy="237744"/>
          </a:xfrm>
          <a:prstGeom prst="rect">
            <a:avLst/>
          </a:prstGeom>
          <a:noFill/>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Thank you  |  Submitted to: Abdullah Al Siam  |  Netrakona University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0948" y="1500809"/>
            <a:ext cx="2992742" cy="769441"/>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4400" b="1" dirty="0" smtClean="0"/>
              <a:t>THANK YOU</a:t>
            </a:r>
            <a:endParaRPr lang="en-US" sz="4400" b="1" dirty="0"/>
          </a:p>
        </p:txBody>
      </p:sp>
      <p:sp>
        <p:nvSpPr>
          <p:cNvPr id="3" name="TextBox 2"/>
          <p:cNvSpPr txBox="1"/>
          <p:nvPr/>
        </p:nvSpPr>
        <p:spPr>
          <a:xfrm>
            <a:off x="3110948" y="2633870"/>
            <a:ext cx="1732718" cy="369332"/>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smtClean="0"/>
              <a:t> </a:t>
            </a:r>
            <a:r>
              <a:rPr lang="en-US" i="1" dirty="0" smtClean="0"/>
              <a:t>Any question ??</a:t>
            </a:r>
            <a:endParaRPr lang="en-US" i="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2360</Words>
  <Application>Microsoft Office PowerPoint</Application>
  <PresentationFormat>On-screen Show (16:9)</PresentationFormat>
  <Paragraphs>449</Paragraphs>
  <Slides>20</Slides>
  <Notes>12</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DOEL</cp:lastModifiedBy>
  <cp:revision>19</cp:revision>
  <dcterms:created xsi:type="dcterms:W3CDTF">2026-09-22T15:07:31Z</dcterms:created>
  <dcterms:modified xsi:type="dcterms:W3CDTF">2026-09-23T04:12:37Z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FB51F86D36ACA8C37898B26AC24AE66D_42</vt:lpwstr>
  </property>
  <property fmtid="{D5CDD505-2E9C-101B-9397-08002B2CF9AE}" pid="3" name="KSOProductBuildVer">
    <vt:lpwstr>2052-12.9.0.28592</vt:lpwstr>
  </property>
</Properties>
</file>